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2.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41D"/>
                </a:solidFill>
                <a:latin typeface="Calibri"/>
              </a:defRPr>
            </a:pPr>
            <a:r>
              <a:rPr sz="1300" b="0" i="0" u="none" strike="noStrike">
                <a:solidFill>
                  <a:srgbClr val="16241D"/>
                </a:solidFill>
                <a:latin typeface="Calibri"/>
              </a:rPr>
              <a:t>By type and priority</a:t>
            </a:r>
          </a:p>
        </c:rich>
      </c:tx>
      <c:layout/>
      <c:overlay val="0"/>
    </c:title>
    <c:autoTitleDeleted val="0"/>
    <c:plotArea>
      <c:layout/>
      <c:barChart>
        <c:barDir val="col"/>
        <c:grouping val="stacked"/>
        <c:varyColors val="0"/>
        <c:ser>
          <c:idx val="0"/>
          <c:order val="0"/>
          <c:tx>
            <c:strRef>
              <c:f>Sheet1!$B$1</c:f>
              <c:strCache>
                <c:ptCount val="1"/>
                <c:pt idx="0">
                  <c:v>Must Have</c:v>
                </c:pt>
              </c:strCache>
            </c:strRef>
          </c:tx>
          <c:spPr>
            <a:solidFill>
              <a:srgbClr val="2F5D3A"/>
            </a:solidFill>
            <a:effectLst/>
          </c:spPr>
          <c:invertIfNegative val="0"/>
          <c:dLbls>
            <c:numFmt formatCode="0;;" sourceLinked="0"/>
            <c:txPr>
              <a:bodyPr/>
              <a:lstStyle/>
              <a:p>
                <a:pPr>
                  <a:defRPr b="0" i="0" strike="noStrike" sz="11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Sheet1!$A$2:$A$5</c:f>
              <c:multiLvlStrCache>
                <c:ptCount val="4"/>
                <c:lvl>
                  <c:pt idx="0">
                    <c:v>Functional</c:v>
                  </c:pt>
                  <c:pt idx="1">
                    <c:v>Non-functional</c:v>
                  </c:pt>
                  <c:pt idx="2">
                    <c:v>System</c:v>
                  </c:pt>
                  <c:pt idx="3">
                    <c:v>Integration</c:v>
                  </c:pt>
                </c:lvl>
              </c:multiLvlStrCache>
            </c:multiLvlStrRef>
          </c:cat>
          <c:val>
            <c:numRef>
              <c:f>Sheet1!$B$2:$B$5</c:f>
              <c:numCache>
                <c:formatCode>General</c:formatCode>
                <c:ptCount val="4"/>
                <c:pt idx="0">
                  <c:v>61</c:v>
                </c:pt>
                <c:pt idx="1">
                  <c:v>16</c:v>
                </c:pt>
                <c:pt idx="2">
                  <c:v>8</c:v>
                </c:pt>
                <c:pt idx="3">
                  <c:v>7</c:v>
                </c:pt>
              </c:numCache>
            </c:numRef>
          </c:val>
        </c:ser>
        <c:ser>
          <c:idx val="1"/>
          <c:order val="1"/>
          <c:tx>
            <c:strRef>
              <c:f>Sheet1!$C$1</c:f>
              <c:strCache>
                <c:ptCount val="1"/>
                <c:pt idx="0">
                  <c:v>Should Have</c:v>
                </c:pt>
              </c:strCache>
            </c:strRef>
          </c:tx>
          <c:spPr>
            <a:solidFill>
              <a:srgbClr val="D9A92C"/>
            </a:solidFill>
            <a:effectLst/>
          </c:spPr>
          <c:invertIfNegative val="0"/>
          <c:dLbls>
            <c:numFmt formatCode="0;;" sourceLinked="0"/>
            <c:txPr>
              <a:bodyPr/>
              <a:lstStyle/>
              <a:p>
                <a:pPr>
                  <a:defRPr b="0" i="0" strike="noStrike" sz="11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Sheet1!$A$2:$A$5</c:f>
              <c:multiLvlStrCache>
                <c:ptCount val="4"/>
                <c:lvl>
                  <c:pt idx="0">
                    <c:v>Functional</c:v>
                  </c:pt>
                  <c:pt idx="1">
                    <c:v>Non-functional</c:v>
                  </c:pt>
                  <c:pt idx="2">
                    <c:v>System</c:v>
                  </c:pt>
                  <c:pt idx="3">
                    <c:v>Integration</c:v>
                  </c:pt>
                </c:lvl>
              </c:multiLvlStrCache>
            </c:multiLvlStrRef>
          </c:cat>
          <c:val>
            <c:numRef>
              <c:f>Sheet1!$C$2:$C$5</c:f>
              <c:numCache>
                <c:formatCode>General</c:formatCode>
                <c:ptCount val="4"/>
                <c:pt idx="0">
                  <c:v>14</c:v>
                </c:pt>
                <c:pt idx="1">
                  <c:v>4</c:v>
                </c:pt>
                <c:pt idx="2">
                  <c:v>0</c:v>
                </c:pt>
                <c:pt idx="3">
                  <c:v>0</c:v>
                </c:pt>
              </c:numCache>
            </c:numRef>
          </c:val>
        </c:ser>
        <c:ser>
          <c:idx val="2"/>
          <c:order val="2"/>
          <c:tx>
            <c:strRef>
              <c:f>Sheet1!$D$1</c:f>
              <c:strCache>
                <c:ptCount val="1"/>
                <c:pt idx="0">
                  <c:v>Could Have</c:v>
                </c:pt>
              </c:strCache>
            </c:strRef>
          </c:tx>
          <c:spPr>
            <a:solidFill>
              <a:srgbClr val="EFE7DC"/>
            </a:solidFill>
            <a:effectLst/>
          </c:spPr>
          <c:invertIfNegative val="0"/>
          <c:dLbls>
            <c:numFmt formatCode="0;;" sourceLinked="0"/>
            <c:txPr>
              <a:bodyPr/>
              <a:lstStyle/>
              <a:p>
                <a:pPr>
                  <a:defRPr b="0" i="0" strike="noStrike" sz="11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Sheet1!$A$2:$A$5</c:f>
              <c:multiLvlStrCache>
                <c:ptCount val="4"/>
                <c:lvl>
                  <c:pt idx="0">
                    <c:v>Functional</c:v>
                  </c:pt>
                  <c:pt idx="1">
                    <c:v>Non-functional</c:v>
                  </c:pt>
                  <c:pt idx="2">
                    <c:v>System</c:v>
                  </c:pt>
                  <c:pt idx="3">
                    <c:v>Integration</c:v>
                  </c:pt>
                </c:lvl>
              </c:multiLvlStrCache>
            </c:multiLvlStrRef>
          </c:cat>
          <c:val>
            <c:numRef>
              <c:f>Sheet1!$D$2:$D$5</c:f>
              <c:numCache>
                <c:formatCode>General</c:formatCode>
                <c:ptCount val="4"/>
                <c:pt idx="0">
                  <c:v>3</c:v>
                </c:pt>
                <c:pt idx="1">
                  <c:v>0</c:v>
                </c:pt>
                <c:pt idx="2">
                  <c:v>0</c:v>
                </c:pt>
                <c:pt idx="3">
                  <c:v>0</c:v>
                </c:pt>
              </c:numCache>
            </c:numRef>
          </c:val>
        </c:ser>
        <c:dLbls>
          <c:numFmt formatCode="0;;" sourceLinked="0"/>
          <c:txPr>
            <a:bodyPr/>
            <a:lstStyle/>
            <a:p>
              <a:pPr>
                <a:defRPr b="0" i="0" strike="noStrike" sz="1100" u="none">
                  <a:solidFill>
                    <a:srgbClr val="FFFFFF"/>
                  </a:solidFill>
                  <a:latin typeface="Calibri"/>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E7D73"/>
                </a:solidFill>
                <a:latin typeface="Calibri"/>
              </a:defRPr>
            </a:pPr>
            <a:endParaRPr lang="en-US"/>
          </a:p>
        </c:txPr>
        <c:crossAx val="2094734552"/>
        <c:crosses val="autoZero"/>
        <c:auto val="1"/>
        <c:lblAlgn val="ctr"/>
        <c:noMultiLvlLbl val="1"/>
      </c:catAx>
      <c:valAx>
        <c:axId val="2094734552"/>
        <c:scaling>
          <c:orientation val="minMax"/>
          <c:max val="80"/>
        </c:scaling>
        <c:delete val="0"/>
        <c:axPos val="l"/>
        <c:majorGridlines>
          <c:spPr>
            <a:ln w="12700" cap="flat">
              <a:solidFill>
                <a:srgbClr val="EEF2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7D73"/>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6E7D73"/>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41D"/>
                </a:solidFill>
                <a:latin typeface="Calibri"/>
              </a:defRPr>
            </a:pPr>
            <a:r>
              <a:rPr sz="1300" b="0" i="0" u="none" strike="noStrike">
                <a:solidFill>
                  <a:srgbClr val="16241D"/>
                </a:solidFill>
                <a:latin typeface="Calibri"/>
              </a:rPr>
              <a:t>Likelihood × impact</a:t>
            </a:r>
          </a:p>
        </c:rich>
      </c:tx>
      <c:layout/>
      <c:overlay val="0"/>
    </c:title>
    <c:autoTitleDeleted val="0"/>
    <c:plotArea>
      <c:layout/>
      <c:barChart>
        <c:barDir val="bar"/>
        <c:grouping val="clustered"/>
        <c:varyColors val="0"/>
        <c:ser>
          <c:idx val="0"/>
          <c:order val="0"/>
          <c:tx>
            <c:strRef>
              <c:f>Sheet1!$B$1</c:f>
              <c:strCache>
                <c:ptCount val="1"/>
                <c:pt idx="0">
                  <c:v>Risk score</c:v>
                </c:pt>
              </c:strCache>
            </c:strRef>
          </c:tx>
          <c:spPr>
            <a:solidFill>
              <a:srgbClr val="AE5C34"/>
            </a:solidFill>
            <a:effectLst/>
          </c:spPr>
          <c:invertIfNegative val="0"/>
          <c:dLbls>
            <c:numFmt formatCode="#,##0" sourceLinked="0"/>
            <c:txPr>
              <a:bodyPr/>
              <a:lstStyle/>
              <a:p>
                <a:pPr>
                  <a:defRPr b="0" i="0" strike="noStrike" sz="1000" u="none">
                    <a:solidFill>
                      <a:srgbClr val="6E7D73"/>
                    </a:solidFill>
                    <a:latin typeface="Calibri"/>
                  </a:defRPr>
                </a:pPr>
              </a:p>
            </c:txPr>
            <c:showLegendKey val="0"/>
            <c:showVal val="1"/>
            <c:showCatName val="0"/>
            <c:showSerName val="0"/>
            <c:showPercent val="0"/>
            <c:showBubbleSize val="0"/>
            <c:showLeaderLines val="0"/>
          </c:dLbls>
          <c:dPt>
            <c:idx val="0"/>
            <c:invertIfNegative val="0"/>
            <c:bubble3D val="0"/>
            <c:spPr>
              <a:solidFill>
                <a:srgbClr val="AE5C34"/>
              </a:solidFill>
              <a:effectLst/>
            </c:spPr>
          </c:dPt>
          <c:dPt>
            <c:idx val="1"/>
            <c:invertIfNegative val="0"/>
            <c:bubble3D val="0"/>
            <c:spPr>
              <a:solidFill>
                <a:srgbClr val="D9A92C"/>
              </a:solidFill>
              <a:effectLst/>
            </c:spPr>
          </c:dPt>
          <c:dPt>
            <c:idx val="2"/>
            <c:invertIfNegative val="0"/>
            <c:bubble3D val="0"/>
            <c:spPr>
              <a:solidFill>
                <a:srgbClr val="D9A92C"/>
              </a:solidFill>
              <a:effectLst/>
            </c:spPr>
          </c:dPt>
          <c:dPt>
            <c:idx val="3"/>
            <c:invertIfNegative val="0"/>
            <c:bubble3D val="0"/>
            <c:spPr>
              <a:solidFill>
                <a:srgbClr val="D9A92C"/>
              </a:solidFill>
              <a:effectLst/>
            </c:spPr>
          </c:dPt>
          <c:dPt>
            <c:idx val="4"/>
            <c:invertIfNegative val="0"/>
            <c:bubble3D val="0"/>
            <c:spPr>
              <a:solidFill>
                <a:srgbClr val="D9A92C"/>
              </a:solidFill>
              <a:effectLst/>
            </c:spPr>
          </c:dPt>
          <c:dPt>
            <c:idx val="5"/>
            <c:invertIfNegative val="0"/>
            <c:bubble3D val="0"/>
            <c:spPr>
              <a:solidFill>
                <a:srgbClr val="D9A92C"/>
              </a:solidFill>
              <a:effectLst/>
            </c:spPr>
          </c:dPt>
          <c:dPt>
            <c:idx val="6"/>
            <c:invertIfNegative val="0"/>
            <c:bubble3D val="0"/>
            <c:spPr>
              <a:solidFill>
                <a:srgbClr val="D9A92C"/>
              </a:solidFill>
              <a:effectLst/>
            </c:spPr>
          </c:dPt>
          <c:dPt>
            <c:idx val="7"/>
            <c:invertIfNegative val="0"/>
            <c:bubble3D val="0"/>
            <c:spPr>
              <a:solidFill>
                <a:srgbClr val="D9A92C"/>
              </a:solidFill>
              <a:effectLst/>
            </c:spPr>
          </c:dPt>
          <c:dPt>
            <c:idx val="8"/>
            <c:invertIfNegative val="0"/>
            <c:bubble3D val="0"/>
            <c:spPr>
              <a:solidFill>
                <a:srgbClr val="D9A92C"/>
              </a:solidFill>
              <a:effectLst/>
            </c:spPr>
          </c:dPt>
          <c:dPt>
            <c:idx val="9"/>
            <c:invertIfNegative val="0"/>
            <c:bubble3D val="0"/>
            <c:spPr>
              <a:solidFill>
                <a:srgbClr val="D9A92C"/>
              </a:solidFill>
              <a:effectLst/>
            </c:spPr>
          </c:dPt>
          <c:dPt>
            <c:idx val="10"/>
            <c:invertIfNegative val="0"/>
            <c:bubble3D val="0"/>
            <c:spPr>
              <a:solidFill>
                <a:srgbClr val="2F5D3A"/>
              </a:solidFill>
              <a:effectLst/>
            </c:spPr>
          </c:dPt>
          <c:dPt>
            <c:idx val="11"/>
            <c:invertIfNegative val="0"/>
            <c:bubble3D val="0"/>
            <c:spPr>
              <a:solidFill>
                <a:srgbClr val="2F5D3A"/>
              </a:solidFill>
              <a:effectLst/>
            </c:spPr>
          </c:dPt>
          <c:cat>
            <c:multiLvlStrRef>
              <c:f>Sheet1!$A$2:$A$13</c:f>
              <c:multiLvlStrCache>
                <c:ptCount val="12"/>
                <c:lvl>
                  <c:pt idx="0">
                    <c:v>R01 Development time</c:v>
                  </c:pt>
                  <c:pt idx="1">
                    <c:v>R02 Integration failure</c:v>
                  </c:pt>
                  <c:pt idx="2">
                    <c:v>R03 Credentials exposed</c:v>
                  </c:pt>
                  <c:pt idx="3">
                    <c:v>R04 Thresholds unsuitable</c:v>
                  </c:pt>
                  <c:pt idx="4">
                    <c:v>R05 Uneven contribution</c:v>
                  </c:pt>
                  <c:pt idx="5">
                    <c:v>R06 Scope expansion</c:v>
                  </c:pt>
                  <c:pt idx="6">
                    <c:v>R07 Member unavailable</c:v>
                  </c:pt>
                  <c:pt idx="7">
                    <c:v>R08 Stakeholder unavailable</c:v>
                  </c:pt>
                  <c:pt idx="8">
                    <c:v>R09 Sample data unrealistic</c:v>
                  </c:pt>
                  <c:pt idx="9">
                    <c:v>R10 Learning time</c:v>
                  </c:pt>
                  <c:pt idx="10">
                    <c:v>R11 Free-tier limits</c:v>
                  </c:pt>
                  <c:pt idx="11">
                    <c:v>R12 Later integration mismatch</c:v>
                  </c:pt>
                </c:lvl>
              </c:multiLvlStrCache>
            </c:multiLvlStrRef>
          </c:cat>
          <c:val>
            <c:numRef>
              <c:f>Sheet1!$B$2:$B$13</c:f>
              <c:numCache>
                <c:formatCode>General</c:formatCode>
                <c:ptCount val="12"/>
                <c:pt idx="0">
                  <c:v>9</c:v>
                </c:pt>
                <c:pt idx="1">
                  <c:v>6</c:v>
                </c:pt>
                <c:pt idx="2">
                  <c:v>6</c:v>
                </c:pt>
                <c:pt idx="3">
                  <c:v>6</c:v>
                </c:pt>
                <c:pt idx="4">
                  <c:v>4</c:v>
                </c:pt>
                <c:pt idx="5">
                  <c:v>4</c:v>
                </c:pt>
                <c:pt idx="6">
                  <c:v>4</c:v>
                </c:pt>
                <c:pt idx="7">
                  <c:v>4</c:v>
                </c:pt>
                <c:pt idx="8">
                  <c:v>4</c:v>
                </c:pt>
                <c:pt idx="9">
                  <c:v>4</c:v>
                </c:pt>
                <c:pt idx="10">
                  <c:v>2</c:v>
                </c:pt>
                <c:pt idx="11">
                  <c:v>2</c:v>
                </c:pt>
              </c:numCache>
            </c:numRef>
          </c:val>
        </c:ser>
        <c:dLbls>
          <c:numFmt formatCode="#,##0" sourceLinked="0"/>
          <c:txPr>
            <a:bodyPr/>
            <a:lstStyle/>
            <a:p>
              <a:pPr>
                <a:defRPr b="0" i="0" strike="noStrike" sz="1000" u="none">
                  <a:solidFill>
                    <a:srgbClr val="6E7D7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6E7D73"/>
                </a:solidFill>
                <a:latin typeface="Calibri"/>
              </a:defRPr>
            </a:pPr>
            <a:endParaRPr lang="en-US"/>
          </a:p>
        </c:txPr>
        <c:crossAx val="2094734552"/>
        <c:crosses val="autoZero"/>
        <c:auto val="1"/>
        <c:lblAlgn val="ctr"/>
        <c:noMultiLvlLbl val="1"/>
      </c:catAx>
      <c:valAx>
        <c:axId val="2094734552"/>
        <c:scaling>
          <c:orientation val="minMax"/>
          <c:max val="10"/>
        </c:scaling>
        <c:delete val="0"/>
        <c:axPos val="b"/>
        <c:majorGridlines>
          <c:spPr>
            <a:ln w="12700" cap="flat">
              <a:solidFill>
                <a:srgbClr val="EEF2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E7D73"/>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CAITLIN. Good morning. We are Group O. This is our Phase 1 presentation for the Multi-Site Smart Soil and Environmental Monitoring System, built for the Department of Agriculture, Plant Sciences, who monitor pigeon pea across three sites in the Free State. Eight of us will speak. We will take about thirty minutes and then answer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CAITLIN. We have split the presentation so everyone speaks, but we prepared it together and any of us can take a question on any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CAITLIN. Eight members. Every deliverable has one named owner and the Microsoft Project schedule records who is responsible for each task, with contribution evidence in the progress tracker.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TIISETSO. I will cover who we are building for and how we worked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TIISETSO. Ms Dikane is our stakeholder and the end user — she is in Plant Sciences and works with the crop. Ms Mbele in the IT department is how the written requirements reached us. We chose this project because the equipment is already installed, so the problem is real rather than hypothetical.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TIISETSO. We kept everything in writing deliberately. It means we have evidence rather than recollection. The approval on 3 September is the last line — she confirmed the document meets the entry requirements of the end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AYATOLLA. I will explain how the organisation works today and what that costs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AYATOLLA. Her words when we asked which problem causes the greatest difficulty: delayed identification of significant change across the three locations. Everything we specified follows from that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AYATOLLA. Two paths. On the left, lab sampling reaches a decision, but it happens once a season. On the right, sensors measure every thirty minutes and the data stops at a dead end. Both converge on the same outcome. This diagram is section 2 of the specification.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AYATOLLA. The specification breaks this into the five required elements. Each one is answered from her written responses, not from what we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MACHEDI. I will cover the physical deployment and what each sensor actually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MACHEDI. Five sensors at each of three locations. Each carries a unique identifier so a reading can always be linked back to the sensor and the site that produced it — LOC1-S01 through LOC3-S05.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MACHEDI. Seven parameters, not eight. An earlier draft of our specification recorded humidity as an eighth. Her requirements document defines seven, so we removed it and recorded the correction as entry C04 in the change log. That is the kind of thing we would rather catch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NIDO. I will cover what we propose to build, how the parts fit together, and the one decision that changed our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NIDO. Eight objectives, each traceable to something in her requirements document. Note the fifth — alerting on a sensor that stops reporting was one of the things she specifically asked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NIDO. Both applications connect to the same Supabase project and read from the same tables. Separate databases are not permitted. The dashed box on the left is the live sensor integration, which is not part of this version — I will come to that in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NIDO. If a threshold is changed on the web, the phone reflects it immediately, because there is only one place it lives. This is recorded as integration requirement IR06.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NIDO. She confirmed two roles are sufficient for this version. Restricting configuration matters — a threshold changed by one person alters the alerts everyone else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NIDO. This is the single biggest change since we started. It removed our largest technical risk. Because we isolated provisioning behind one component, live integration later is a replacement of one part rather than a rewrite. That isolation is deliberate, not convenient.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THOBANI. I will cover how many requirements there are, how we derived them, and the order she wants them built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THOBANI. Ninety-two of the 113 are Must Have. That is high, but they are the functions covered by the acceptance criteria, so they are what the finished system is judged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THOBANI. This is the chain we can show for any requirement in the document. Ask us about any one of the 113 and we can point to where it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THOBANI. If we fall behind, what gets deferred is already agreed — and agreed by her, rather than decided by us under pressure in 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THOBANI. Fourteen criteria, each written so it can be shown to be met or not met rather than argued about. This list also drives our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MBASA. I will cover the ranges we set, where they came from, and the feasibility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MBASA. This is where we are most exposed, so we lead with it rather than waiting to be asked. We would rather state the limits of these values than present researched numbers as though the stakeholder had confirmed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MBASA. This was the one genuinely open question in our specification and her reply closed it. It also confirms a design decision we had already made — putting the ranges in the database rather than in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MBASA. Five of six are feasible outright. Technical moved from conditional to feasible once the live integration was waived. Schedule is the one needing changes, and the change is scope control applied before development starts rather than during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KATLONTLE. I will cover the risks we are carrying, what we cut from scope, and the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KATLONTLE. Twelve risks across the eight required categories. A risk is something that has not happened yet — anything already gone wrong is an issue and is recorded separately in the progress tracker.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KATLONTLE. R01 is the only High. R04 has come down since her reply on the third — the ranges are now an agreed starting point rather than our own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KATLONTLE. The one to flag is push notification. She asked for it; we are delivering in-application alerts first and adding push once the core functions work. We told her that in writing rather than quietly shipping less than she asked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KATLONTLE. Phase 1 delivered on schedule. The Microsoft Project file is baselined, so progress is measured against the original plan rather than a moving target, and every task carries a named 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CAITLIN. The specification was confirmed by Ms Dikane on 3 September and she stated it meets the entry requirements of the end user. We are asking for approval to proceed to system architecture and design. We will take questions — and any of the eight of us can answer on any part of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41D"/>
        </a:solidFill>
      </p:bgPr>
    </p:bg>
    <p:spTree>
      <p:nvGrpSpPr>
        <p:cNvPr id="1" name=""/>
        <p:cNvGrpSpPr/>
        <p:nvPr/>
      </p:nvGrpSpPr>
      <p:grpSpPr>
        <a:xfrm>
          <a:off x="0" y="0"/>
          <a:ext cx="0" cy="0"/>
          <a:chOff x="0" y="0"/>
          <a:chExt cx="0" cy="0"/>
        </a:xfrm>
      </p:grpSpPr>
      <p:sp>
        <p:nvSpPr>
          <p:cNvPr id="2" name="Shape 0"/>
          <p:cNvSpPr/>
          <p:nvPr/>
        </p:nvSpPr>
        <p:spPr>
          <a:xfrm>
            <a:off x="5989320" y="0"/>
            <a:ext cx="6202375" cy="6858000"/>
          </a:xfrm>
          <a:prstGeom prst="rect">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5989320" y="1170432"/>
            <a:ext cx="6199632" cy="5330952"/>
          </a:xfrm>
          <a:prstGeom prst="rect">
            <a:avLst/>
          </a:prstGeom>
        </p:spPr>
      </p:pic>
      <p:sp>
        <p:nvSpPr>
          <p:cNvPr id="4" name="Text 1"/>
          <p:cNvSpPr txBox="1"/>
          <p:nvPr/>
        </p:nvSpPr>
        <p:spPr>
          <a:xfrm>
            <a:off x="777240" y="1371600"/>
            <a:ext cx="4572000" cy="292608"/>
          </a:xfrm>
          <a:prstGeom prst="rect">
            <a:avLst/>
          </a:prstGeom>
          <a:noFill/>
          <a:ln/>
        </p:spPr>
        <p:txBody>
          <a:bodyPr wrap="square" lIns="0" tIns="0" rIns="0" bIns="0" rtlCol="0" anchor="ctr"/>
          <a:lstStyle/>
          <a:p>
            <a:pPr indent="0" marL="0">
              <a:buNone/>
            </a:pPr>
            <a:r>
              <a:rPr lang="en-US" sz="1300" b="1" spc="240" kern="0" dirty="0">
                <a:solidFill>
                  <a:srgbClr val="D9A92C"/>
                </a:solidFill>
                <a:latin typeface="Calibri" pitchFamily="34" charset="0"/>
                <a:ea typeface="Calibri" pitchFamily="34" charset="-122"/>
                <a:cs typeface="Calibri" pitchFamily="34" charset="-120"/>
              </a:rPr>
              <a:t>GROUP O</a:t>
            </a:r>
            <a:endParaRPr lang="en-US" sz="1300" dirty="0"/>
          </a:p>
        </p:txBody>
      </p:sp>
      <p:sp>
        <p:nvSpPr>
          <p:cNvPr id="5" name="Text 2"/>
          <p:cNvSpPr txBox="1"/>
          <p:nvPr/>
        </p:nvSpPr>
        <p:spPr>
          <a:xfrm>
            <a:off x="777240" y="1828800"/>
            <a:ext cx="4846320" cy="2194560"/>
          </a:xfrm>
          <a:prstGeom prst="rect">
            <a:avLst/>
          </a:prstGeom>
          <a:noFill/>
          <a:ln/>
        </p:spPr>
        <p:txBody>
          <a:bodyPr wrap="square" lIns="0" tIns="0" rIns="0" bIns="0" rtlCol="0" anchor="t"/>
          <a:lstStyle/>
          <a:p>
            <a:pPr indent="0" marL="0">
              <a:lnSpc>
                <a:spcPts val="4000"/>
              </a:lnSpc>
              <a:buNone/>
            </a:pPr>
            <a:r>
              <a:rPr lang="en-US" sz="3300" b="1" dirty="0">
                <a:solidFill>
                  <a:srgbClr val="FFFFFF"/>
                </a:solidFill>
                <a:latin typeface="Cambria" pitchFamily="34" charset="0"/>
                <a:ea typeface="Cambria" pitchFamily="34" charset="-122"/>
                <a:cs typeface="Cambria" pitchFamily="34" charset="-120"/>
              </a:rPr>
              <a:t>Multi-Site Smart Soil and Environmental Monitoring System</a:t>
            </a:r>
            <a:endParaRPr lang="en-US" sz="3300" dirty="0"/>
          </a:p>
        </p:txBody>
      </p:sp>
      <p:sp>
        <p:nvSpPr>
          <p:cNvPr id="6" name="Text 3"/>
          <p:cNvSpPr txBox="1"/>
          <p:nvPr/>
        </p:nvSpPr>
        <p:spPr>
          <a:xfrm>
            <a:off x="777240" y="4160520"/>
            <a:ext cx="4846320" cy="365760"/>
          </a:xfrm>
          <a:prstGeom prst="rect">
            <a:avLst/>
          </a:prstGeom>
          <a:noFill/>
          <a:ln/>
        </p:spPr>
        <p:txBody>
          <a:bodyPr wrap="square" lIns="0" tIns="0" rIns="0" bIns="0" rtlCol="0" anchor="ctr"/>
          <a:lstStyle/>
          <a:p>
            <a:pPr indent="0" marL="0">
              <a:buNone/>
            </a:pPr>
            <a:r>
              <a:rPr lang="en-US" sz="1500" dirty="0">
                <a:solidFill>
                  <a:srgbClr val="A9BCAF"/>
                </a:solidFill>
                <a:latin typeface="Calibri" pitchFamily="34" charset="0"/>
                <a:ea typeface="Calibri" pitchFamily="34" charset="-122"/>
                <a:cs typeface="Calibri" pitchFamily="34" charset="-120"/>
              </a:rPr>
              <a:t>Phase 1 — problem, requirements, feasibility and plan</a:t>
            </a:r>
            <a:endParaRPr lang="en-US" sz="1500" dirty="0"/>
          </a:p>
        </p:txBody>
      </p:sp>
      <p:sp>
        <p:nvSpPr>
          <p:cNvPr id="7" name="Shape 4"/>
          <p:cNvSpPr/>
          <p:nvPr/>
        </p:nvSpPr>
        <p:spPr>
          <a:xfrm>
            <a:off x="777240" y="4800600"/>
            <a:ext cx="1005840" cy="32004"/>
          </a:xfrm>
          <a:prstGeom prst="rect">
            <a:avLst/>
          </a:prstGeom>
          <a:solidFill>
            <a:srgbClr val="1F6F6B"/>
          </a:solidFill>
          <a:ln w="12700">
            <a:solidFill>
              <a:srgbClr val="1F6F6B"/>
            </a:solidFill>
            <a:prstDash val="solid"/>
          </a:ln>
        </p:spPr>
      </p:sp>
      <p:sp>
        <p:nvSpPr>
          <p:cNvPr id="8" name="Text 5"/>
          <p:cNvSpPr txBox="1"/>
          <p:nvPr/>
        </p:nvSpPr>
        <p:spPr>
          <a:xfrm>
            <a:off x="777240" y="5074920"/>
            <a:ext cx="4846320" cy="822960"/>
          </a:xfrm>
          <a:prstGeom prst="rect">
            <a:avLst/>
          </a:prstGeom>
          <a:noFill/>
          <a:ln/>
        </p:spPr>
        <p:txBody>
          <a:bodyPr wrap="square" lIns="0" tIns="0" rIns="0" bIns="0" rtlCol="0" anchor="t"/>
          <a:lstStyle/>
          <a:p>
            <a:pPr indent="0" marL="0">
              <a:lnSpc>
                <a:spcPts val="1900"/>
              </a:lnSpc>
              <a:buNone/>
            </a:pPr>
            <a:r>
              <a:rPr lang="en-US" sz="1200" dirty="0">
                <a:solidFill>
                  <a:srgbClr val="8FA396"/>
                </a:solidFill>
                <a:latin typeface="Calibri" pitchFamily="34" charset="0"/>
                <a:ea typeface="Calibri" pitchFamily="34" charset="-122"/>
                <a:cs typeface="Calibri" pitchFamily="34" charset="-120"/>
              </a:rPr>
              <a:t>Prepared for the Department of Agriculture, Plant Sciences</a:t>
            </a:r>
            <a:endParaRPr lang="en-US" sz="1200" dirty="0"/>
          </a:p>
          <a:p>
            <a:pPr indent="0" marL="0">
              <a:lnSpc>
                <a:spcPts val="1900"/>
              </a:lnSpc>
              <a:buNone/>
            </a:pPr>
            <a:r>
              <a:rPr lang="en-US" sz="1200" dirty="0">
                <a:solidFill>
                  <a:srgbClr val="8FA396"/>
                </a:solidFill>
                <a:latin typeface="Calibri" pitchFamily="34" charset="0"/>
                <a:ea typeface="Calibri" pitchFamily="34" charset="-122"/>
                <a:cs typeface="Calibri" pitchFamily="34" charset="-120"/>
              </a:rPr>
              <a:t>Central University of Technology, Free State  ·  11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SPEAKING ORDER</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Caitlin Freeman</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Eight of us, five parts</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2</a:t>
            </a:r>
            <a:endParaRPr lang="en-US" sz="1000" dirty="0"/>
          </a:p>
        </p:txBody>
      </p:sp>
      <p:sp>
        <p:nvSpPr>
          <p:cNvPr id="7" name="Shape 5"/>
          <p:cNvSpPr/>
          <p:nvPr/>
        </p:nvSpPr>
        <p:spPr>
          <a:xfrm>
            <a:off x="640080" y="1682496"/>
            <a:ext cx="10899648" cy="475488"/>
          </a:xfrm>
          <a:prstGeom prst="roundRect">
            <a:avLst>
              <a:gd name="adj" fmla="val 17308"/>
            </a:avLst>
          </a:prstGeom>
          <a:solidFill>
            <a:srgbClr val="EFE7DC"/>
          </a:solidFill>
          <a:ln w="12700">
            <a:solidFill>
              <a:srgbClr val="EFE7DC"/>
            </a:solidFill>
            <a:prstDash val="solid"/>
          </a:ln>
        </p:spPr>
      </p:sp>
      <p:sp>
        <p:nvSpPr>
          <p:cNvPr id="8" name="Text 6"/>
          <p:cNvSpPr txBox="1"/>
          <p:nvPr/>
        </p:nvSpPr>
        <p:spPr>
          <a:xfrm>
            <a:off x="932688" y="1801368"/>
            <a:ext cx="365760" cy="292608"/>
          </a:xfrm>
          <a:prstGeom prst="rect">
            <a:avLst/>
          </a:prstGeom>
          <a:noFill/>
          <a:ln/>
        </p:spPr>
        <p:txBody>
          <a:bodyPr wrap="square" lIns="0" tIns="0" rIns="0" bIns="0" rtlCol="0" anchor="ctr"/>
          <a:lstStyle/>
          <a:p>
            <a:pPr indent="0" marL="0">
              <a:buNone/>
            </a:pPr>
            <a:r>
              <a:rPr lang="en-US" sz="1300" b="1" dirty="0">
                <a:solidFill>
                  <a:srgbClr val="1F6F6B"/>
                </a:solidFill>
                <a:latin typeface="Cambria" pitchFamily="34" charset="0"/>
                <a:ea typeface="Cambria" pitchFamily="34" charset="-122"/>
                <a:cs typeface="Cambria" pitchFamily="34" charset="-120"/>
              </a:rPr>
              <a:t>1</a:t>
            </a:r>
            <a:endParaRPr lang="en-US" sz="1300" dirty="0"/>
          </a:p>
        </p:txBody>
      </p:sp>
      <p:sp>
        <p:nvSpPr>
          <p:cNvPr id="9" name="Text 7"/>
          <p:cNvSpPr txBox="1"/>
          <p:nvPr/>
        </p:nvSpPr>
        <p:spPr>
          <a:xfrm>
            <a:off x="1463040" y="1819656"/>
            <a:ext cx="3108960" cy="292608"/>
          </a:xfrm>
          <a:prstGeom prst="rect">
            <a:avLst/>
          </a:prstGeom>
          <a:noFill/>
          <a:ln/>
        </p:spPr>
        <p:txBody>
          <a:bodyPr wrap="square" lIns="0" tIns="0" rIns="0" bIns="0" rtlCol="0" anchor="ctr"/>
          <a:lstStyle/>
          <a:p>
            <a:pPr indent="0" marL="0">
              <a:buNone/>
            </a:pPr>
            <a:r>
              <a:rPr lang="en-US" sz="1400" b="1" dirty="0">
                <a:solidFill>
                  <a:srgbClr val="16241D"/>
                </a:solidFill>
                <a:latin typeface="Calibri" pitchFamily="34" charset="0"/>
                <a:ea typeface="Calibri" pitchFamily="34" charset="-122"/>
                <a:cs typeface="Calibri" pitchFamily="34" charset="-120"/>
              </a:rPr>
              <a:t>Caitlin Freeman</a:t>
            </a:r>
            <a:endParaRPr lang="en-US" sz="1400" dirty="0"/>
          </a:p>
        </p:txBody>
      </p:sp>
      <p:sp>
        <p:nvSpPr>
          <p:cNvPr id="10" name="Text 8"/>
          <p:cNvSpPr txBox="1"/>
          <p:nvPr/>
        </p:nvSpPr>
        <p:spPr>
          <a:xfrm>
            <a:off x="4846320" y="1828800"/>
            <a:ext cx="5486400" cy="292608"/>
          </a:xfrm>
          <a:prstGeom prst="rect">
            <a:avLst/>
          </a:prstGeom>
          <a:noFill/>
          <a:ln/>
        </p:spPr>
        <p:txBody>
          <a:bodyPr wrap="square" lIns="0" tIns="0" rIns="0" bIns="0" rtlCol="0" anchor="ctr"/>
          <a:lstStyle/>
          <a:p>
            <a:pPr indent="0" marL="0">
              <a:buNone/>
            </a:pPr>
            <a:r>
              <a:rPr lang="en-US" sz="1300" dirty="0">
                <a:solidFill>
                  <a:srgbClr val="6E7D73"/>
                </a:solidFill>
                <a:latin typeface="Calibri" pitchFamily="34" charset="0"/>
                <a:ea typeface="Calibri" pitchFamily="34" charset="-122"/>
                <a:cs typeface="Calibri" pitchFamily="34" charset="-120"/>
              </a:rPr>
              <a:t>Opening and the team</a:t>
            </a:r>
            <a:endParaRPr lang="en-US" sz="1300" dirty="0"/>
          </a:p>
        </p:txBody>
      </p:sp>
      <p:sp>
        <p:nvSpPr>
          <p:cNvPr id="11" name="Text 9"/>
          <p:cNvSpPr txBox="1"/>
          <p:nvPr/>
        </p:nvSpPr>
        <p:spPr>
          <a:xfrm>
            <a:off x="10332720" y="1828800"/>
            <a:ext cx="914400" cy="292608"/>
          </a:xfrm>
          <a:prstGeom prst="rect">
            <a:avLst/>
          </a:prstGeom>
          <a:noFill/>
          <a:ln/>
        </p:spPr>
        <p:txBody>
          <a:bodyPr wrap="square" lIns="0" tIns="0" rIns="0" bIns="0" rtlCol="0" anchor="ctr"/>
          <a:lstStyle/>
          <a:p>
            <a:pPr algn="r" indent="0" marL="0">
              <a:buNone/>
            </a:pPr>
            <a:r>
              <a:rPr lang="en-US" sz="1200" dirty="0">
                <a:solidFill>
                  <a:srgbClr val="1F6F6B"/>
                </a:solidFill>
                <a:latin typeface="Calibri" pitchFamily="34" charset="0"/>
                <a:ea typeface="Calibri" pitchFamily="34" charset="-122"/>
                <a:cs typeface="Calibri" pitchFamily="34" charset="-120"/>
              </a:rPr>
              <a:t>3 min</a:t>
            </a:r>
            <a:endParaRPr lang="en-US" sz="1200" dirty="0"/>
          </a:p>
        </p:txBody>
      </p:sp>
      <p:sp>
        <p:nvSpPr>
          <p:cNvPr id="12" name="Text 10"/>
          <p:cNvSpPr txBox="1"/>
          <p:nvPr/>
        </p:nvSpPr>
        <p:spPr>
          <a:xfrm>
            <a:off x="932688" y="2327148"/>
            <a:ext cx="365760" cy="292608"/>
          </a:xfrm>
          <a:prstGeom prst="rect">
            <a:avLst/>
          </a:prstGeom>
          <a:noFill/>
          <a:ln/>
        </p:spPr>
        <p:txBody>
          <a:bodyPr wrap="square" lIns="0" tIns="0" rIns="0" bIns="0" rtlCol="0" anchor="ctr"/>
          <a:lstStyle/>
          <a:p>
            <a:pPr indent="0" marL="0">
              <a:buNone/>
            </a:pPr>
            <a:r>
              <a:rPr lang="en-US" sz="1300" b="1" dirty="0">
                <a:solidFill>
                  <a:srgbClr val="1F6F6B"/>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1463040" y="2345436"/>
            <a:ext cx="3108960" cy="292608"/>
          </a:xfrm>
          <a:prstGeom prst="rect">
            <a:avLst/>
          </a:prstGeom>
          <a:noFill/>
          <a:ln/>
        </p:spPr>
        <p:txBody>
          <a:bodyPr wrap="square" lIns="0" tIns="0" rIns="0" bIns="0" rtlCol="0" anchor="ctr"/>
          <a:lstStyle/>
          <a:p>
            <a:pPr indent="0" marL="0">
              <a:buNone/>
            </a:pPr>
            <a:r>
              <a:rPr lang="en-US" sz="1400" b="1" dirty="0">
                <a:solidFill>
                  <a:srgbClr val="16241D"/>
                </a:solidFill>
                <a:latin typeface="Calibri" pitchFamily="34" charset="0"/>
                <a:ea typeface="Calibri" pitchFamily="34" charset="-122"/>
                <a:cs typeface="Calibri" pitchFamily="34" charset="-120"/>
              </a:rPr>
              <a:t>Tiisetso Masita</a:t>
            </a:r>
            <a:endParaRPr lang="en-US" sz="1400" dirty="0"/>
          </a:p>
        </p:txBody>
      </p:sp>
      <p:sp>
        <p:nvSpPr>
          <p:cNvPr id="14" name="Text 12"/>
          <p:cNvSpPr txBox="1"/>
          <p:nvPr/>
        </p:nvSpPr>
        <p:spPr>
          <a:xfrm>
            <a:off x="4846320" y="2354580"/>
            <a:ext cx="5486400" cy="292608"/>
          </a:xfrm>
          <a:prstGeom prst="rect">
            <a:avLst/>
          </a:prstGeom>
          <a:noFill/>
          <a:ln/>
        </p:spPr>
        <p:txBody>
          <a:bodyPr wrap="square" lIns="0" tIns="0" rIns="0" bIns="0" rtlCol="0" anchor="ctr"/>
          <a:lstStyle/>
          <a:p>
            <a:pPr indent="0" marL="0">
              <a:buNone/>
            </a:pPr>
            <a:r>
              <a:rPr lang="en-US" sz="1300" dirty="0">
                <a:solidFill>
                  <a:srgbClr val="6E7D73"/>
                </a:solidFill>
                <a:latin typeface="Calibri" pitchFamily="34" charset="0"/>
                <a:ea typeface="Calibri" pitchFamily="34" charset="-122"/>
                <a:cs typeface="Calibri" pitchFamily="34" charset="-120"/>
              </a:rPr>
              <a:t>The stakeholder and how we engaged</a:t>
            </a:r>
            <a:endParaRPr lang="en-US" sz="1300" dirty="0"/>
          </a:p>
        </p:txBody>
      </p:sp>
      <p:sp>
        <p:nvSpPr>
          <p:cNvPr id="15" name="Text 13"/>
          <p:cNvSpPr txBox="1"/>
          <p:nvPr/>
        </p:nvSpPr>
        <p:spPr>
          <a:xfrm>
            <a:off x="10332720" y="2354580"/>
            <a:ext cx="914400" cy="292608"/>
          </a:xfrm>
          <a:prstGeom prst="rect">
            <a:avLst/>
          </a:prstGeom>
          <a:noFill/>
          <a:ln/>
        </p:spPr>
        <p:txBody>
          <a:bodyPr wrap="square" lIns="0" tIns="0" rIns="0" bIns="0" rtlCol="0" anchor="ctr"/>
          <a:lstStyle/>
          <a:p>
            <a:pPr algn="r" indent="0" marL="0">
              <a:buNone/>
            </a:pPr>
            <a:r>
              <a:rPr lang="en-US" sz="1200" dirty="0">
                <a:solidFill>
                  <a:srgbClr val="1F6F6B"/>
                </a:solidFill>
                <a:latin typeface="Calibri" pitchFamily="34" charset="0"/>
                <a:ea typeface="Calibri" pitchFamily="34" charset="-122"/>
                <a:cs typeface="Calibri" pitchFamily="34" charset="-120"/>
              </a:rPr>
              <a:t>3 min</a:t>
            </a:r>
            <a:endParaRPr lang="en-US" sz="1200" dirty="0"/>
          </a:p>
        </p:txBody>
      </p:sp>
      <p:sp>
        <p:nvSpPr>
          <p:cNvPr id="16" name="Shape 14"/>
          <p:cNvSpPr/>
          <p:nvPr/>
        </p:nvSpPr>
        <p:spPr>
          <a:xfrm>
            <a:off x="640080" y="2734056"/>
            <a:ext cx="10899648" cy="475488"/>
          </a:xfrm>
          <a:prstGeom prst="roundRect">
            <a:avLst>
              <a:gd name="adj" fmla="val 17308"/>
            </a:avLst>
          </a:prstGeom>
          <a:solidFill>
            <a:srgbClr val="EFE7DC"/>
          </a:solidFill>
          <a:ln w="12700">
            <a:solidFill>
              <a:srgbClr val="EFE7DC"/>
            </a:solidFill>
            <a:prstDash val="solid"/>
          </a:ln>
        </p:spPr>
      </p:sp>
      <p:sp>
        <p:nvSpPr>
          <p:cNvPr id="17" name="Text 15"/>
          <p:cNvSpPr txBox="1"/>
          <p:nvPr/>
        </p:nvSpPr>
        <p:spPr>
          <a:xfrm>
            <a:off x="932688" y="2852928"/>
            <a:ext cx="365760" cy="292608"/>
          </a:xfrm>
          <a:prstGeom prst="rect">
            <a:avLst/>
          </a:prstGeom>
          <a:noFill/>
          <a:ln/>
        </p:spPr>
        <p:txBody>
          <a:bodyPr wrap="square" lIns="0" tIns="0" rIns="0" bIns="0" rtlCol="0" anchor="ctr"/>
          <a:lstStyle/>
          <a:p>
            <a:pPr indent="0" marL="0">
              <a:buNone/>
            </a:pPr>
            <a:r>
              <a:rPr lang="en-US" sz="1300" b="1" dirty="0">
                <a:solidFill>
                  <a:srgbClr val="1F6F6B"/>
                </a:solidFill>
                <a:latin typeface="Cambria" pitchFamily="34" charset="0"/>
                <a:ea typeface="Cambria" pitchFamily="34" charset="-122"/>
                <a:cs typeface="Cambria" pitchFamily="34" charset="-120"/>
              </a:rPr>
              <a:t>3</a:t>
            </a:r>
            <a:endParaRPr lang="en-US" sz="1300" dirty="0"/>
          </a:p>
        </p:txBody>
      </p:sp>
      <p:sp>
        <p:nvSpPr>
          <p:cNvPr id="18" name="Text 16"/>
          <p:cNvSpPr txBox="1"/>
          <p:nvPr/>
        </p:nvSpPr>
        <p:spPr>
          <a:xfrm>
            <a:off x="1463040" y="2871216"/>
            <a:ext cx="3108960" cy="292608"/>
          </a:xfrm>
          <a:prstGeom prst="rect">
            <a:avLst/>
          </a:prstGeom>
          <a:noFill/>
          <a:ln/>
        </p:spPr>
        <p:txBody>
          <a:bodyPr wrap="square" lIns="0" tIns="0" rIns="0" bIns="0" rtlCol="0" anchor="ctr"/>
          <a:lstStyle/>
          <a:p>
            <a:pPr indent="0" marL="0">
              <a:buNone/>
            </a:pPr>
            <a:r>
              <a:rPr lang="en-US" sz="1400" b="1" dirty="0">
                <a:solidFill>
                  <a:srgbClr val="16241D"/>
                </a:solidFill>
                <a:latin typeface="Calibri" pitchFamily="34" charset="0"/>
                <a:ea typeface="Calibri" pitchFamily="34" charset="-122"/>
                <a:cs typeface="Calibri" pitchFamily="34" charset="-120"/>
              </a:rPr>
              <a:t>Ayatolla Pikwa</a:t>
            </a:r>
            <a:endParaRPr lang="en-US" sz="1400" dirty="0"/>
          </a:p>
        </p:txBody>
      </p:sp>
      <p:sp>
        <p:nvSpPr>
          <p:cNvPr id="19" name="Text 17"/>
          <p:cNvSpPr txBox="1"/>
          <p:nvPr/>
        </p:nvSpPr>
        <p:spPr>
          <a:xfrm>
            <a:off x="4846320" y="2880360"/>
            <a:ext cx="5486400" cy="292608"/>
          </a:xfrm>
          <a:prstGeom prst="rect">
            <a:avLst/>
          </a:prstGeom>
          <a:noFill/>
          <a:ln/>
        </p:spPr>
        <p:txBody>
          <a:bodyPr wrap="square" lIns="0" tIns="0" rIns="0" bIns="0" rtlCol="0" anchor="ctr"/>
          <a:lstStyle/>
          <a:p>
            <a:pPr indent="0" marL="0">
              <a:buNone/>
            </a:pPr>
            <a:r>
              <a:rPr lang="en-US" sz="1300" dirty="0">
                <a:solidFill>
                  <a:srgbClr val="6E7D73"/>
                </a:solidFill>
                <a:latin typeface="Calibri" pitchFamily="34" charset="0"/>
                <a:ea typeface="Calibri" pitchFamily="34" charset="-122"/>
                <a:cs typeface="Calibri" pitchFamily="34" charset="-120"/>
              </a:rPr>
              <a:t>The problem and the current process</a:t>
            </a:r>
            <a:endParaRPr lang="en-US" sz="1300" dirty="0"/>
          </a:p>
        </p:txBody>
      </p:sp>
      <p:sp>
        <p:nvSpPr>
          <p:cNvPr id="20" name="Text 18"/>
          <p:cNvSpPr txBox="1"/>
          <p:nvPr/>
        </p:nvSpPr>
        <p:spPr>
          <a:xfrm>
            <a:off x="10332720" y="2880360"/>
            <a:ext cx="914400" cy="292608"/>
          </a:xfrm>
          <a:prstGeom prst="rect">
            <a:avLst/>
          </a:prstGeom>
          <a:noFill/>
          <a:ln/>
        </p:spPr>
        <p:txBody>
          <a:bodyPr wrap="square" lIns="0" tIns="0" rIns="0" bIns="0" rtlCol="0" anchor="ctr"/>
          <a:lstStyle/>
          <a:p>
            <a:pPr algn="r" indent="0" marL="0">
              <a:buNone/>
            </a:pPr>
            <a:r>
              <a:rPr lang="en-US" sz="1200" dirty="0">
                <a:solidFill>
                  <a:srgbClr val="1F6F6B"/>
                </a:solidFill>
                <a:latin typeface="Calibri" pitchFamily="34" charset="0"/>
                <a:ea typeface="Calibri" pitchFamily="34" charset="-122"/>
                <a:cs typeface="Calibri" pitchFamily="34" charset="-120"/>
              </a:rPr>
              <a:t>4 min</a:t>
            </a:r>
            <a:endParaRPr lang="en-US" sz="1200" dirty="0"/>
          </a:p>
        </p:txBody>
      </p:sp>
      <p:sp>
        <p:nvSpPr>
          <p:cNvPr id="21" name="Text 19"/>
          <p:cNvSpPr txBox="1"/>
          <p:nvPr/>
        </p:nvSpPr>
        <p:spPr>
          <a:xfrm>
            <a:off x="932688" y="3378708"/>
            <a:ext cx="365760" cy="292608"/>
          </a:xfrm>
          <a:prstGeom prst="rect">
            <a:avLst/>
          </a:prstGeom>
          <a:noFill/>
          <a:ln/>
        </p:spPr>
        <p:txBody>
          <a:bodyPr wrap="square" lIns="0" tIns="0" rIns="0" bIns="0" rtlCol="0" anchor="ctr"/>
          <a:lstStyle/>
          <a:p>
            <a:pPr indent="0" marL="0">
              <a:buNone/>
            </a:pPr>
            <a:r>
              <a:rPr lang="en-US" sz="1300" b="1" dirty="0">
                <a:solidFill>
                  <a:srgbClr val="1F6F6B"/>
                </a:solidFill>
                <a:latin typeface="Cambria" pitchFamily="34" charset="0"/>
                <a:ea typeface="Cambria" pitchFamily="34" charset="-122"/>
                <a:cs typeface="Cambria" pitchFamily="34" charset="-120"/>
              </a:rPr>
              <a:t>4</a:t>
            </a:r>
            <a:endParaRPr lang="en-US" sz="1300" dirty="0"/>
          </a:p>
        </p:txBody>
      </p:sp>
      <p:sp>
        <p:nvSpPr>
          <p:cNvPr id="22" name="Text 20"/>
          <p:cNvSpPr txBox="1"/>
          <p:nvPr/>
        </p:nvSpPr>
        <p:spPr>
          <a:xfrm>
            <a:off x="1463040" y="3396996"/>
            <a:ext cx="3108960" cy="292608"/>
          </a:xfrm>
          <a:prstGeom prst="rect">
            <a:avLst/>
          </a:prstGeom>
          <a:noFill/>
          <a:ln/>
        </p:spPr>
        <p:txBody>
          <a:bodyPr wrap="square" lIns="0" tIns="0" rIns="0" bIns="0" rtlCol="0" anchor="ctr"/>
          <a:lstStyle/>
          <a:p>
            <a:pPr indent="0" marL="0">
              <a:buNone/>
            </a:pPr>
            <a:r>
              <a:rPr lang="en-US" sz="1400" b="1" dirty="0">
                <a:solidFill>
                  <a:srgbClr val="16241D"/>
                </a:solidFill>
                <a:latin typeface="Calibri" pitchFamily="34" charset="0"/>
                <a:ea typeface="Calibri" pitchFamily="34" charset="-122"/>
                <a:cs typeface="Calibri" pitchFamily="34" charset="-120"/>
              </a:rPr>
              <a:t>Machedi Mamello</a:t>
            </a:r>
            <a:endParaRPr lang="en-US" sz="1400" dirty="0"/>
          </a:p>
        </p:txBody>
      </p:sp>
      <p:sp>
        <p:nvSpPr>
          <p:cNvPr id="23" name="Text 21"/>
          <p:cNvSpPr txBox="1"/>
          <p:nvPr/>
        </p:nvSpPr>
        <p:spPr>
          <a:xfrm>
            <a:off x="4846320" y="3406140"/>
            <a:ext cx="5486400" cy="292608"/>
          </a:xfrm>
          <a:prstGeom prst="rect">
            <a:avLst/>
          </a:prstGeom>
          <a:noFill/>
          <a:ln/>
        </p:spPr>
        <p:txBody>
          <a:bodyPr wrap="square" lIns="0" tIns="0" rIns="0" bIns="0" rtlCol="0" anchor="ctr"/>
          <a:lstStyle/>
          <a:p>
            <a:pPr indent="0" marL="0">
              <a:buNone/>
            </a:pPr>
            <a:r>
              <a:rPr lang="en-US" sz="1300" dirty="0">
                <a:solidFill>
                  <a:srgbClr val="6E7D73"/>
                </a:solidFill>
                <a:latin typeface="Calibri" pitchFamily="34" charset="0"/>
                <a:ea typeface="Calibri" pitchFamily="34" charset="-122"/>
                <a:cs typeface="Calibri" pitchFamily="34" charset="-120"/>
              </a:rPr>
              <a:t>What is deployed and what it measures</a:t>
            </a:r>
            <a:endParaRPr lang="en-US" sz="1300" dirty="0"/>
          </a:p>
        </p:txBody>
      </p:sp>
      <p:sp>
        <p:nvSpPr>
          <p:cNvPr id="24" name="Text 22"/>
          <p:cNvSpPr txBox="1"/>
          <p:nvPr/>
        </p:nvSpPr>
        <p:spPr>
          <a:xfrm>
            <a:off x="10332720" y="3406140"/>
            <a:ext cx="914400" cy="292608"/>
          </a:xfrm>
          <a:prstGeom prst="rect">
            <a:avLst/>
          </a:prstGeom>
          <a:noFill/>
          <a:ln/>
        </p:spPr>
        <p:txBody>
          <a:bodyPr wrap="square" lIns="0" tIns="0" rIns="0" bIns="0" rtlCol="0" anchor="ctr"/>
          <a:lstStyle/>
          <a:p>
            <a:pPr algn="r" indent="0" marL="0">
              <a:buNone/>
            </a:pPr>
            <a:r>
              <a:rPr lang="en-US" sz="1200" dirty="0">
                <a:solidFill>
                  <a:srgbClr val="1F6F6B"/>
                </a:solidFill>
                <a:latin typeface="Calibri" pitchFamily="34" charset="0"/>
                <a:ea typeface="Calibri" pitchFamily="34" charset="-122"/>
                <a:cs typeface="Calibri" pitchFamily="34" charset="-120"/>
              </a:rPr>
              <a:t>3 min</a:t>
            </a:r>
            <a:endParaRPr lang="en-US" sz="1200" dirty="0"/>
          </a:p>
        </p:txBody>
      </p:sp>
      <p:sp>
        <p:nvSpPr>
          <p:cNvPr id="25" name="Shape 23"/>
          <p:cNvSpPr/>
          <p:nvPr/>
        </p:nvSpPr>
        <p:spPr>
          <a:xfrm>
            <a:off x="640080" y="3785616"/>
            <a:ext cx="10899648" cy="475488"/>
          </a:xfrm>
          <a:prstGeom prst="roundRect">
            <a:avLst>
              <a:gd name="adj" fmla="val 17308"/>
            </a:avLst>
          </a:prstGeom>
          <a:solidFill>
            <a:srgbClr val="EFE7DC"/>
          </a:solidFill>
          <a:ln w="12700">
            <a:solidFill>
              <a:srgbClr val="EFE7DC"/>
            </a:solidFill>
            <a:prstDash val="solid"/>
          </a:ln>
        </p:spPr>
      </p:sp>
      <p:sp>
        <p:nvSpPr>
          <p:cNvPr id="26" name="Text 24"/>
          <p:cNvSpPr txBox="1"/>
          <p:nvPr/>
        </p:nvSpPr>
        <p:spPr>
          <a:xfrm>
            <a:off x="932688" y="3904488"/>
            <a:ext cx="365760" cy="292608"/>
          </a:xfrm>
          <a:prstGeom prst="rect">
            <a:avLst/>
          </a:prstGeom>
          <a:noFill/>
          <a:ln/>
        </p:spPr>
        <p:txBody>
          <a:bodyPr wrap="square" lIns="0" tIns="0" rIns="0" bIns="0" rtlCol="0" anchor="ctr"/>
          <a:lstStyle/>
          <a:p>
            <a:pPr indent="0" marL="0">
              <a:buNone/>
            </a:pPr>
            <a:r>
              <a:rPr lang="en-US" sz="1300" b="1" dirty="0">
                <a:solidFill>
                  <a:srgbClr val="1F6F6B"/>
                </a:solidFill>
                <a:latin typeface="Cambria" pitchFamily="34" charset="0"/>
                <a:ea typeface="Cambria" pitchFamily="34" charset="-122"/>
                <a:cs typeface="Cambria" pitchFamily="34" charset="-120"/>
              </a:rPr>
              <a:t>5</a:t>
            </a:r>
            <a:endParaRPr lang="en-US" sz="1300" dirty="0"/>
          </a:p>
        </p:txBody>
      </p:sp>
      <p:sp>
        <p:nvSpPr>
          <p:cNvPr id="27" name="Text 25"/>
          <p:cNvSpPr txBox="1"/>
          <p:nvPr/>
        </p:nvSpPr>
        <p:spPr>
          <a:xfrm>
            <a:off x="1463040" y="3922776"/>
            <a:ext cx="3108960" cy="292608"/>
          </a:xfrm>
          <a:prstGeom prst="rect">
            <a:avLst/>
          </a:prstGeom>
          <a:noFill/>
          <a:ln/>
        </p:spPr>
        <p:txBody>
          <a:bodyPr wrap="square" lIns="0" tIns="0" rIns="0" bIns="0" rtlCol="0" anchor="ctr"/>
          <a:lstStyle/>
          <a:p>
            <a:pPr indent="0" marL="0">
              <a:buNone/>
            </a:pPr>
            <a:r>
              <a:rPr lang="en-US" sz="1400" b="1" dirty="0">
                <a:solidFill>
                  <a:srgbClr val="16241D"/>
                </a:solidFill>
                <a:latin typeface="Calibri" pitchFamily="34" charset="0"/>
                <a:ea typeface="Calibri" pitchFamily="34" charset="-122"/>
                <a:cs typeface="Calibri" pitchFamily="34" charset="-120"/>
              </a:rPr>
              <a:t>Nido Maphosa</a:t>
            </a:r>
            <a:endParaRPr lang="en-US" sz="1400" dirty="0"/>
          </a:p>
        </p:txBody>
      </p:sp>
      <p:sp>
        <p:nvSpPr>
          <p:cNvPr id="28" name="Text 26"/>
          <p:cNvSpPr txBox="1"/>
          <p:nvPr/>
        </p:nvSpPr>
        <p:spPr>
          <a:xfrm>
            <a:off x="4846320" y="3931920"/>
            <a:ext cx="5486400" cy="292608"/>
          </a:xfrm>
          <a:prstGeom prst="rect">
            <a:avLst/>
          </a:prstGeom>
          <a:noFill/>
          <a:ln/>
        </p:spPr>
        <p:txBody>
          <a:bodyPr wrap="square" lIns="0" tIns="0" rIns="0" bIns="0" rtlCol="0" anchor="ctr"/>
          <a:lstStyle/>
          <a:p>
            <a:pPr indent="0" marL="0">
              <a:buNone/>
            </a:pPr>
            <a:r>
              <a:rPr lang="en-US" sz="1300" dirty="0">
                <a:solidFill>
                  <a:srgbClr val="6E7D73"/>
                </a:solidFill>
                <a:latin typeface="Calibri" pitchFamily="34" charset="0"/>
                <a:ea typeface="Calibri" pitchFamily="34" charset="-122"/>
                <a:cs typeface="Calibri" pitchFamily="34" charset="-120"/>
              </a:rPr>
              <a:t>The proposed system</a:t>
            </a:r>
            <a:endParaRPr lang="en-US" sz="1300" dirty="0"/>
          </a:p>
        </p:txBody>
      </p:sp>
      <p:sp>
        <p:nvSpPr>
          <p:cNvPr id="29" name="Text 27"/>
          <p:cNvSpPr txBox="1"/>
          <p:nvPr/>
        </p:nvSpPr>
        <p:spPr>
          <a:xfrm>
            <a:off x="10332720" y="3931920"/>
            <a:ext cx="914400" cy="292608"/>
          </a:xfrm>
          <a:prstGeom prst="rect">
            <a:avLst/>
          </a:prstGeom>
          <a:noFill/>
          <a:ln/>
        </p:spPr>
        <p:txBody>
          <a:bodyPr wrap="square" lIns="0" tIns="0" rIns="0" bIns="0" rtlCol="0" anchor="ctr"/>
          <a:lstStyle/>
          <a:p>
            <a:pPr algn="r" indent="0" marL="0">
              <a:buNone/>
            </a:pPr>
            <a:r>
              <a:rPr lang="en-US" sz="1200" dirty="0">
                <a:solidFill>
                  <a:srgbClr val="1F6F6B"/>
                </a:solidFill>
                <a:latin typeface="Calibri" pitchFamily="34" charset="0"/>
                <a:ea typeface="Calibri" pitchFamily="34" charset="-122"/>
                <a:cs typeface="Calibri" pitchFamily="34" charset="-120"/>
              </a:rPr>
              <a:t>5 min</a:t>
            </a:r>
            <a:endParaRPr lang="en-US" sz="1200" dirty="0"/>
          </a:p>
        </p:txBody>
      </p:sp>
      <p:sp>
        <p:nvSpPr>
          <p:cNvPr id="30" name="Text 28"/>
          <p:cNvSpPr txBox="1"/>
          <p:nvPr/>
        </p:nvSpPr>
        <p:spPr>
          <a:xfrm>
            <a:off x="932688" y="4430268"/>
            <a:ext cx="365760" cy="292608"/>
          </a:xfrm>
          <a:prstGeom prst="rect">
            <a:avLst/>
          </a:prstGeom>
          <a:noFill/>
          <a:ln/>
        </p:spPr>
        <p:txBody>
          <a:bodyPr wrap="square" lIns="0" tIns="0" rIns="0" bIns="0" rtlCol="0" anchor="ctr"/>
          <a:lstStyle/>
          <a:p>
            <a:pPr indent="0" marL="0">
              <a:buNone/>
            </a:pPr>
            <a:r>
              <a:rPr lang="en-US" sz="1300" b="1" dirty="0">
                <a:solidFill>
                  <a:srgbClr val="1F6F6B"/>
                </a:solidFill>
                <a:latin typeface="Cambria" pitchFamily="34" charset="0"/>
                <a:ea typeface="Cambria" pitchFamily="34" charset="-122"/>
                <a:cs typeface="Cambria" pitchFamily="34" charset="-120"/>
              </a:rPr>
              <a:t>6</a:t>
            </a:r>
            <a:endParaRPr lang="en-US" sz="1300" dirty="0"/>
          </a:p>
        </p:txBody>
      </p:sp>
      <p:sp>
        <p:nvSpPr>
          <p:cNvPr id="31" name="Text 29"/>
          <p:cNvSpPr txBox="1"/>
          <p:nvPr/>
        </p:nvSpPr>
        <p:spPr>
          <a:xfrm>
            <a:off x="1463040" y="4448556"/>
            <a:ext cx="3108960" cy="292608"/>
          </a:xfrm>
          <a:prstGeom prst="rect">
            <a:avLst/>
          </a:prstGeom>
          <a:noFill/>
          <a:ln/>
        </p:spPr>
        <p:txBody>
          <a:bodyPr wrap="square" lIns="0" tIns="0" rIns="0" bIns="0" rtlCol="0" anchor="ctr"/>
          <a:lstStyle/>
          <a:p>
            <a:pPr indent="0" marL="0">
              <a:buNone/>
            </a:pPr>
            <a:r>
              <a:rPr lang="en-US" sz="1400" b="1" dirty="0">
                <a:solidFill>
                  <a:srgbClr val="16241D"/>
                </a:solidFill>
                <a:latin typeface="Calibri" pitchFamily="34" charset="0"/>
                <a:ea typeface="Calibri" pitchFamily="34" charset="-122"/>
                <a:cs typeface="Calibri" pitchFamily="34" charset="-120"/>
              </a:rPr>
              <a:t>Thobani Mjiyakho</a:t>
            </a:r>
            <a:endParaRPr lang="en-US" sz="1400" dirty="0"/>
          </a:p>
        </p:txBody>
      </p:sp>
      <p:sp>
        <p:nvSpPr>
          <p:cNvPr id="32" name="Text 30"/>
          <p:cNvSpPr txBox="1"/>
          <p:nvPr/>
        </p:nvSpPr>
        <p:spPr>
          <a:xfrm>
            <a:off x="4846320" y="4457700"/>
            <a:ext cx="5486400" cy="292608"/>
          </a:xfrm>
          <a:prstGeom prst="rect">
            <a:avLst/>
          </a:prstGeom>
          <a:noFill/>
          <a:ln/>
        </p:spPr>
        <p:txBody>
          <a:bodyPr wrap="square" lIns="0" tIns="0" rIns="0" bIns="0" rtlCol="0" anchor="ctr"/>
          <a:lstStyle/>
          <a:p>
            <a:pPr indent="0" marL="0">
              <a:buNone/>
            </a:pPr>
            <a:r>
              <a:rPr lang="en-US" sz="1300" dirty="0">
                <a:solidFill>
                  <a:srgbClr val="6E7D73"/>
                </a:solidFill>
                <a:latin typeface="Calibri" pitchFamily="34" charset="0"/>
                <a:ea typeface="Calibri" pitchFamily="34" charset="-122"/>
                <a:cs typeface="Calibri" pitchFamily="34" charset="-120"/>
              </a:rPr>
              <a:t>Requirements and how they were derived</a:t>
            </a:r>
            <a:endParaRPr lang="en-US" sz="1300" dirty="0"/>
          </a:p>
        </p:txBody>
      </p:sp>
      <p:sp>
        <p:nvSpPr>
          <p:cNvPr id="33" name="Text 31"/>
          <p:cNvSpPr txBox="1"/>
          <p:nvPr/>
        </p:nvSpPr>
        <p:spPr>
          <a:xfrm>
            <a:off x="10332720" y="4457700"/>
            <a:ext cx="914400" cy="292608"/>
          </a:xfrm>
          <a:prstGeom prst="rect">
            <a:avLst/>
          </a:prstGeom>
          <a:noFill/>
          <a:ln/>
        </p:spPr>
        <p:txBody>
          <a:bodyPr wrap="square" lIns="0" tIns="0" rIns="0" bIns="0" rtlCol="0" anchor="ctr"/>
          <a:lstStyle/>
          <a:p>
            <a:pPr algn="r" indent="0" marL="0">
              <a:buNone/>
            </a:pPr>
            <a:r>
              <a:rPr lang="en-US" sz="1200" dirty="0">
                <a:solidFill>
                  <a:srgbClr val="1F6F6B"/>
                </a:solidFill>
                <a:latin typeface="Calibri" pitchFamily="34" charset="0"/>
                <a:ea typeface="Calibri" pitchFamily="34" charset="-122"/>
                <a:cs typeface="Calibri" pitchFamily="34" charset="-120"/>
              </a:rPr>
              <a:t>5 min</a:t>
            </a:r>
            <a:endParaRPr lang="en-US" sz="1200" dirty="0"/>
          </a:p>
        </p:txBody>
      </p:sp>
      <p:sp>
        <p:nvSpPr>
          <p:cNvPr id="34" name="Shape 32"/>
          <p:cNvSpPr/>
          <p:nvPr/>
        </p:nvSpPr>
        <p:spPr>
          <a:xfrm>
            <a:off x="640080" y="4837176"/>
            <a:ext cx="10899648" cy="475488"/>
          </a:xfrm>
          <a:prstGeom prst="roundRect">
            <a:avLst>
              <a:gd name="adj" fmla="val 17308"/>
            </a:avLst>
          </a:prstGeom>
          <a:solidFill>
            <a:srgbClr val="EFE7DC"/>
          </a:solidFill>
          <a:ln w="12700">
            <a:solidFill>
              <a:srgbClr val="EFE7DC"/>
            </a:solidFill>
            <a:prstDash val="solid"/>
          </a:ln>
        </p:spPr>
      </p:sp>
      <p:sp>
        <p:nvSpPr>
          <p:cNvPr id="35" name="Text 33"/>
          <p:cNvSpPr txBox="1"/>
          <p:nvPr/>
        </p:nvSpPr>
        <p:spPr>
          <a:xfrm>
            <a:off x="932688" y="4956048"/>
            <a:ext cx="365760" cy="292608"/>
          </a:xfrm>
          <a:prstGeom prst="rect">
            <a:avLst/>
          </a:prstGeom>
          <a:noFill/>
          <a:ln/>
        </p:spPr>
        <p:txBody>
          <a:bodyPr wrap="square" lIns="0" tIns="0" rIns="0" bIns="0" rtlCol="0" anchor="ctr"/>
          <a:lstStyle/>
          <a:p>
            <a:pPr indent="0" marL="0">
              <a:buNone/>
            </a:pPr>
            <a:r>
              <a:rPr lang="en-US" sz="1300" b="1" dirty="0">
                <a:solidFill>
                  <a:srgbClr val="1F6F6B"/>
                </a:solidFill>
                <a:latin typeface="Cambria" pitchFamily="34" charset="0"/>
                <a:ea typeface="Cambria" pitchFamily="34" charset="-122"/>
                <a:cs typeface="Cambria" pitchFamily="34" charset="-120"/>
              </a:rPr>
              <a:t>7</a:t>
            </a:r>
            <a:endParaRPr lang="en-US" sz="1300" dirty="0"/>
          </a:p>
        </p:txBody>
      </p:sp>
      <p:sp>
        <p:nvSpPr>
          <p:cNvPr id="36" name="Text 34"/>
          <p:cNvSpPr txBox="1"/>
          <p:nvPr/>
        </p:nvSpPr>
        <p:spPr>
          <a:xfrm>
            <a:off x="1463040" y="4974336"/>
            <a:ext cx="3108960" cy="292608"/>
          </a:xfrm>
          <a:prstGeom prst="rect">
            <a:avLst/>
          </a:prstGeom>
          <a:noFill/>
          <a:ln/>
        </p:spPr>
        <p:txBody>
          <a:bodyPr wrap="square" lIns="0" tIns="0" rIns="0" bIns="0" rtlCol="0" anchor="ctr"/>
          <a:lstStyle/>
          <a:p>
            <a:pPr indent="0" marL="0">
              <a:buNone/>
            </a:pPr>
            <a:r>
              <a:rPr lang="en-US" sz="1400" b="1" dirty="0">
                <a:solidFill>
                  <a:srgbClr val="16241D"/>
                </a:solidFill>
                <a:latin typeface="Calibri" pitchFamily="34" charset="0"/>
                <a:ea typeface="Calibri" pitchFamily="34" charset="-122"/>
                <a:cs typeface="Calibri" pitchFamily="34" charset="-120"/>
              </a:rPr>
              <a:t>Mbasa Tyam</a:t>
            </a:r>
            <a:endParaRPr lang="en-US" sz="1400" dirty="0"/>
          </a:p>
        </p:txBody>
      </p:sp>
      <p:sp>
        <p:nvSpPr>
          <p:cNvPr id="37" name="Text 35"/>
          <p:cNvSpPr txBox="1"/>
          <p:nvPr/>
        </p:nvSpPr>
        <p:spPr>
          <a:xfrm>
            <a:off x="4846320" y="4983480"/>
            <a:ext cx="5486400" cy="292608"/>
          </a:xfrm>
          <a:prstGeom prst="rect">
            <a:avLst/>
          </a:prstGeom>
          <a:noFill/>
          <a:ln/>
        </p:spPr>
        <p:txBody>
          <a:bodyPr wrap="square" lIns="0" tIns="0" rIns="0" bIns="0" rtlCol="0" anchor="ctr"/>
          <a:lstStyle/>
          <a:p>
            <a:pPr indent="0" marL="0">
              <a:buNone/>
            </a:pPr>
            <a:r>
              <a:rPr lang="en-US" sz="1300" dirty="0">
                <a:solidFill>
                  <a:srgbClr val="6E7D73"/>
                </a:solidFill>
                <a:latin typeface="Calibri" pitchFamily="34" charset="0"/>
                <a:ea typeface="Calibri" pitchFamily="34" charset="-122"/>
                <a:cs typeface="Calibri" pitchFamily="34" charset="-120"/>
              </a:rPr>
              <a:t>Interpretation and feasibility</a:t>
            </a:r>
            <a:endParaRPr lang="en-US" sz="1300" dirty="0"/>
          </a:p>
        </p:txBody>
      </p:sp>
      <p:sp>
        <p:nvSpPr>
          <p:cNvPr id="38" name="Text 36"/>
          <p:cNvSpPr txBox="1"/>
          <p:nvPr/>
        </p:nvSpPr>
        <p:spPr>
          <a:xfrm>
            <a:off x="10332720" y="4983480"/>
            <a:ext cx="914400" cy="292608"/>
          </a:xfrm>
          <a:prstGeom prst="rect">
            <a:avLst/>
          </a:prstGeom>
          <a:noFill/>
          <a:ln/>
        </p:spPr>
        <p:txBody>
          <a:bodyPr wrap="square" lIns="0" tIns="0" rIns="0" bIns="0" rtlCol="0" anchor="ctr"/>
          <a:lstStyle/>
          <a:p>
            <a:pPr algn="r" indent="0" marL="0">
              <a:buNone/>
            </a:pPr>
            <a:r>
              <a:rPr lang="en-US" sz="1200" dirty="0">
                <a:solidFill>
                  <a:srgbClr val="1F6F6B"/>
                </a:solidFill>
                <a:latin typeface="Calibri" pitchFamily="34" charset="0"/>
                <a:ea typeface="Calibri" pitchFamily="34" charset="-122"/>
                <a:cs typeface="Calibri" pitchFamily="34" charset="-120"/>
              </a:rPr>
              <a:t>4 min</a:t>
            </a:r>
            <a:endParaRPr lang="en-US" sz="1200" dirty="0"/>
          </a:p>
        </p:txBody>
      </p:sp>
      <p:sp>
        <p:nvSpPr>
          <p:cNvPr id="39" name="Text 37"/>
          <p:cNvSpPr txBox="1"/>
          <p:nvPr/>
        </p:nvSpPr>
        <p:spPr>
          <a:xfrm>
            <a:off x="932688" y="5481828"/>
            <a:ext cx="365760" cy="292608"/>
          </a:xfrm>
          <a:prstGeom prst="rect">
            <a:avLst/>
          </a:prstGeom>
          <a:noFill/>
          <a:ln/>
        </p:spPr>
        <p:txBody>
          <a:bodyPr wrap="square" lIns="0" tIns="0" rIns="0" bIns="0" rtlCol="0" anchor="ctr"/>
          <a:lstStyle/>
          <a:p>
            <a:pPr indent="0" marL="0">
              <a:buNone/>
            </a:pPr>
            <a:r>
              <a:rPr lang="en-US" sz="1300" b="1" dirty="0">
                <a:solidFill>
                  <a:srgbClr val="1F6F6B"/>
                </a:solidFill>
                <a:latin typeface="Cambria" pitchFamily="34" charset="0"/>
                <a:ea typeface="Cambria" pitchFamily="34" charset="-122"/>
                <a:cs typeface="Cambria" pitchFamily="34" charset="-120"/>
              </a:rPr>
              <a:t>8</a:t>
            </a:r>
            <a:endParaRPr lang="en-US" sz="1300" dirty="0"/>
          </a:p>
        </p:txBody>
      </p:sp>
      <p:sp>
        <p:nvSpPr>
          <p:cNvPr id="40" name="Text 38"/>
          <p:cNvSpPr txBox="1"/>
          <p:nvPr/>
        </p:nvSpPr>
        <p:spPr>
          <a:xfrm>
            <a:off x="1463040" y="5500116"/>
            <a:ext cx="3108960" cy="292608"/>
          </a:xfrm>
          <a:prstGeom prst="rect">
            <a:avLst/>
          </a:prstGeom>
          <a:noFill/>
          <a:ln/>
        </p:spPr>
        <p:txBody>
          <a:bodyPr wrap="square" lIns="0" tIns="0" rIns="0" bIns="0" rtlCol="0" anchor="ctr"/>
          <a:lstStyle/>
          <a:p>
            <a:pPr indent="0" marL="0">
              <a:buNone/>
            </a:pPr>
            <a:r>
              <a:rPr lang="en-US" sz="1400" b="1" dirty="0">
                <a:solidFill>
                  <a:srgbClr val="16241D"/>
                </a:solidFill>
                <a:latin typeface="Calibri" pitchFamily="34" charset="0"/>
                <a:ea typeface="Calibri" pitchFamily="34" charset="-122"/>
                <a:cs typeface="Calibri" pitchFamily="34" charset="-120"/>
              </a:rPr>
              <a:t>Katlontle Seiphetlho</a:t>
            </a:r>
            <a:endParaRPr lang="en-US" sz="1400" dirty="0"/>
          </a:p>
        </p:txBody>
      </p:sp>
      <p:sp>
        <p:nvSpPr>
          <p:cNvPr id="41" name="Text 39"/>
          <p:cNvSpPr txBox="1"/>
          <p:nvPr/>
        </p:nvSpPr>
        <p:spPr>
          <a:xfrm>
            <a:off x="4846320" y="5509260"/>
            <a:ext cx="5486400" cy="292608"/>
          </a:xfrm>
          <a:prstGeom prst="rect">
            <a:avLst/>
          </a:prstGeom>
          <a:noFill/>
          <a:ln/>
        </p:spPr>
        <p:txBody>
          <a:bodyPr wrap="square" lIns="0" tIns="0" rIns="0" bIns="0" rtlCol="0" anchor="ctr"/>
          <a:lstStyle/>
          <a:p>
            <a:pPr indent="0" marL="0">
              <a:buNone/>
            </a:pPr>
            <a:r>
              <a:rPr lang="en-US" sz="1300" dirty="0">
                <a:solidFill>
                  <a:srgbClr val="6E7D73"/>
                </a:solidFill>
                <a:latin typeface="Calibri" pitchFamily="34" charset="0"/>
                <a:ea typeface="Calibri" pitchFamily="34" charset="-122"/>
                <a:cs typeface="Calibri" pitchFamily="34" charset="-120"/>
              </a:rPr>
              <a:t>Risk, scope and the plan</a:t>
            </a:r>
            <a:endParaRPr lang="en-US" sz="1300" dirty="0"/>
          </a:p>
        </p:txBody>
      </p:sp>
      <p:sp>
        <p:nvSpPr>
          <p:cNvPr id="42" name="Text 40"/>
          <p:cNvSpPr txBox="1"/>
          <p:nvPr/>
        </p:nvSpPr>
        <p:spPr>
          <a:xfrm>
            <a:off x="10332720" y="5509260"/>
            <a:ext cx="914400" cy="292608"/>
          </a:xfrm>
          <a:prstGeom prst="rect">
            <a:avLst/>
          </a:prstGeom>
          <a:noFill/>
          <a:ln/>
        </p:spPr>
        <p:txBody>
          <a:bodyPr wrap="square" lIns="0" tIns="0" rIns="0" bIns="0" rtlCol="0" anchor="ctr"/>
          <a:lstStyle/>
          <a:p>
            <a:pPr algn="r" indent="0" marL="0">
              <a:buNone/>
            </a:pPr>
            <a:r>
              <a:rPr lang="en-US" sz="1200" dirty="0">
                <a:solidFill>
                  <a:srgbClr val="1F6F6B"/>
                </a:solidFill>
                <a:latin typeface="Calibri" pitchFamily="34" charset="0"/>
                <a:ea typeface="Calibri" pitchFamily="34" charset="-122"/>
                <a:cs typeface="Calibri" pitchFamily="34" charset="-120"/>
              </a:rPr>
              <a:t>3 min</a:t>
            </a:r>
            <a:endParaRPr lang="en-US" sz="1200" dirty="0"/>
          </a:p>
        </p:txBody>
      </p:sp>
      <p:sp>
        <p:nvSpPr>
          <p:cNvPr id="43" name="Text 41"/>
          <p:cNvSpPr txBox="1"/>
          <p:nvPr/>
        </p:nvSpPr>
        <p:spPr>
          <a:xfrm>
            <a:off x="640080" y="6035040"/>
            <a:ext cx="10881360" cy="329184"/>
          </a:xfrm>
          <a:prstGeom prst="rect">
            <a:avLst/>
          </a:prstGeom>
          <a:noFill/>
          <a:ln/>
        </p:spPr>
        <p:txBody>
          <a:bodyPr wrap="square" lIns="0" tIns="0" rIns="0" bIns="0" rtlCol="0" anchor="ctr"/>
          <a:lstStyle/>
          <a:p>
            <a:pPr indent="0" marL="0">
              <a:buNone/>
            </a:pPr>
            <a:r>
              <a:rPr lang="en-US" sz="1250" i="1" dirty="0">
                <a:solidFill>
                  <a:srgbClr val="16241D"/>
                </a:solidFill>
                <a:latin typeface="Calibri" pitchFamily="34" charset="0"/>
                <a:ea typeface="Calibri" pitchFamily="34" charset="-122"/>
                <a:cs typeface="Calibri" pitchFamily="34" charset="-120"/>
              </a:rPr>
              <a:t>Each of us can answer questions on any part of the work, not only the part we present.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THE TEAM</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Caitlin Freeman</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The delivery team</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3</a:t>
            </a:r>
            <a:endParaRPr lang="en-US" sz="1000" dirty="0"/>
          </a:p>
        </p:txBody>
      </p:sp>
      <p:sp>
        <p:nvSpPr>
          <p:cNvPr id="7" name="Shape 5"/>
          <p:cNvSpPr/>
          <p:nvPr/>
        </p:nvSpPr>
        <p:spPr>
          <a:xfrm>
            <a:off x="640080" y="1783080"/>
            <a:ext cx="566928" cy="566928"/>
          </a:xfrm>
          <a:prstGeom prst="ellipse">
            <a:avLst/>
          </a:prstGeom>
          <a:solidFill>
            <a:srgbClr val="E7EFE7"/>
          </a:solidFill>
          <a:ln w="12700">
            <a:solidFill>
              <a:srgbClr val="E7EFE7"/>
            </a:solidFill>
            <a:prstDash val="solid"/>
          </a:ln>
        </p:spPr>
      </p:sp>
      <p:sp>
        <p:nvSpPr>
          <p:cNvPr id="8" name="Text 6"/>
          <p:cNvSpPr txBox="1"/>
          <p:nvPr/>
        </p:nvSpPr>
        <p:spPr>
          <a:xfrm>
            <a:off x="640080" y="1911096"/>
            <a:ext cx="566928" cy="329184"/>
          </a:xfrm>
          <a:prstGeom prst="rect">
            <a:avLst/>
          </a:prstGeom>
          <a:noFill/>
          <a:ln/>
        </p:spPr>
        <p:txBody>
          <a:bodyPr wrap="square" lIns="0" tIns="0" rIns="0" bIns="0" rtlCol="0" anchor="ctr"/>
          <a:lstStyle/>
          <a:p>
            <a:pPr algn="ctr" indent="0" marL="0">
              <a:buNone/>
            </a:pPr>
            <a:r>
              <a:rPr lang="en-US" sz="1300" b="1" dirty="0">
                <a:solidFill>
                  <a:srgbClr val="2F5D3A"/>
                </a:solidFill>
                <a:latin typeface="Calibri" pitchFamily="34" charset="0"/>
                <a:ea typeface="Calibri" pitchFamily="34" charset="-122"/>
                <a:cs typeface="Calibri" pitchFamily="34" charset="-120"/>
              </a:rPr>
              <a:t>NM</a:t>
            </a:r>
            <a:endParaRPr lang="en-US" sz="1300" dirty="0"/>
          </a:p>
        </p:txBody>
      </p:sp>
      <p:sp>
        <p:nvSpPr>
          <p:cNvPr id="9" name="Text 7"/>
          <p:cNvSpPr txBox="1"/>
          <p:nvPr/>
        </p:nvSpPr>
        <p:spPr>
          <a:xfrm>
            <a:off x="1389888" y="1783080"/>
            <a:ext cx="3108960" cy="310896"/>
          </a:xfrm>
          <a:prstGeom prst="rect">
            <a:avLst/>
          </a:prstGeom>
          <a:noFill/>
          <a:ln/>
        </p:spPr>
        <p:txBody>
          <a:bodyPr wrap="square" lIns="0" tIns="0" rIns="0" bIns="0" rtlCol="0" anchor="ctr"/>
          <a:lstStyle/>
          <a:p>
            <a:pPr indent="0" marL="0">
              <a:buNone/>
            </a:pPr>
            <a:r>
              <a:rPr lang="en-US" sz="1500" b="1" dirty="0">
                <a:solidFill>
                  <a:srgbClr val="16241D"/>
                </a:solidFill>
                <a:latin typeface="Calibri" pitchFamily="34" charset="0"/>
                <a:ea typeface="Calibri" pitchFamily="34" charset="-122"/>
                <a:cs typeface="Calibri" pitchFamily="34" charset="-120"/>
              </a:rPr>
              <a:t>Nido Maphosa</a:t>
            </a:r>
            <a:endParaRPr lang="en-US" sz="1500" dirty="0"/>
          </a:p>
        </p:txBody>
      </p:sp>
      <p:sp>
        <p:nvSpPr>
          <p:cNvPr id="10" name="Text 8"/>
          <p:cNvSpPr txBox="1"/>
          <p:nvPr/>
        </p:nvSpPr>
        <p:spPr>
          <a:xfrm>
            <a:off x="4526280" y="1819656"/>
            <a:ext cx="1463040" cy="274320"/>
          </a:xfrm>
          <a:prstGeom prst="rect">
            <a:avLst/>
          </a:prstGeom>
          <a:noFill/>
          <a:ln/>
        </p:spPr>
        <p:txBody>
          <a:bodyPr wrap="square" lIns="0" tIns="0" rIns="0" bIns="0" rtlCol="0" anchor="ctr"/>
          <a:lstStyle/>
          <a:p>
            <a:pPr indent="0" marL="0">
              <a:buNone/>
            </a:pPr>
            <a:r>
              <a:rPr lang="en-US" sz="1100" dirty="0">
                <a:solidFill>
                  <a:srgbClr val="A9BCAF"/>
                </a:solidFill>
                <a:latin typeface="Calibri" pitchFamily="34" charset="0"/>
                <a:ea typeface="Calibri" pitchFamily="34" charset="-122"/>
                <a:cs typeface="Calibri" pitchFamily="34" charset="-120"/>
              </a:rPr>
              <a:t>223039784</a:t>
            </a:r>
            <a:endParaRPr lang="en-US" sz="1100" dirty="0"/>
          </a:p>
        </p:txBody>
      </p:sp>
      <p:sp>
        <p:nvSpPr>
          <p:cNvPr id="11" name="Text 9"/>
          <p:cNvSpPr txBox="1"/>
          <p:nvPr/>
        </p:nvSpPr>
        <p:spPr>
          <a:xfrm>
            <a:off x="1389888" y="2112264"/>
            <a:ext cx="4663440" cy="310896"/>
          </a:xfrm>
          <a:prstGeom prst="rect">
            <a:avLst/>
          </a:prstGeom>
          <a:noFill/>
          <a:ln/>
        </p:spPr>
        <p:txBody>
          <a:bodyPr wrap="square" lIns="0" tIns="0" rIns="0" bIns="0" rtlCol="0" anchor="ctr"/>
          <a:lstStyle/>
          <a:p>
            <a:pPr indent="0" marL="0">
              <a:buNone/>
            </a:pPr>
            <a:r>
              <a:rPr lang="en-US" sz="1200" dirty="0">
                <a:solidFill>
                  <a:srgbClr val="6E7D73"/>
                </a:solidFill>
                <a:latin typeface="Calibri" pitchFamily="34" charset="0"/>
                <a:ea typeface="Calibri" pitchFamily="34" charset="-122"/>
                <a:cs typeface="Calibri" pitchFamily="34" charset="-120"/>
              </a:rPr>
              <a:t>Technical lead, specification, full-stack</a:t>
            </a:r>
            <a:endParaRPr lang="en-US" sz="1200" dirty="0"/>
          </a:p>
        </p:txBody>
      </p:sp>
      <p:sp>
        <p:nvSpPr>
          <p:cNvPr id="12" name="Shape 10"/>
          <p:cNvSpPr/>
          <p:nvPr/>
        </p:nvSpPr>
        <p:spPr>
          <a:xfrm>
            <a:off x="6172200" y="1783080"/>
            <a:ext cx="566928" cy="566928"/>
          </a:xfrm>
          <a:prstGeom prst="ellipse">
            <a:avLst/>
          </a:prstGeom>
          <a:solidFill>
            <a:srgbClr val="E7EFE7"/>
          </a:solidFill>
          <a:ln w="12700">
            <a:solidFill>
              <a:srgbClr val="E7EFE7"/>
            </a:solidFill>
            <a:prstDash val="solid"/>
          </a:ln>
        </p:spPr>
      </p:sp>
      <p:sp>
        <p:nvSpPr>
          <p:cNvPr id="13" name="Text 11"/>
          <p:cNvSpPr txBox="1"/>
          <p:nvPr/>
        </p:nvSpPr>
        <p:spPr>
          <a:xfrm>
            <a:off x="6172200" y="1911096"/>
            <a:ext cx="566928" cy="329184"/>
          </a:xfrm>
          <a:prstGeom prst="rect">
            <a:avLst/>
          </a:prstGeom>
          <a:noFill/>
          <a:ln/>
        </p:spPr>
        <p:txBody>
          <a:bodyPr wrap="square" lIns="0" tIns="0" rIns="0" bIns="0" rtlCol="0" anchor="ctr"/>
          <a:lstStyle/>
          <a:p>
            <a:pPr algn="ctr" indent="0" marL="0">
              <a:buNone/>
            </a:pPr>
            <a:r>
              <a:rPr lang="en-US" sz="1300" b="1" dirty="0">
                <a:solidFill>
                  <a:srgbClr val="2F5D3A"/>
                </a:solidFill>
                <a:latin typeface="Calibri" pitchFamily="34" charset="0"/>
                <a:ea typeface="Calibri" pitchFamily="34" charset="-122"/>
                <a:cs typeface="Calibri" pitchFamily="34" charset="-120"/>
              </a:rPr>
              <a:t>CF</a:t>
            </a:r>
            <a:endParaRPr lang="en-US" sz="1300" dirty="0"/>
          </a:p>
        </p:txBody>
      </p:sp>
      <p:sp>
        <p:nvSpPr>
          <p:cNvPr id="14" name="Text 12"/>
          <p:cNvSpPr txBox="1"/>
          <p:nvPr/>
        </p:nvSpPr>
        <p:spPr>
          <a:xfrm>
            <a:off x="6922008" y="1783080"/>
            <a:ext cx="3108960" cy="310896"/>
          </a:xfrm>
          <a:prstGeom prst="rect">
            <a:avLst/>
          </a:prstGeom>
          <a:noFill/>
          <a:ln/>
        </p:spPr>
        <p:txBody>
          <a:bodyPr wrap="square" lIns="0" tIns="0" rIns="0" bIns="0" rtlCol="0" anchor="ctr"/>
          <a:lstStyle/>
          <a:p>
            <a:pPr indent="0" marL="0">
              <a:buNone/>
            </a:pPr>
            <a:r>
              <a:rPr lang="en-US" sz="1500" b="1" dirty="0">
                <a:solidFill>
                  <a:srgbClr val="16241D"/>
                </a:solidFill>
                <a:latin typeface="Calibri" pitchFamily="34" charset="0"/>
                <a:ea typeface="Calibri" pitchFamily="34" charset="-122"/>
                <a:cs typeface="Calibri" pitchFamily="34" charset="-120"/>
              </a:rPr>
              <a:t>Caitlin Freeman</a:t>
            </a:r>
            <a:endParaRPr lang="en-US" sz="1500" dirty="0"/>
          </a:p>
        </p:txBody>
      </p:sp>
      <p:sp>
        <p:nvSpPr>
          <p:cNvPr id="15" name="Text 13"/>
          <p:cNvSpPr txBox="1"/>
          <p:nvPr/>
        </p:nvSpPr>
        <p:spPr>
          <a:xfrm>
            <a:off x="10058400" y="1819656"/>
            <a:ext cx="1463040" cy="274320"/>
          </a:xfrm>
          <a:prstGeom prst="rect">
            <a:avLst/>
          </a:prstGeom>
          <a:noFill/>
          <a:ln/>
        </p:spPr>
        <p:txBody>
          <a:bodyPr wrap="square" lIns="0" tIns="0" rIns="0" bIns="0" rtlCol="0" anchor="ctr"/>
          <a:lstStyle/>
          <a:p>
            <a:pPr indent="0" marL="0">
              <a:buNone/>
            </a:pPr>
            <a:r>
              <a:rPr lang="en-US" sz="1100" dirty="0">
                <a:solidFill>
                  <a:srgbClr val="A9BCAF"/>
                </a:solidFill>
                <a:latin typeface="Calibri" pitchFamily="34" charset="0"/>
                <a:ea typeface="Calibri" pitchFamily="34" charset="-122"/>
                <a:cs typeface="Calibri" pitchFamily="34" charset="-120"/>
              </a:rPr>
              <a:t>224097774</a:t>
            </a:r>
            <a:endParaRPr lang="en-US" sz="1100" dirty="0"/>
          </a:p>
        </p:txBody>
      </p:sp>
      <p:sp>
        <p:nvSpPr>
          <p:cNvPr id="16" name="Text 14"/>
          <p:cNvSpPr txBox="1"/>
          <p:nvPr/>
        </p:nvSpPr>
        <p:spPr>
          <a:xfrm>
            <a:off x="6922008" y="2112264"/>
            <a:ext cx="4663440" cy="310896"/>
          </a:xfrm>
          <a:prstGeom prst="rect">
            <a:avLst/>
          </a:prstGeom>
          <a:noFill/>
          <a:ln/>
        </p:spPr>
        <p:txBody>
          <a:bodyPr wrap="square" lIns="0" tIns="0" rIns="0" bIns="0" rtlCol="0" anchor="ctr"/>
          <a:lstStyle/>
          <a:p>
            <a:pPr indent="0" marL="0">
              <a:buNone/>
            </a:pPr>
            <a:r>
              <a:rPr lang="en-US" sz="1200" dirty="0">
                <a:solidFill>
                  <a:srgbClr val="6E7D73"/>
                </a:solidFill>
                <a:latin typeface="Calibri" pitchFamily="34" charset="0"/>
                <a:ea typeface="Calibri" pitchFamily="34" charset="-122"/>
                <a:cs typeface="Calibri" pitchFamily="34" charset="-120"/>
              </a:rPr>
              <a:t>Project manager, frontend</a:t>
            </a:r>
            <a:endParaRPr lang="en-US" sz="1200" dirty="0"/>
          </a:p>
        </p:txBody>
      </p:sp>
      <p:sp>
        <p:nvSpPr>
          <p:cNvPr id="17" name="Shape 15"/>
          <p:cNvSpPr/>
          <p:nvPr/>
        </p:nvSpPr>
        <p:spPr>
          <a:xfrm>
            <a:off x="640080" y="2880360"/>
            <a:ext cx="566928" cy="566928"/>
          </a:xfrm>
          <a:prstGeom prst="ellipse">
            <a:avLst/>
          </a:prstGeom>
          <a:solidFill>
            <a:srgbClr val="E7EFE7"/>
          </a:solidFill>
          <a:ln w="12700">
            <a:solidFill>
              <a:srgbClr val="E7EFE7"/>
            </a:solidFill>
            <a:prstDash val="solid"/>
          </a:ln>
        </p:spPr>
      </p:sp>
      <p:sp>
        <p:nvSpPr>
          <p:cNvPr id="18" name="Text 16"/>
          <p:cNvSpPr txBox="1"/>
          <p:nvPr/>
        </p:nvSpPr>
        <p:spPr>
          <a:xfrm>
            <a:off x="640080" y="3008376"/>
            <a:ext cx="566928" cy="329184"/>
          </a:xfrm>
          <a:prstGeom prst="rect">
            <a:avLst/>
          </a:prstGeom>
          <a:noFill/>
          <a:ln/>
        </p:spPr>
        <p:txBody>
          <a:bodyPr wrap="square" lIns="0" tIns="0" rIns="0" bIns="0" rtlCol="0" anchor="ctr"/>
          <a:lstStyle/>
          <a:p>
            <a:pPr algn="ctr" indent="0" marL="0">
              <a:buNone/>
            </a:pPr>
            <a:r>
              <a:rPr lang="en-US" sz="1300" b="1" dirty="0">
                <a:solidFill>
                  <a:srgbClr val="2F5D3A"/>
                </a:solidFill>
                <a:latin typeface="Calibri" pitchFamily="34" charset="0"/>
                <a:ea typeface="Calibri" pitchFamily="34" charset="-122"/>
                <a:cs typeface="Calibri" pitchFamily="34" charset="-120"/>
              </a:rPr>
              <a:t>MT</a:t>
            </a:r>
            <a:endParaRPr lang="en-US" sz="1300" dirty="0"/>
          </a:p>
        </p:txBody>
      </p:sp>
      <p:sp>
        <p:nvSpPr>
          <p:cNvPr id="19" name="Text 17"/>
          <p:cNvSpPr txBox="1"/>
          <p:nvPr/>
        </p:nvSpPr>
        <p:spPr>
          <a:xfrm>
            <a:off x="1389888" y="2880360"/>
            <a:ext cx="3108960" cy="310896"/>
          </a:xfrm>
          <a:prstGeom prst="rect">
            <a:avLst/>
          </a:prstGeom>
          <a:noFill/>
          <a:ln/>
        </p:spPr>
        <p:txBody>
          <a:bodyPr wrap="square" lIns="0" tIns="0" rIns="0" bIns="0" rtlCol="0" anchor="ctr"/>
          <a:lstStyle/>
          <a:p>
            <a:pPr indent="0" marL="0">
              <a:buNone/>
            </a:pPr>
            <a:r>
              <a:rPr lang="en-US" sz="1500" b="1" dirty="0">
                <a:solidFill>
                  <a:srgbClr val="16241D"/>
                </a:solidFill>
                <a:latin typeface="Calibri" pitchFamily="34" charset="0"/>
                <a:ea typeface="Calibri" pitchFamily="34" charset="-122"/>
                <a:cs typeface="Calibri" pitchFamily="34" charset="-120"/>
              </a:rPr>
              <a:t>Mbasa Tyam</a:t>
            </a:r>
            <a:endParaRPr lang="en-US" sz="1500" dirty="0"/>
          </a:p>
        </p:txBody>
      </p:sp>
      <p:sp>
        <p:nvSpPr>
          <p:cNvPr id="20" name="Text 18"/>
          <p:cNvSpPr txBox="1"/>
          <p:nvPr/>
        </p:nvSpPr>
        <p:spPr>
          <a:xfrm>
            <a:off x="4526280" y="2916936"/>
            <a:ext cx="1463040" cy="274320"/>
          </a:xfrm>
          <a:prstGeom prst="rect">
            <a:avLst/>
          </a:prstGeom>
          <a:noFill/>
          <a:ln/>
        </p:spPr>
        <p:txBody>
          <a:bodyPr wrap="square" lIns="0" tIns="0" rIns="0" bIns="0" rtlCol="0" anchor="ctr"/>
          <a:lstStyle/>
          <a:p>
            <a:pPr indent="0" marL="0">
              <a:buNone/>
            </a:pPr>
            <a:r>
              <a:rPr lang="en-US" sz="1100" dirty="0">
                <a:solidFill>
                  <a:srgbClr val="A9BCAF"/>
                </a:solidFill>
                <a:latin typeface="Calibri" pitchFamily="34" charset="0"/>
                <a:ea typeface="Calibri" pitchFamily="34" charset="-122"/>
                <a:cs typeface="Calibri" pitchFamily="34" charset="-120"/>
              </a:rPr>
              <a:t>222056708</a:t>
            </a:r>
            <a:endParaRPr lang="en-US" sz="1100" dirty="0"/>
          </a:p>
        </p:txBody>
      </p:sp>
      <p:sp>
        <p:nvSpPr>
          <p:cNvPr id="21" name="Text 19"/>
          <p:cNvSpPr txBox="1"/>
          <p:nvPr/>
        </p:nvSpPr>
        <p:spPr>
          <a:xfrm>
            <a:off x="1389888" y="3209544"/>
            <a:ext cx="4663440" cy="310896"/>
          </a:xfrm>
          <a:prstGeom prst="rect">
            <a:avLst/>
          </a:prstGeom>
          <a:noFill/>
          <a:ln/>
        </p:spPr>
        <p:txBody>
          <a:bodyPr wrap="square" lIns="0" tIns="0" rIns="0" bIns="0" rtlCol="0" anchor="ctr"/>
          <a:lstStyle/>
          <a:p>
            <a:pPr indent="0" marL="0">
              <a:buNone/>
            </a:pPr>
            <a:r>
              <a:rPr lang="en-US" sz="1200" dirty="0">
                <a:solidFill>
                  <a:srgbClr val="6E7D73"/>
                </a:solidFill>
                <a:latin typeface="Calibri" pitchFamily="34" charset="0"/>
                <a:ea typeface="Calibri" pitchFamily="34" charset="-122"/>
                <a:cs typeface="Calibri" pitchFamily="34" charset="-120"/>
              </a:rPr>
              <a:t>Backend, frontend design</a:t>
            </a:r>
            <a:endParaRPr lang="en-US" sz="1200" dirty="0"/>
          </a:p>
        </p:txBody>
      </p:sp>
      <p:sp>
        <p:nvSpPr>
          <p:cNvPr id="22" name="Shape 20"/>
          <p:cNvSpPr/>
          <p:nvPr/>
        </p:nvSpPr>
        <p:spPr>
          <a:xfrm>
            <a:off x="6172200" y="2880360"/>
            <a:ext cx="566928" cy="566928"/>
          </a:xfrm>
          <a:prstGeom prst="ellipse">
            <a:avLst/>
          </a:prstGeom>
          <a:solidFill>
            <a:srgbClr val="E7EFE7"/>
          </a:solidFill>
          <a:ln w="12700">
            <a:solidFill>
              <a:srgbClr val="E7EFE7"/>
            </a:solidFill>
            <a:prstDash val="solid"/>
          </a:ln>
        </p:spPr>
      </p:sp>
      <p:sp>
        <p:nvSpPr>
          <p:cNvPr id="23" name="Text 21"/>
          <p:cNvSpPr txBox="1"/>
          <p:nvPr/>
        </p:nvSpPr>
        <p:spPr>
          <a:xfrm>
            <a:off x="6172200" y="3008376"/>
            <a:ext cx="566928" cy="329184"/>
          </a:xfrm>
          <a:prstGeom prst="rect">
            <a:avLst/>
          </a:prstGeom>
          <a:noFill/>
          <a:ln/>
        </p:spPr>
        <p:txBody>
          <a:bodyPr wrap="square" lIns="0" tIns="0" rIns="0" bIns="0" rtlCol="0" anchor="ctr"/>
          <a:lstStyle/>
          <a:p>
            <a:pPr algn="ctr" indent="0" marL="0">
              <a:buNone/>
            </a:pPr>
            <a:r>
              <a:rPr lang="en-US" sz="1300" b="1" dirty="0">
                <a:solidFill>
                  <a:srgbClr val="2F5D3A"/>
                </a:solidFill>
                <a:latin typeface="Calibri" pitchFamily="34" charset="0"/>
                <a:ea typeface="Calibri" pitchFamily="34" charset="-122"/>
                <a:cs typeface="Calibri" pitchFamily="34" charset="-120"/>
              </a:rPr>
              <a:t>TM</a:t>
            </a:r>
            <a:endParaRPr lang="en-US" sz="1300" dirty="0"/>
          </a:p>
        </p:txBody>
      </p:sp>
      <p:sp>
        <p:nvSpPr>
          <p:cNvPr id="24" name="Text 22"/>
          <p:cNvSpPr txBox="1"/>
          <p:nvPr/>
        </p:nvSpPr>
        <p:spPr>
          <a:xfrm>
            <a:off x="6922008" y="2880360"/>
            <a:ext cx="3108960" cy="310896"/>
          </a:xfrm>
          <a:prstGeom prst="rect">
            <a:avLst/>
          </a:prstGeom>
          <a:noFill/>
          <a:ln/>
        </p:spPr>
        <p:txBody>
          <a:bodyPr wrap="square" lIns="0" tIns="0" rIns="0" bIns="0" rtlCol="0" anchor="ctr"/>
          <a:lstStyle/>
          <a:p>
            <a:pPr indent="0" marL="0">
              <a:buNone/>
            </a:pPr>
            <a:r>
              <a:rPr lang="en-US" sz="1500" b="1" dirty="0">
                <a:solidFill>
                  <a:srgbClr val="16241D"/>
                </a:solidFill>
                <a:latin typeface="Calibri" pitchFamily="34" charset="0"/>
                <a:ea typeface="Calibri" pitchFamily="34" charset="-122"/>
                <a:cs typeface="Calibri" pitchFamily="34" charset="-120"/>
              </a:rPr>
              <a:t>Tiisetso Masita</a:t>
            </a:r>
            <a:endParaRPr lang="en-US" sz="1500" dirty="0"/>
          </a:p>
        </p:txBody>
      </p:sp>
      <p:sp>
        <p:nvSpPr>
          <p:cNvPr id="25" name="Text 23"/>
          <p:cNvSpPr txBox="1"/>
          <p:nvPr/>
        </p:nvSpPr>
        <p:spPr>
          <a:xfrm>
            <a:off x="10058400" y="2916936"/>
            <a:ext cx="1463040" cy="274320"/>
          </a:xfrm>
          <a:prstGeom prst="rect">
            <a:avLst/>
          </a:prstGeom>
          <a:noFill/>
          <a:ln/>
        </p:spPr>
        <p:txBody>
          <a:bodyPr wrap="square" lIns="0" tIns="0" rIns="0" bIns="0" rtlCol="0" anchor="ctr"/>
          <a:lstStyle/>
          <a:p>
            <a:pPr indent="0" marL="0">
              <a:buNone/>
            </a:pPr>
            <a:r>
              <a:rPr lang="en-US" sz="1100" dirty="0">
                <a:solidFill>
                  <a:srgbClr val="A9BCAF"/>
                </a:solidFill>
                <a:latin typeface="Calibri" pitchFamily="34" charset="0"/>
                <a:ea typeface="Calibri" pitchFamily="34" charset="-122"/>
                <a:cs typeface="Calibri" pitchFamily="34" charset="-120"/>
              </a:rPr>
              <a:t>223043636</a:t>
            </a:r>
            <a:endParaRPr lang="en-US" sz="1100" dirty="0"/>
          </a:p>
        </p:txBody>
      </p:sp>
      <p:sp>
        <p:nvSpPr>
          <p:cNvPr id="26" name="Text 24"/>
          <p:cNvSpPr txBox="1"/>
          <p:nvPr/>
        </p:nvSpPr>
        <p:spPr>
          <a:xfrm>
            <a:off x="6922008" y="3209544"/>
            <a:ext cx="4663440" cy="310896"/>
          </a:xfrm>
          <a:prstGeom prst="rect">
            <a:avLst/>
          </a:prstGeom>
          <a:noFill/>
          <a:ln/>
        </p:spPr>
        <p:txBody>
          <a:bodyPr wrap="square" lIns="0" tIns="0" rIns="0" bIns="0" rtlCol="0" anchor="ctr"/>
          <a:lstStyle/>
          <a:p>
            <a:pPr indent="0" marL="0">
              <a:buNone/>
            </a:pPr>
            <a:r>
              <a:rPr lang="en-US" sz="1200" dirty="0">
                <a:solidFill>
                  <a:srgbClr val="6E7D73"/>
                </a:solidFill>
                <a:latin typeface="Calibri" pitchFamily="34" charset="0"/>
                <a:ea typeface="Calibri" pitchFamily="34" charset="-122"/>
                <a:cs typeface="Calibri" pitchFamily="34" charset="-120"/>
              </a:rPr>
              <a:t>Specification, frontend</a:t>
            </a:r>
            <a:endParaRPr lang="en-US" sz="1200" dirty="0"/>
          </a:p>
        </p:txBody>
      </p:sp>
      <p:sp>
        <p:nvSpPr>
          <p:cNvPr id="27" name="Shape 25"/>
          <p:cNvSpPr/>
          <p:nvPr/>
        </p:nvSpPr>
        <p:spPr>
          <a:xfrm>
            <a:off x="640080" y="3977640"/>
            <a:ext cx="566928" cy="566928"/>
          </a:xfrm>
          <a:prstGeom prst="ellipse">
            <a:avLst/>
          </a:prstGeom>
          <a:solidFill>
            <a:srgbClr val="E7EFE7"/>
          </a:solidFill>
          <a:ln w="12700">
            <a:solidFill>
              <a:srgbClr val="E7EFE7"/>
            </a:solidFill>
            <a:prstDash val="solid"/>
          </a:ln>
        </p:spPr>
      </p:sp>
      <p:sp>
        <p:nvSpPr>
          <p:cNvPr id="28" name="Text 26"/>
          <p:cNvSpPr txBox="1"/>
          <p:nvPr/>
        </p:nvSpPr>
        <p:spPr>
          <a:xfrm>
            <a:off x="640080" y="4105656"/>
            <a:ext cx="566928" cy="329184"/>
          </a:xfrm>
          <a:prstGeom prst="rect">
            <a:avLst/>
          </a:prstGeom>
          <a:noFill/>
          <a:ln/>
        </p:spPr>
        <p:txBody>
          <a:bodyPr wrap="square" lIns="0" tIns="0" rIns="0" bIns="0" rtlCol="0" anchor="ctr"/>
          <a:lstStyle/>
          <a:p>
            <a:pPr algn="ctr" indent="0" marL="0">
              <a:buNone/>
            </a:pPr>
            <a:r>
              <a:rPr lang="en-US" sz="1300" b="1" dirty="0">
                <a:solidFill>
                  <a:srgbClr val="2F5D3A"/>
                </a:solidFill>
                <a:latin typeface="Calibri" pitchFamily="34" charset="0"/>
                <a:ea typeface="Calibri" pitchFamily="34" charset="-122"/>
                <a:cs typeface="Calibri" pitchFamily="34" charset="-120"/>
              </a:rPr>
              <a:t>MM</a:t>
            </a:r>
            <a:endParaRPr lang="en-US" sz="1300" dirty="0"/>
          </a:p>
        </p:txBody>
      </p:sp>
      <p:sp>
        <p:nvSpPr>
          <p:cNvPr id="29" name="Text 27"/>
          <p:cNvSpPr txBox="1"/>
          <p:nvPr/>
        </p:nvSpPr>
        <p:spPr>
          <a:xfrm>
            <a:off x="1389888" y="3977640"/>
            <a:ext cx="3108960" cy="310896"/>
          </a:xfrm>
          <a:prstGeom prst="rect">
            <a:avLst/>
          </a:prstGeom>
          <a:noFill/>
          <a:ln/>
        </p:spPr>
        <p:txBody>
          <a:bodyPr wrap="square" lIns="0" tIns="0" rIns="0" bIns="0" rtlCol="0" anchor="ctr"/>
          <a:lstStyle/>
          <a:p>
            <a:pPr indent="0" marL="0">
              <a:buNone/>
            </a:pPr>
            <a:r>
              <a:rPr lang="en-US" sz="1500" b="1" dirty="0">
                <a:solidFill>
                  <a:srgbClr val="16241D"/>
                </a:solidFill>
                <a:latin typeface="Calibri" pitchFamily="34" charset="0"/>
                <a:ea typeface="Calibri" pitchFamily="34" charset="-122"/>
                <a:cs typeface="Calibri" pitchFamily="34" charset="-120"/>
              </a:rPr>
              <a:t>Machedi Mamello</a:t>
            </a:r>
            <a:endParaRPr lang="en-US" sz="1500" dirty="0"/>
          </a:p>
        </p:txBody>
      </p:sp>
      <p:sp>
        <p:nvSpPr>
          <p:cNvPr id="30" name="Text 28"/>
          <p:cNvSpPr txBox="1"/>
          <p:nvPr/>
        </p:nvSpPr>
        <p:spPr>
          <a:xfrm>
            <a:off x="4526280" y="4014216"/>
            <a:ext cx="1463040" cy="274320"/>
          </a:xfrm>
          <a:prstGeom prst="rect">
            <a:avLst/>
          </a:prstGeom>
          <a:noFill/>
          <a:ln/>
        </p:spPr>
        <p:txBody>
          <a:bodyPr wrap="square" lIns="0" tIns="0" rIns="0" bIns="0" rtlCol="0" anchor="ctr"/>
          <a:lstStyle/>
          <a:p>
            <a:pPr indent="0" marL="0">
              <a:buNone/>
            </a:pPr>
            <a:r>
              <a:rPr lang="en-US" sz="1100" dirty="0">
                <a:solidFill>
                  <a:srgbClr val="A9BCAF"/>
                </a:solidFill>
                <a:latin typeface="Calibri" pitchFamily="34" charset="0"/>
                <a:ea typeface="Calibri" pitchFamily="34" charset="-122"/>
                <a:cs typeface="Calibri" pitchFamily="34" charset="-120"/>
              </a:rPr>
              <a:t>222001607</a:t>
            </a:r>
            <a:endParaRPr lang="en-US" sz="1100" dirty="0"/>
          </a:p>
        </p:txBody>
      </p:sp>
      <p:sp>
        <p:nvSpPr>
          <p:cNvPr id="31" name="Text 29"/>
          <p:cNvSpPr txBox="1"/>
          <p:nvPr/>
        </p:nvSpPr>
        <p:spPr>
          <a:xfrm>
            <a:off x="1389888" y="4306824"/>
            <a:ext cx="4663440" cy="310896"/>
          </a:xfrm>
          <a:prstGeom prst="rect">
            <a:avLst/>
          </a:prstGeom>
          <a:noFill/>
          <a:ln/>
        </p:spPr>
        <p:txBody>
          <a:bodyPr wrap="square" lIns="0" tIns="0" rIns="0" bIns="0" rtlCol="0" anchor="ctr"/>
          <a:lstStyle/>
          <a:p>
            <a:pPr indent="0" marL="0">
              <a:buNone/>
            </a:pPr>
            <a:r>
              <a:rPr lang="en-US" sz="1200" dirty="0">
                <a:solidFill>
                  <a:srgbClr val="6E7D73"/>
                </a:solidFill>
                <a:latin typeface="Calibri" pitchFamily="34" charset="0"/>
                <a:ea typeface="Calibri" pitchFamily="34" charset="-122"/>
                <a:cs typeface="Calibri" pitchFamily="34" charset="-120"/>
              </a:rPr>
              <a:t>Specification</a:t>
            </a:r>
            <a:endParaRPr lang="en-US" sz="1200" dirty="0"/>
          </a:p>
        </p:txBody>
      </p:sp>
      <p:sp>
        <p:nvSpPr>
          <p:cNvPr id="32" name="Shape 30"/>
          <p:cNvSpPr/>
          <p:nvPr/>
        </p:nvSpPr>
        <p:spPr>
          <a:xfrm>
            <a:off x="6172200" y="3977640"/>
            <a:ext cx="566928" cy="566928"/>
          </a:xfrm>
          <a:prstGeom prst="ellipse">
            <a:avLst/>
          </a:prstGeom>
          <a:solidFill>
            <a:srgbClr val="E7EFE7"/>
          </a:solidFill>
          <a:ln w="12700">
            <a:solidFill>
              <a:srgbClr val="E7EFE7"/>
            </a:solidFill>
            <a:prstDash val="solid"/>
          </a:ln>
        </p:spPr>
      </p:sp>
      <p:sp>
        <p:nvSpPr>
          <p:cNvPr id="33" name="Text 31"/>
          <p:cNvSpPr txBox="1"/>
          <p:nvPr/>
        </p:nvSpPr>
        <p:spPr>
          <a:xfrm>
            <a:off x="6172200" y="4105656"/>
            <a:ext cx="566928" cy="329184"/>
          </a:xfrm>
          <a:prstGeom prst="rect">
            <a:avLst/>
          </a:prstGeom>
          <a:noFill/>
          <a:ln/>
        </p:spPr>
        <p:txBody>
          <a:bodyPr wrap="square" lIns="0" tIns="0" rIns="0" bIns="0" rtlCol="0" anchor="ctr"/>
          <a:lstStyle/>
          <a:p>
            <a:pPr algn="ctr" indent="0" marL="0">
              <a:buNone/>
            </a:pPr>
            <a:r>
              <a:rPr lang="en-US" sz="1300" b="1" dirty="0">
                <a:solidFill>
                  <a:srgbClr val="2F5D3A"/>
                </a:solidFill>
                <a:latin typeface="Calibri" pitchFamily="34" charset="0"/>
                <a:ea typeface="Calibri" pitchFamily="34" charset="-122"/>
                <a:cs typeface="Calibri" pitchFamily="34" charset="-120"/>
              </a:rPr>
              <a:t>AP</a:t>
            </a:r>
            <a:endParaRPr lang="en-US" sz="1300" dirty="0"/>
          </a:p>
        </p:txBody>
      </p:sp>
      <p:sp>
        <p:nvSpPr>
          <p:cNvPr id="34" name="Text 32"/>
          <p:cNvSpPr txBox="1"/>
          <p:nvPr/>
        </p:nvSpPr>
        <p:spPr>
          <a:xfrm>
            <a:off x="6922008" y="3977640"/>
            <a:ext cx="3108960" cy="310896"/>
          </a:xfrm>
          <a:prstGeom prst="rect">
            <a:avLst/>
          </a:prstGeom>
          <a:noFill/>
          <a:ln/>
        </p:spPr>
        <p:txBody>
          <a:bodyPr wrap="square" lIns="0" tIns="0" rIns="0" bIns="0" rtlCol="0" anchor="ctr"/>
          <a:lstStyle/>
          <a:p>
            <a:pPr indent="0" marL="0">
              <a:buNone/>
            </a:pPr>
            <a:r>
              <a:rPr lang="en-US" sz="1500" b="1" dirty="0">
                <a:solidFill>
                  <a:srgbClr val="16241D"/>
                </a:solidFill>
                <a:latin typeface="Calibri" pitchFamily="34" charset="0"/>
                <a:ea typeface="Calibri" pitchFamily="34" charset="-122"/>
                <a:cs typeface="Calibri" pitchFamily="34" charset="-120"/>
              </a:rPr>
              <a:t>Ayatolla Pikwa</a:t>
            </a:r>
            <a:endParaRPr lang="en-US" sz="1500" dirty="0"/>
          </a:p>
        </p:txBody>
      </p:sp>
      <p:sp>
        <p:nvSpPr>
          <p:cNvPr id="35" name="Text 33"/>
          <p:cNvSpPr txBox="1"/>
          <p:nvPr/>
        </p:nvSpPr>
        <p:spPr>
          <a:xfrm>
            <a:off x="10058400" y="4014216"/>
            <a:ext cx="1463040" cy="274320"/>
          </a:xfrm>
          <a:prstGeom prst="rect">
            <a:avLst/>
          </a:prstGeom>
          <a:noFill/>
          <a:ln/>
        </p:spPr>
        <p:txBody>
          <a:bodyPr wrap="square" lIns="0" tIns="0" rIns="0" bIns="0" rtlCol="0" anchor="ctr"/>
          <a:lstStyle/>
          <a:p>
            <a:pPr indent="0" marL="0">
              <a:buNone/>
            </a:pPr>
            <a:r>
              <a:rPr lang="en-US" sz="1100" dirty="0">
                <a:solidFill>
                  <a:srgbClr val="A9BCAF"/>
                </a:solidFill>
                <a:latin typeface="Calibri" pitchFamily="34" charset="0"/>
                <a:ea typeface="Calibri" pitchFamily="34" charset="-122"/>
                <a:cs typeface="Calibri" pitchFamily="34" charset="-120"/>
              </a:rPr>
              <a:t>224135694</a:t>
            </a:r>
            <a:endParaRPr lang="en-US" sz="1100" dirty="0"/>
          </a:p>
        </p:txBody>
      </p:sp>
      <p:sp>
        <p:nvSpPr>
          <p:cNvPr id="36" name="Text 34"/>
          <p:cNvSpPr txBox="1"/>
          <p:nvPr/>
        </p:nvSpPr>
        <p:spPr>
          <a:xfrm>
            <a:off x="6922008" y="4306824"/>
            <a:ext cx="4663440" cy="310896"/>
          </a:xfrm>
          <a:prstGeom prst="rect">
            <a:avLst/>
          </a:prstGeom>
          <a:noFill/>
          <a:ln/>
        </p:spPr>
        <p:txBody>
          <a:bodyPr wrap="square" lIns="0" tIns="0" rIns="0" bIns="0" rtlCol="0" anchor="ctr"/>
          <a:lstStyle/>
          <a:p>
            <a:pPr indent="0" marL="0">
              <a:buNone/>
            </a:pPr>
            <a:r>
              <a:rPr lang="en-US" sz="1200" dirty="0">
                <a:solidFill>
                  <a:srgbClr val="6E7D73"/>
                </a:solidFill>
                <a:latin typeface="Calibri" pitchFamily="34" charset="0"/>
                <a:ea typeface="Calibri" pitchFamily="34" charset="-122"/>
                <a:cs typeface="Calibri" pitchFamily="34" charset="-120"/>
              </a:rPr>
              <a:t>Specification, interface design</a:t>
            </a:r>
            <a:endParaRPr lang="en-US" sz="1200" dirty="0"/>
          </a:p>
        </p:txBody>
      </p:sp>
      <p:sp>
        <p:nvSpPr>
          <p:cNvPr id="37" name="Shape 35"/>
          <p:cNvSpPr/>
          <p:nvPr/>
        </p:nvSpPr>
        <p:spPr>
          <a:xfrm>
            <a:off x="640080" y="5074920"/>
            <a:ext cx="566928" cy="566928"/>
          </a:xfrm>
          <a:prstGeom prst="ellipse">
            <a:avLst/>
          </a:prstGeom>
          <a:solidFill>
            <a:srgbClr val="E7EFE7"/>
          </a:solidFill>
          <a:ln w="12700">
            <a:solidFill>
              <a:srgbClr val="E7EFE7"/>
            </a:solidFill>
            <a:prstDash val="solid"/>
          </a:ln>
        </p:spPr>
      </p:sp>
      <p:sp>
        <p:nvSpPr>
          <p:cNvPr id="38" name="Text 36"/>
          <p:cNvSpPr txBox="1"/>
          <p:nvPr/>
        </p:nvSpPr>
        <p:spPr>
          <a:xfrm>
            <a:off x="640080" y="5202936"/>
            <a:ext cx="566928" cy="329184"/>
          </a:xfrm>
          <a:prstGeom prst="rect">
            <a:avLst/>
          </a:prstGeom>
          <a:noFill/>
          <a:ln/>
        </p:spPr>
        <p:txBody>
          <a:bodyPr wrap="square" lIns="0" tIns="0" rIns="0" bIns="0" rtlCol="0" anchor="ctr"/>
          <a:lstStyle/>
          <a:p>
            <a:pPr algn="ctr" indent="0" marL="0">
              <a:buNone/>
            </a:pPr>
            <a:r>
              <a:rPr lang="en-US" sz="1300" b="1" dirty="0">
                <a:solidFill>
                  <a:srgbClr val="2F5D3A"/>
                </a:solidFill>
                <a:latin typeface="Calibri" pitchFamily="34" charset="0"/>
                <a:ea typeface="Calibri" pitchFamily="34" charset="-122"/>
                <a:cs typeface="Calibri" pitchFamily="34" charset="-120"/>
              </a:rPr>
              <a:t>KS</a:t>
            </a:r>
            <a:endParaRPr lang="en-US" sz="1300" dirty="0"/>
          </a:p>
        </p:txBody>
      </p:sp>
      <p:sp>
        <p:nvSpPr>
          <p:cNvPr id="39" name="Text 37"/>
          <p:cNvSpPr txBox="1"/>
          <p:nvPr/>
        </p:nvSpPr>
        <p:spPr>
          <a:xfrm>
            <a:off x="1389888" y="5074920"/>
            <a:ext cx="3108960" cy="310896"/>
          </a:xfrm>
          <a:prstGeom prst="rect">
            <a:avLst/>
          </a:prstGeom>
          <a:noFill/>
          <a:ln/>
        </p:spPr>
        <p:txBody>
          <a:bodyPr wrap="square" lIns="0" tIns="0" rIns="0" bIns="0" rtlCol="0" anchor="ctr"/>
          <a:lstStyle/>
          <a:p>
            <a:pPr indent="0" marL="0">
              <a:buNone/>
            </a:pPr>
            <a:r>
              <a:rPr lang="en-US" sz="1500" b="1" dirty="0">
                <a:solidFill>
                  <a:srgbClr val="16241D"/>
                </a:solidFill>
                <a:latin typeface="Calibri" pitchFamily="34" charset="0"/>
                <a:ea typeface="Calibri" pitchFamily="34" charset="-122"/>
                <a:cs typeface="Calibri" pitchFamily="34" charset="-120"/>
              </a:rPr>
              <a:t>Katlontle Seiphetlho</a:t>
            </a:r>
            <a:endParaRPr lang="en-US" sz="1500" dirty="0"/>
          </a:p>
        </p:txBody>
      </p:sp>
      <p:sp>
        <p:nvSpPr>
          <p:cNvPr id="40" name="Text 38"/>
          <p:cNvSpPr txBox="1"/>
          <p:nvPr/>
        </p:nvSpPr>
        <p:spPr>
          <a:xfrm>
            <a:off x="4526280" y="5111496"/>
            <a:ext cx="1463040" cy="274320"/>
          </a:xfrm>
          <a:prstGeom prst="rect">
            <a:avLst/>
          </a:prstGeom>
          <a:noFill/>
          <a:ln/>
        </p:spPr>
        <p:txBody>
          <a:bodyPr wrap="square" lIns="0" tIns="0" rIns="0" bIns="0" rtlCol="0" anchor="ctr"/>
          <a:lstStyle/>
          <a:p>
            <a:pPr indent="0" marL="0">
              <a:buNone/>
            </a:pPr>
            <a:r>
              <a:rPr lang="en-US" sz="1100" dirty="0">
                <a:solidFill>
                  <a:srgbClr val="A9BCAF"/>
                </a:solidFill>
                <a:latin typeface="Calibri" pitchFamily="34" charset="0"/>
                <a:ea typeface="Calibri" pitchFamily="34" charset="-122"/>
                <a:cs typeface="Calibri" pitchFamily="34" charset="-120"/>
              </a:rPr>
              <a:t>224130045</a:t>
            </a:r>
            <a:endParaRPr lang="en-US" sz="1100" dirty="0"/>
          </a:p>
        </p:txBody>
      </p:sp>
      <p:sp>
        <p:nvSpPr>
          <p:cNvPr id="41" name="Text 39"/>
          <p:cNvSpPr txBox="1"/>
          <p:nvPr/>
        </p:nvSpPr>
        <p:spPr>
          <a:xfrm>
            <a:off x="1389888" y="5404104"/>
            <a:ext cx="4663440" cy="310896"/>
          </a:xfrm>
          <a:prstGeom prst="rect">
            <a:avLst/>
          </a:prstGeom>
          <a:noFill/>
          <a:ln/>
        </p:spPr>
        <p:txBody>
          <a:bodyPr wrap="square" lIns="0" tIns="0" rIns="0" bIns="0" rtlCol="0" anchor="ctr"/>
          <a:lstStyle/>
          <a:p>
            <a:pPr indent="0" marL="0">
              <a:buNone/>
            </a:pPr>
            <a:r>
              <a:rPr lang="en-US" sz="1200" dirty="0">
                <a:solidFill>
                  <a:srgbClr val="6E7D73"/>
                </a:solidFill>
                <a:latin typeface="Calibri" pitchFamily="34" charset="0"/>
                <a:ea typeface="Calibri" pitchFamily="34" charset="-122"/>
                <a:cs typeface="Calibri" pitchFamily="34" charset="-120"/>
              </a:rPr>
              <a:t>Frontend</a:t>
            </a:r>
            <a:endParaRPr lang="en-US" sz="1200" dirty="0"/>
          </a:p>
        </p:txBody>
      </p:sp>
      <p:sp>
        <p:nvSpPr>
          <p:cNvPr id="42" name="Shape 40"/>
          <p:cNvSpPr/>
          <p:nvPr/>
        </p:nvSpPr>
        <p:spPr>
          <a:xfrm>
            <a:off x="6172200" y="5074920"/>
            <a:ext cx="566928" cy="566928"/>
          </a:xfrm>
          <a:prstGeom prst="ellipse">
            <a:avLst/>
          </a:prstGeom>
          <a:solidFill>
            <a:srgbClr val="E7EFE7"/>
          </a:solidFill>
          <a:ln w="12700">
            <a:solidFill>
              <a:srgbClr val="E7EFE7"/>
            </a:solidFill>
            <a:prstDash val="solid"/>
          </a:ln>
        </p:spPr>
      </p:sp>
      <p:sp>
        <p:nvSpPr>
          <p:cNvPr id="43" name="Text 41"/>
          <p:cNvSpPr txBox="1"/>
          <p:nvPr/>
        </p:nvSpPr>
        <p:spPr>
          <a:xfrm>
            <a:off x="6172200" y="5202936"/>
            <a:ext cx="566928" cy="329184"/>
          </a:xfrm>
          <a:prstGeom prst="rect">
            <a:avLst/>
          </a:prstGeom>
          <a:noFill/>
          <a:ln/>
        </p:spPr>
        <p:txBody>
          <a:bodyPr wrap="square" lIns="0" tIns="0" rIns="0" bIns="0" rtlCol="0" anchor="ctr"/>
          <a:lstStyle/>
          <a:p>
            <a:pPr algn="ctr" indent="0" marL="0">
              <a:buNone/>
            </a:pPr>
            <a:r>
              <a:rPr lang="en-US" sz="1300" b="1" dirty="0">
                <a:solidFill>
                  <a:srgbClr val="2F5D3A"/>
                </a:solidFill>
                <a:latin typeface="Calibri" pitchFamily="34" charset="0"/>
                <a:ea typeface="Calibri" pitchFamily="34" charset="-122"/>
                <a:cs typeface="Calibri" pitchFamily="34" charset="-120"/>
              </a:rPr>
              <a:t>TM</a:t>
            </a:r>
            <a:endParaRPr lang="en-US" sz="1300" dirty="0"/>
          </a:p>
        </p:txBody>
      </p:sp>
      <p:sp>
        <p:nvSpPr>
          <p:cNvPr id="44" name="Text 42"/>
          <p:cNvSpPr txBox="1"/>
          <p:nvPr/>
        </p:nvSpPr>
        <p:spPr>
          <a:xfrm>
            <a:off x="6922008" y="5074920"/>
            <a:ext cx="3108960" cy="310896"/>
          </a:xfrm>
          <a:prstGeom prst="rect">
            <a:avLst/>
          </a:prstGeom>
          <a:noFill/>
          <a:ln/>
        </p:spPr>
        <p:txBody>
          <a:bodyPr wrap="square" lIns="0" tIns="0" rIns="0" bIns="0" rtlCol="0" anchor="ctr"/>
          <a:lstStyle/>
          <a:p>
            <a:pPr indent="0" marL="0">
              <a:buNone/>
            </a:pPr>
            <a:r>
              <a:rPr lang="en-US" sz="1500" b="1" dirty="0">
                <a:solidFill>
                  <a:srgbClr val="16241D"/>
                </a:solidFill>
                <a:latin typeface="Calibri" pitchFamily="34" charset="0"/>
                <a:ea typeface="Calibri" pitchFamily="34" charset="-122"/>
                <a:cs typeface="Calibri" pitchFamily="34" charset="-120"/>
              </a:rPr>
              <a:t>Thobani Mjiyakho</a:t>
            </a:r>
            <a:endParaRPr lang="en-US" sz="1500" dirty="0"/>
          </a:p>
        </p:txBody>
      </p:sp>
      <p:sp>
        <p:nvSpPr>
          <p:cNvPr id="45" name="Text 43"/>
          <p:cNvSpPr txBox="1"/>
          <p:nvPr/>
        </p:nvSpPr>
        <p:spPr>
          <a:xfrm>
            <a:off x="10058400" y="5111496"/>
            <a:ext cx="1463040" cy="274320"/>
          </a:xfrm>
          <a:prstGeom prst="rect">
            <a:avLst/>
          </a:prstGeom>
          <a:noFill/>
          <a:ln/>
        </p:spPr>
        <p:txBody>
          <a:bodyPr wrap="square" lIns="0" tIns="0" rIns="0" bIns="0" rtlCol="0" anchor="ctr"/>
          <a:lstStyle/>
          <a:p>
            <a:pPr indent="0" marL="0">
              <a:buNone/>
            </a:pPr>
            <a:r>
              <a:rPr lang="en-US" sz="1100" dirty="0">
                <a:solidFill>
                  <a:srgbClr val="A9BCAF"/>
                </a:solidFill>
                <a:latin typeface="Calibri" pitchFamily="34" charset="0"/>
                <a:ea typeface="Calibri" pitchFamily="34" charset="-122"/>
                <a:cs typeface="Calibri" pitchFamily="34" charset="-120"/>
              </a:rPr>
              <a:t>222088478</a:t>
            </a:r>
            <a:endParaRPr lang="en-US" sz="1100" dirty="0"/>
          </a:p>
        </p:txBody>
      </p:sp>
      <p:sp>
        <p:nvSpPr>
          <p:cNvPr id="46" name="Text 44"/>
          <p:cNvSpPr txBox="1"/>
          <p:nvPr/>
        </p:nvSpPr>
        <p:spPr>
          <a:xfrm>
            <a:off x="6922008" y="5404104"/>
            <a:ext cx="4663440" cy="310896"/>
          </a:xfrm>
          <a:prstGeom prst="rect">
            <a:avLst/>
          </a:prstGeom>
          <a:noFill/>
          <a:ln/>
        </p:spPr>
        <p:txBody>
          <a:bodyPr wrap="square" lIns="0" tIns="0" rIns="0" bIns="0" rtlCol="0" anchor="ctr"/>
          <a:lstStyle/>
          <a:p>
            <a:pPr indent="0" marL="0">
              <a:buNone/>
            </a:pPr>
            <a:r>
              <a:rPr lang="en-US" sz="1200" dirty="0">
                <a:solidFill>
                  <a:srgbClr val="6E7D73"/>
                </a:solidFill>
                <a:latin typeface="Calibri" pitchFamily="34" charset="0"/>
                <a:ea typeface="Calibri" pitchFamily="34" charset="-122"/>
                <a:cs typeface="Calibri" pitchFamily="34" charset="-120"/>
              </a:rPr>
              <a:t>Specification, software development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41D"/>
        </a:solidFill>
      </p:bgPr>
    </p:bg>
    <p:spTree>
      <p:nvGrpSpPr>
        <p:cNvPr id="1" name=""/>
        <p:cNvGrpSpPr/>
        <p:nvPr/>
      </p:nvGrpSpPr>
      <p:grpSpPr>
        <a:xfrm>
          <a:off x="0" y="0"/>
          <a:ext cx="0" cy="0"/>
          <a:chOff x="0" y="0"/>
          <a:chExt cx="0" cy="0"/>
        </a:xfrm>
      </p:grpSpPr>
      <p:sp>
        <p:nvSpPr>
          <p:cNvPr id="2" name="Text 0"/>
          <p:cNvSpPr txBox="1"/>
          <p:nvPr/>
        </p:nvSpPr>
        <p:spPr>
          <a:xfrm>
            <a:off x="822960" y="1828800"/>
            <a:ext cx="2011680" cy="1371600"/>
          </a:xfrm>
          <a:prstGeom prst="rect">
            <a:avLst/>
          </a:prstGeom>
          <a:noFill/>
          <a:ln/>
        </p:spPr>
        <p:txBody>
          <a:bodyPr wrap="square" lIns="0" tIns="0" rIns="0" bIns="0" rtlCol="0" anchor="ctr"/>
          <a:lstStyle/>
          <a:p>
            <a:pPr indent="0" marL="0">
              <a:buNone/>
            </a:pPr>
            <a:r>
              <a:rPr lang="en-US" sz="9600" b="1" dirty="0">
                <a:solidFill>
                  <a:srgbClr val="1F6F6B"/>
                </a:solidFill>
                <a:latin typeface="Cambria" pitchFamily="34" charset="0"/>
                <a:ea typeface="Cambria" pitchFamily="34" charset="-122"/>
                <a:cs typeface="Cambria" pitchFamily="34" charset="-120"/>
              </a:rPr>
              <a:t>01</a:t>
            </a:r>
            <a:endParaRPr lang="en-US" sz="9600" dirty="0"/>
          </a:p>
        </p:txBody>
      </p:sp>
      <p:sp>
        <p:nvSpPr>
          <p:cNvPr id="3" name="Text 1"/>
          <p:cNvSpPr txBox="1"/>
          <p:nvPr/>
        </p:nvSpPr>
        <p:spPr>
          <a:xfrm>
            <a:off x="2926080" y="2148840"/>
            <a:ext cx="841248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The stakeholder</a:t>
            </a:r>
            <a:endParaRPr lang="en-US" sz="4000" dirty="0"/>
          </a:p>
        </p:txBody>
      </p:sp>
      <p:sp>
        <p:nvSpPr>
          <p:cNvPr id="4" name="Text 2"/>
          <p:cNvSpPr txBox="1"/>
          <p:nvPr/>
        </p:nvSpPr>
        <p:spPr>
          <a:xfrm>
            <a:off x="2926080" y="3063240"/>
            <a:ext cx="7680960" cy="822960"/>
          </a:xfrm>
          <a:prstGeom prst="rect">
            <a:avLst/>
          </a:prstGeom>
          <a:noFill/>
          <a:ln/>
        </p:spPr>
        <p:txBody>
          <a:bodyPr wrap="square" lIns="0" tIns="0" rIns="0" bIns="0" rtlCol="0" anchor="t"/>
          <a:lstStyle/>
          <a:p>
            <a:pPr indent="0" marL="0">
              <a:lnSpc>
                <a:spcPts val="2400"/>
              </a:lnSpc>
              <a:buNone/>
            </a:pPr>
            <a:r>
              <a:rPr lang="en-US" sz="1500" dirty="0">
                <a:solidFill>
                  <a:srgbClr val="A9BCAF"/>
                </a:solidFill>
                <a:latin typeface="Calibri" pitchFamily="34" charset="0"/>
                <a:ea typeface="Calibri" pitchFamily="34" charset="-122"/>
                <a:cs typeface="Calibri" pitchFamily="34" charset="-120"/>
              </a:rPr>
              <a:t>A real organisation with sensing equipment already in the ground, engaged entirely in writing.</a:t>
            </a:r>
            <a:endParaRPr lang="en-US" sz="1500" dirty="0"/>
          </a:p>
        </p:txBody>
      </p:sp>
      <p:sp>
        <p:nvSpPr>
          <p:cNvPr id="5" name="Shape 3"/>
          <p:cNvSpPr/>
          <p:nvPr/>
        </p:nvSpPr>
        <p:spPr>
          <a:xfrm>
            <a:off x="2926080" y="4114800"/>
            <a:ext cx="1005840" cy="32004"/>
          </a:xfrm>
          <a:prstGeom prst="rect">
            <a:avLst/>
          </a:prstGeom>
          <a:solidFill>
            <a:srgbClr val="D9A92C"/>
          </a:solidFill>
          <a:ln w="12700">
            <a:solidFill>
              <a:srgbClr val="D9A92C"/>
            </a:solidFill>
            <a:prstDash val="solid"/>
          </a:ln>
        </p:spPr>
      </p:sp>
      <p:sp>
        <p:nvSpPr>
          <p:cNvPr id="6" name="Text 4"/>
          <p:cNvSpPr txBox="1"/>
          <p:nvPr/>
        </p:nvSpPr>
        <p:spPr>
          <a:xfrm>
            <a:off x="2926080" y="4370832"/>
            <a:ext cx="5486400" cy="310896"/>
          </a:xfrm>
          <a:prstGeom prst="rect">
            <a:avLst/>
          </a:prstGeom>
          <a:noFill/>
          <a:ln/>
        </p:spPr>
        <p:txBody>
          <a:bodyPr wrap="square" lIns="0" tIns="0" rIns="0" bIns="0" rtlCol="0" anchor="ctr"/>
          <a:lstStyle/>
          <a:p>
            <a:pPr indent="0" marL="0">
              <a:buNone/>
            </a:pPr>
            <a:r>
              <a:rPr lang="en-US" sz="1500" b="1" dirty="0">
                <a:solidFill>
                  <a:srgbClr val="D9A92C"/>
                </a:solidFill>
                <a:latin typeface="Calibri" pitchFamily="34" charset="0"/>
                <a:ea typeface="Calibri" pitchFamily="34" charset="-122"/>
                <a:cs typeface="Calibri" pitchFamily="34" charset="-120"/>
              </a:rPr>
              <a:t>Tiisetso Masita</a:t>
            </a:r>
            <a:endParaRPr lang="en-US" sz="1500" dirty="0"/>
          </a:p>
        </p:txBody>
      </p:sp>
      <p:sp>
        <p:nvSpPr>
          <p:cNvPr id="7" name="Text 5"/>
          <p:cNvSpPr txBox="1"/>
          <p:nvPr/>
        </p:nvSpPr>
        <p:spPr>
          <a:xfrm>
            <a:off x="2926080" y="4718304"/>
            <a:ext cx="5486400" cy="274320"/>
          </a:xfrm>
          <a:prstGeom prst="rect">
            <a:avLst/>
          </a:prstGeom>
          <a:noFill/>
          <a:ln/>
        </p:spPr>
        <p:txBody>
          <a:bodyPr wrap="square" lIns="0" tIns="0" rIns="0" bIns="0" rtlCol="0" anchor="ctr"/>
          <a:lstStyle/>
          <a:p>
            <a:pPr indent="0" marL="0">
              <a:buNone/>
            </a:pPr>
            <a:r>
              <a:rPr lang="en-US" sz="1200" dirty="0">
                <a:solidFill>
                  <a:srgbClr val="A9BCAF"/>
                </a:solidFill>
                <a:latin typeface="Calibri" pitchFamily="34" charset="0"/>
                <a:ea typeface="Calibri" pitchFamily="34" charset="-122"/>
                <a:cs typeface="Calibri" pitchFamily="34" charset="-120"/>
              </a:rPr>
              <a:t>3 minutes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THE STAKEHOLDER</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Tiisetso Masita</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Who we are building for</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5</a:t>
            </a:r>
            <a:endParaRPr lang="en-US" sz="1000" dirty="0"/>
          </a:p>
        </p:txBody>
      </p:sp>
      <p:sp>
        <p:nvSpPr>
          <p:cNvPr id="7" name="Shape 5"/>
          <p:cNvSpPr/>
          <p:nvPr/>
        </p:nvSpPr>
        <p:spPr>
          <a:xfrm>
            <a:off x="640080" y="1783080"/>
            <a:ext cx="5285232" cy="1810512"/>
          </a:xfrm>
          <a:prstGeom prst="roundRect">
            <a:avLst>
              <a:gd name="adj" fmla="val 4545"/>
            </a:avLst>
          </a:prstGeom>
          <a:solidFill>
            <a:srgbClr val="EFE7DC"/>
          </a:solidFill>
          <a:ln w="12700">
            <a:solidFill>
              <a:srgbClr val="EFE7DC"/>
            </a:solidFill>
            <a:prstDash val="solid"/>
          </a:ln>
        </p:spPr>
      </p:sp>
      <p:sp>
        <p:nvSpPr>
          <p:cNvPr id="8" name="Text 6"/>
          <p:cNvSpPr txBox="1"/>
          <p:nvPr/>
        </p:nvSpPr>
        <p:spPr>
          <a:xfrm>
            <a:off x="932688" y="2002536"/>
            <a:ext cx="4663440" cy="292608"/>
          </a:xfrm>
          <a:prstGeom prst="rect">
            <a:avLst/>
          </a:prstGeom>
          <a:noFill/>
          <a:ln/>
        </p:spPr>
        <p:txBody>
          <a:bodyPr wrap="square" lIns="0" tIns="0" rIns="0" bIns="0" rtlCol="0" anchor="ctr"/>
          <a:lstStyle/>
          <a:p>
            <a:pPr indent="0" marL="0">
              <a:buNone/>
            </a:pPr>
            <a:r>
              <a:rPr lang="en-US" sz="1200" b="1" dirty="0">
                <a:solidFill>
                  <a:srgbClr val="1F6F6B"/>
                </a:solidFill>
                <a:latin typeface="Calibri" pitchFamily="34" charset="0"/>
                <a:ea typeface="Calibri" pitchFamily="34" charset="-122"/>
                <a:cs typeface="Calibri" pitchFamily="34" charset="-120"/>
              </a:rPr>
              <a:t>Organisation</a:t>
            </a:r>
            <a:endParaRPr lang="en-US" sz="1200" dirty="0"/>
          </a:p>
        </p:txBody>
      </p:sp>
      <p:sp>
        <p:nvSpPr>
          <p:cNvPr id="9" name="Text 7"/>
          <p:cNvSpPr txBox="1"/>
          <p:nvPr/>
        </p:nvSpPr>
        <p:spPr>
          <a:xfrm>
            <a:off x="932688" y="2386584"/>
            <a:ext cx="4663440" cy="1097280"/>
          </a:xfrm>
          <a:prstGeom prst="rect">
            <a:avLst/>
          </a:prstGeom>
          <a:noFill/>
          <a:ln/>
        </p:spPr>
        <p:txBody>
          <a:bodyPr wrap="square" lIns="0" tIns="0" rIns="0" bIns="0" rtlCol="0" anchor="t"/>
          <a:lstStyle/>
          <a:p>
            <a:pPr indent="0" marL="0">
              <a:lnSpc>
                <a:spcPts val="2000"/>
              </a:lnSpc>
              <a:buNone/>
            </a:pPr>
            <a:r>
              <a:rPr lang="en-US" sz="1400" dirty="0">
                <a:solidFill>
                  <a:srgbClr val="16241D"/>
                </a:solidFill>
                <a:latin typeface="Calibri" pitchFamily="34" charset="0"/>
                <a:ea typeface="Calibri" pitchFamily="34" charset="-122"/>
                <a:cs typeface="Calibri" pitchFamily="34" charset="-120"/>
              </a:rPr>
              <a:t>Department of Agriculture, Plant Sciences</a:t>
            </a:r>
            <a:endParaRPr lang="en-US" sz="1400" dirty="0"/>
          </a:p>
          <a:p>
            <a:pPr indent="0" marL="0">
              <a:lnSpc>
                <a:spcPts val="2000"/>
              </a:lnSpc>
              <a:buNone/>
            </a:pPr>
            <a:r>
              <a:rPr lang="en-US" sz="1400" dirty="0">
                <a:solidFill>
                  <a:srgbClr val="16241D"/>
                </a:solidFill>
                <a:latin typeface="Calibri" pitchFamily="34" charset="0"/>
                <a:ea typeface="Calibri" pitchFamily="34" charset="-122"/>
                <a:cs typeface="Calibri" pitchFamily="34" charset="-120"/>
              </a:rPr>
              <a:t>Faculty of Health and Environmental Sciences</a:t>
            </a:r>
            <a:endParaRPr lang="en-US" sz="1400" dirty="0"/>
          </a:p>
          <a:p>
            <a:pPr indent="0" marL="0">
              <a:lnSpc>
                <a:spcPts val="2000"/>
              </a:lnSpc>
              <a:buNone/>
            </a:pPr>
            <a:r>
              <a:rPr lang="en-US" sz="1400" dirty="0">
                <a:solidFill>
                  <a:srgbClr val="16241D"/>
                </a:solidFill>
                <a:latin typeface="Calibri" pitchFamily="34" charset="0"/>
                <a:ea typeface="Calibri" pitchFamily="34" charset="-122"/>
                <a:cs typeface="Calibri" pitchFamily="34" charset="-120"/>
              </a:rPr>
              <a:t>Central University of Technology, Free State</a:t>
            </a:r>
            <a:endParaRPr lang="en-US" sz="1400" dirty="0"/>
          </a:p>
        </p:txBody>
      </p:sp>
      <p:sp>
        <p:nvSpPr>
          <p:cNvPr id="10" name="Shape 8"/>
          <p:cNvSpPr/>
          <p:nvPr/>
        </p:nvSpPr>
        <p:spPr>
          <a:xfrm>
            <a:off x="6172200" y="1783080"/>
            <a:ext cx="5285232" cy="1810512"/>
          </a:xfrm>
          <a:prstGeom prst="roundRect">
            <a:avLst>
              <a:gd name="adj" fmla="val 4545"/>
            </a:avLst>
          </a:prstGeom>
          <a:solidFill>
            <a:srgbClr val="E7EFE7"/>
          </a:solidFill>
          <a:ln w="12700">
            <a:solidFill>
              <a:srgbClr val="E7EFE7"/>
            </a:solidFill>
            <a:prstDash val="solid"/>
          </a:ln>
        </p:spPr>
      </p:sp>
      <p:sp>
        <p:nvSpPr>
          <p:cNvPr id="11" name="Text 9"/>
          <p:cNvSpPr txBox="1"/>
          <p:nvPr/>
        </p:nvSpPr>
        <p:spPr>
          <a:xfrm>
            <a:off x="6464808" y="2002536"/>
            <a:ext cx="4663440" cy="292608"/>
          </a:xfrm>
          <a:prstGeom prst="rect">
            <a:avLst/>
          </a:prstGeom>
          <a:noFill/>
          <a:ln/>
        </p:spPr>
        <p:txBody>
          <a:bodyPr wrap="square" lIns="0" tIns="0" rIns="0" bIns="0" rtlCol="0" anchor="ctr"/>
          <a:lstStyle/>
          <a:p>
            <a:pPr indent="0" marL="0">
              <a:buNone/>
            </a:pPr>
            <a:r>
              <a:rPr lang="en-US" sz="1200" b="1" dirty="0">
                <a:solidFill>
                  <a:srgbClr val="1F6F6B"/>
                </a:solidFill>
                <a:latin typeface="Calibri" pitchFamily="34" charset="0"/>
                <a:ea typeface="Calibri" pitchFamily="34" charset="-122"/>
                <a:cs typeface="Calibri" pitchFamily="34" charset="-120"/>
              </a:rPr>
              <a:t>Stakeholder and end user</a:t>
            </a:r>
            <a:endParaRPr lang="en-US" sz="1200" dirty="0"/>
          </a:p>
        </p:txBody>
      </p:sp>
      <p:sp>
        <p:nvSpPr>
          <p:cNvPr id="12" name="Text 10"/>
          <p:cNvSpPr txBox="1"/>
          <p:nvPr/>
        </p:nvSpPr>
        <p:spPr>
          <a:xfrm>
            <a:off x="6464808" y="2386584"/>
            <a:ext cx="4663440" cy="1097280"/>
          </a:xfrm>
          <a:prstGeom prst="rect">
            <a:avLst/>
          </a:prstGeom>
          <a:noFill/>
          <a:ln/>
        </p:spPr>
        <p:txBody>
          <a:bodyPr wrap="square" lIns="0" tIns="0" rIns="0" bIns="0" rtlCol="0" anchor="t"/>
          <a:lstStyle/>
          <a:p>
            <a:pPr indent="0" marL="0">
              <a:lnSpc>
                <a:spcPts val="2000"/>
              </a:lnSpc>
              <a:buNone/>
            </a:pPr>
            <a:r>
              <a:rPr lang="en-US" sz="1400" dirty="0">
                <a:solidFill>
                  <a:srgbClr val="16241D"/>
                </a:solidFill>
                <a:latin typeface="Calibri" pitchFamily="34" charset="0"/>
                <a:ea typeface="Calibri" pitchFamily="34" charset="-122"/>
                <a:cs typeface="Calibri" pitchFamily="34" charset="-120"/>
              </a:rPr>
              <a:t>Ms Goitsemang Dikane</a:t>
            </a:r>
            <a:endParaRPr lang="en-US" sz="1400" dirty="0"/>
          </a:p>
          <a:p>
            <a:pPr indent="0" marL="0">
              <a:lnSpc>
                <a:spcPts val="2000"/>
              </a:lnSpc>
              <a:buNone/>
            </a:pPr>
            <a:r>
              <a:rPr lang="en-US" sz="1400" dirty="0">
                <a:solidFill>
                  <a:srgbClr val="16241D"/>
                </a:solidFill>
                <a:latin typeface="Calibri" pitchFamily="34" charset="0"/>
                <a:ea typeface="Calibri" pitchFamily="34" charset="-122"/>
                <a:cs typeface="Calibri" pitchFamily="34" charset="-120"/>
              </a:rPr>
              <a:t>Plant Sciences, nGAP</a:t>
            </a:r>
            <a:endParaRPr lang="en-US" sz="1400" dirty="0"/>
          </a:p>
        </p:txBody>
      </p:sp>
      <p:sp>
        <p:nvSpPr>
          <p:cNvPr id="13" name="Shape 11"/>
          <p:cNvSpPr/>
          <p:nvPr/>
        </p:nvSpPr>
        <p:spPr>
          <a:xfrm>
            <a:off x="640080" y="3794760"/>
            <a:ext cx="5285232" cy="1810512"/>
          </a:xfrm>
          <a:prstGeom prst="roundRect">
            <a:avLst>
              <a:gd name="adj" fmla="val 4545"/>
            </a:avLst>
          </a:prstGeom>
          <a:solidFill>
            <a:srgbClr val="EFE7DC"/>
          </a:solidFill>
          <a:ln w="12700">
            <a:solidFill>
              <a:srgbClr val="EFE7DC"/>
            </a:solidFill>
            <a:prstDash val="solid"/>
          </a:ln>
        </p:spPr>
      </p:sp>
      <p:sp>
        <p:nvSpPr>
          <p:cNvPr id="14" name="Text 12"/>
          <p:cNvSpPr txBox="1"/>
          <p:nvPr/>
        </p:nvSpPr>
        <p:spPr>
          <a:xfrm>
            <a:off x="932688" y="4014216"/>
            <a:ext cx="4663440" cy="292608"/>
          </a:xfrm>
          <a:prstGeom prst="rect">
            <a:avLst/>
          </a:prstGeom>
          <a:noFill/>
          <a:ln/>
        </p:spPr>
        <p:txBody>
          <a:bodyPr wrap="square" lIns="0" tIns="0" rIns="0" bIns="0" rtlCol="0" anchor="ctr"/>
          <a:lstStyle/>
          <a:p>
            <a:pPr indent="0" marL="0">
              <a:buNone/>
            </a:pPr>
            <a:r>
              <a:rPr lang="en-US" sz="1200" b="1" dirty="0">
                <a:solidFill>
                  <a:srgbClr val="1F6F6B"/>
                </a:solidFill>
                <a:latin typeface="Calibri" pitchFamily="34" charset="0"/>
                <a:ea typeface="Calibri" pitchFamily="34" charset="-122"/>
                <a:cs typeface="Calibri" pitchFamily="34" charset="-120"/>
              </a:rPr>
              <a:t>Engagement channel</a:t>
            </a:r>
            <a:endParaRPr lang="en-US" sz="1200" dirty="0"/>
          </a:p>
        </p:txBody>
      </p:sp>
      <p:sp>
        <p:nvSpPr>
          <p:cNvPr id="15" name="Text 13"/>
          <p:cNvSpPr txBox="1"/>
          <p:nvPr/>
        </p:nvSpPr>
        <p:spPr>
          <a:xfrm>
            <a:off x="932688" y="4398264"/>
            <a:ext cx="4663440" cy="1097280"/>
          </a:xfrm>
          <a:prstGeom prst="rect">
            <a:avLst/>
          </a:prstGeom>
          <a:noFill/>
          <a:ln/>
        </p:spPr>
        <p:txBody>
          <a:bodyPr wrap="square" lIns="0" tIns="0" rIns="0" bIns="0" rtlCol="0" anchor="t"/>
          <a:lstStyle/>
          <a:p>
            <a:pPr indent="0" marL="0">
              <a:lnSpc>
                <a:spcPts val="2000"/>
              </a:lnSpc>
              <a:buNone/>
            </a:pPr>
            <a:r>
              <a:rPr lang="en-US" sz="1400" dirty="0">
                <a:solidFill>
                  <a:srgbClr val="16241D"/>
                </a:solidFill>
                <a:latin typeface="Calibri" pitchFamily="34" charset="0"/>
                <a:ea typeface="Calibri" pitchFamily="34" charset="-122"/>
                <a:cs typeface="Calibri" pitchFamily="34" charset="-120"/>
              </a:rPr>
              <a:t>Ms Mpho Mbele</a:t>
            </a:r>
            <a:endParaRPr lang="en-US" sz="1400" dirty="0"/>
          </a:p>
          <a:p>
            <a:pPr indent="0" marL="0">
              <a:lnSpc>
                <a:spcPts val="2000"/>
              </a:lnSpc>
              <a:buNone/>
            </a:pPr>
            <a:r>
              <a:rPr lang="en-US" sz="1400" dirty="0">
                <a:solidFill>
                  <a:srgbClr val="16241D"/>
                </a:solidFill>
                <a:latin typeface="Calibri" pitchFamily="34" charset="0"/>
                <a:ea typeface="Calibri" pitchFamily="34" charset="-122"/>
                <a:cs typeface="Calibri" pitchFamily="34" charset="-120"/>
              </a:rPr>
              <a:t>Departmental Manager: Information Technology</a:t>
            </a:r>
            <a:endParaRPr lang="en-US" sz="1400" dirty="0"/>
          </a:p>
        </p:txBody>
      </p:sp>
      <p:sp>
        <p:nvSpPr>
          <p:cNvPr id="16" name="Shape 14"/>
          <p:cNvSpPr/>
          <p:nvPr/>
        </p:nvSpPr>
        <p:spPr>
          <a:xfrm>
            <a:off x="6172200" y="3794760"/>
            <a:ext cx="5285232" cy="1810512"/>
          </a:xfrm>
          <a:prstGeom prst="roundRect">
            <a:avLst>
              <a:gd name="adj" fmla="val 4545"/>
            </a:avLst>
          </a:prstGeom>
          <a:solidFill>
            <a:srgbClr val="EFE7DC"/>
          </a:solidFill>
          <a:ln w="12700">
            <a:solidFill>
              <a:srgbClr val="EFE7DC"/>
            </a:solidFill>
            <a:prstDash val="solid"/>
          </a:ln>
        </p:spPr>
      </p:sp>
      <p:sp>
        <p:nvSpPr>
          <p:cNvPr id="17" name="Text 15"/>
          <p:cNvSpPr txBox="1"/>
          <p:nvPr/>
        </p:nvSpPr>
        <p:spPr>
          <a:xfrm>
            <a:off x="6464808" y="4014216"/>
            <a:ext cx="4663440" cy="292608"/>
          </a:xfrm>
          <a:prstGeom prst="rect">
            <a:avLst/>
          </a:prstGeom>
          <a:noFill/>
          <a:ln/>
        </p:spPr>
        <p:txBody>
          <a:bodyPr wrap="square" lIns="0" tIns="0" rIns="0" bIns="0" rtlCol="0" anchor="ctr"/>
          <a:lstStyle/>
          <a:p>
            <a:pPr indent="0" marL="0">
              <a:buNone/>
            </a:pPr>
            <a:r>
              <a:rPr lang="en-US" sz="1200" b="1" dirty="0">
                <a:solidFill>
                  <a:srgbClr val="1F6F6B"/>
                </a:solidFill>
                <a:latin typeface="Calibri" pitchFamily="34" charset="0"/>
                <a:ea typeface="Calibri" pitchFamily="34" charset="-122"/>
                <a:cs typeface="Calibri" pitchFamily="34" charset="-120"/>
              </a:rPr>
              <a:t>What they do</a:t>
            </a:r>
            <a:endParaRPr lang="en-US" sz="1200" dirty="0"/>
          </a:p>
        </p:txBody>
      </p:sp>
      <p:sp>
        <p:nvSpPr>
          <p:cNvPr id="18" name="Text 16"/>
          <p:cNvSpPr txBox="1"/>
          <p:nvPr/>
        </p:nvSpPr>
        <p:spPr>
          <a:xfrm>
            <a:off x="6464808" y="4398264"/>
            <a:ext cx="4663440" cy="1097280"/>
          </a:xfrm>
          <a:prstGeom prst="rect">
            <a:avLst/>
          </a:prstGeom>
          <a:noFill/>
          <a:ln/>
        </p:spPr>
        <p:txBody>
          <a:bodyPr wrap="square" lIns="0" tIns="0" rIns="0" bIns="0" rtlCol="0" anchor="t"/>
          <a:lstStyle/>
          <a:p>
            <a:pPr indent="0" marL="0">
              <a:lnSpc>
                <a:spcPts val="2000"/>
              </a:lnSpc>
              <a:buNone/>
            </a:pPr>
            <a:r>
              <a:rPr lang="en-US" sz="1400" dirty="0">
                <a:solidFill>
                  <a:srgbClr val="16241D"/>
                </a:solidFill>
                <a:latin typeface="Calibri" pitchFamily="34" charset="0"/>
                <a:ea typeface="Calibri" pitchFamily="34" charset="-122"/>
                <a:cs typeface="Calibri" pitchFamily="34" charset="-120"/>
              </a:rPr>
              <a:t>Plant science research and the monitoring of soil and environmental conditions for agricultural benefit</a:t>
            </a:r>
            <a:endParaRPr lang="en-US" sz="1400" dirty="0"/>
          </a:p>
        </p:txBody>
      </p:sp>
      <p:sp>
        <p:nvSpPr>
          <p:cNvPr id="19" name="Text 17"/>
          <p:cNvSpPr txBox="1"/>
          <p:nvPr/>
        </p:nvSpPr>
        <p:spPr>
          <a:xfrm>
            <a:off x="640080" y="5943600"/>
            <a:ext cx="10881360" cy="365760"/>
          </a:xfrm>
          <a:prstGeom prst="rect">
            <a:avLst/>
          </a:prstGeom>
          <a:noFill/>
          <a:ln/>
        </p:spPr>
        <p:txBody>
          <a:bodyPr wrap="square" lIns="0" tIns="0" rIns="0" bIns="0" rtlCol="0" anchor="ctr"/>
          <a:lstStyle/>
          <a:p>
            <a:pPr indent="0" marL="0">
              <a:buNone/>
            </a:pPr>
            <a:r>
              <a:rPr lang="en-US" sz="1250" i="1" dirty="0">
                <a:solidFill>
                  <a:srgbClr val="16241D"/>
                </a:solidFill>
                <a:latin typeface="Calibri" pitchFamily="34" charset="0"/>
                <a:ea typeface="Calibri" pitchFamily="34" charset="-122"/>
                <a:cs typeface="Calibri" pitchFamily="34" charset="-120"/>
              </a:rPr>
              <a:t>Fifteen 7-in-1 soil sensors are already deployed across three agricultural locations. The equipment exists; the problem is what happens to what it measures.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ENGAGEMENT</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Tiisetso Masita</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Engaged in writing, from first contact to approval</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6</a:t>
            </a:r>
            <a:endParaRPr lang="en-US" sz="1000" dirty="0"/>
          </a:p>
        </p:txBody>
      </p:sp>
      <p:sp>
        <p:nvSpPr>
          <p:cNvPr id="7" name="Shape 5"/>
          <p:cNvSpPr/>
          <p:nvPr/>
        </p:nvSpPr>
        <p:spPr>
          <a:xfrm>
            <a:off x="640080" y="1737360"/>
            <a:ext cx="10899648" cy="768096"/>
          </a:xfrm>
          <a:prstGeom prst="roundRect">
            <a:avLst>
              <a:gd name="adj" fmla="val 10714"/>
            </a:avLst>
          </a:prstGeom>
          <a:solidFill>
            <a:srgbClr val="FFFFFF"/>
          </a:solidFill>
          <a:ln w="12700">
            <a:solidFill>
              <a:srgbClr val="E0E7E1"/>
            </a:solidFill>
            <a:prstDash val="solid"/>
          </a:ln>
        </p:spPr>
      </p:sp>
      <p:sp>
        <p:nvSpPr>
          <p:cNvPr id="8" name="Shape 6"/>
          <p:cNvSpPr/>
          <p:nvPr/>
        </p:nvSpPr>
        <p:spPr>
          <a:xfrm>
            <a:off x="932688" y="1956816"/>
            <a:ext cx="329184" cy="329184"/>
          </a:xfrm>
          <a:prstGeom prst="ellipse">
            <a:avLst/>
          </a:prstGeom>
          <a:solidFill>
            <a:srgbClr val="1F6F6B"/>
          </a:solidFill>
          <a:ln w="12700">
            <a:solidFill>
              <a:srgbClr val="1F6F6B"/>
            </a:solidFill>
            <a:prstDash val="solid"/>
          </a:ln>
        </p:spPr>
      </p:sp>
      <p:sp>
        <p:nvSpPr>
          <p:cNvPr id="9" name="Text 7"/>
          <p:cNvSpPr txBox="1"/>
          <p:nvPr/>
        </p:nvSpPr>
        <p:spPr>
          <a:xfrm>
            <a:off x="1481328" y="1993392"/>
            <a:ext cx="1005840" cy="274320"/>
          </a:xfrm>
          <a:prstGeom prst="rect">
            <a:avLst/>
          </a:prstGeom>
          <a:noFill/>
          <a:ln/>
        </p:spPr>
        <p:txBody>
          <a:bodyPr wrap="square" lIns="0" tIns="0" rIns="0" bIns="0" rtlCol="0" anchor="ctr"/>
          <a:lstStyle/>
          <a:p>
            <a:pPr indent="0" marL="0">
              <a:buNone/>
            </a:pPr>
            <a:r>
              <a:rPr lang="en-US" sz="1300" b="1" dirty="0">
                <a:solidFill>
                  <a:srgbClr val="16241D"/>
                </a:solidFill>
                <a:latin typeface="Calibri" pitchFamily="34" charset="0"/>
                <a:ea typeface="Calibri" pitchFamily="34" charset="-122"/>
                <a:cs typeface="Calibri" pitchFamily="34" charset="-120"/>
              </a:rPr>
              <a:t>19 Aug</a:t>
            </a:r>
            <a:endParaRPr lang="en-US" sz="1300" dirty="0"/>
          </a:p>
        </p:txBody>
      </p:sp>
      <p:sp>
        <p:nvSpPr>
          <p:cNvPr id="10" name="Text 8"/>
          <p:cNvSpPr txBox="1"/>
          <p:nvPr/>
        </p:nvSpPr>
        <p:spPr>
          <a:xfrm>
            <a:off x="2651760" y="1993392"/>
            <a:ext cx="3200400" cy="274320"/>
          </a:xfrm>
          <a:prstGeom prst="rect">
            <a:avLst/>
          </a:prstGeom>
          <a:noFill/>
          <a:ln/>
        </p:spPr>
        <p:txBody>
          <a:bodyPr wrap="square" lIns="0" tIns="0" rIns="0" bIns="0" rtlCol="0" anchor="ctr"/>
          <a:lstStyle/>
          <a:p>
            <a:pPr indent="0" marL="0">
              <a:buNone/>
            </a:pPr>
            <a:r>
              <a:rPr lang="en-US" sz="1350" b="1" dirty="0">
                <a:solidFill>
                  <a:srgbClr val="16241D"/>
                </a:solidFill>
                <a:latin typeface="Calibri" pitchFamily="34" charset="0"/>
                <a:ea typeface="Calibri" pitchFamily="34" charset="-122"/>
                <a:cs typeface="Calibri" pitchFamily="34" charset="-120"/>
              </a:rPr>
              <a:t>Concept and scope discussed</a:t>
            </a:r>
            <a:endParaRPr lang="en-US" sz="1350" dirty="0"/>
          </a:p>
        </p:txBody>
      </p:sp>
      <p:sp>
        <p:nvSpPr>
          <p:cNvPr id="11" name="Text 9"/>
          <p:cNvSpPr txBox="1"/>
          <p:nvPr/>
        </p:nvSpPr>
        <p:spPr>
          <a:xfrm>
            <a:off x="6035040" y="1865376"/>
            <a:ext cx="5303520" cy="548640"/>
          </a:xfrm>
          <a:prstGeom prst="rect">
            <a:avLst/>
          </a:prstGeom>
          <a:noFill/>
          <a:ln/>
        </p:spPr>
        <p:txBody>
          <a:bodyPr wrap="square" lIns="0" tIns="0" rIns="0" bIns="0" rtlCol="0" anchor="t"/>
          <a:lstStyle/>
          <a:p>
            <a:pPr indent="0" marL="0">
              <a:lnSpc>
                <a:spcPts val="1500"/>
              </a:lnSpc>
              <a:buNone/>
            </a:pPr>
            <a:r>
              <a:rPr lang="en-US" sz="1150" dirty="0">
                <a:solidFill>
                  <a:srgbClr val="6E7D73"/>
                </a:solidFill>
                <a:latin typeface="Calibri" pitchFamily="34" charset="0"/>
                <a:ea typeface="Calibri" pitchFamily="34" charset="-122"/>
                <a:cs typeface="Calibri" pitchFamily="34" charset="-120"/>
              </a:rPr>
              <a:t>First contact. We described the module and asked whether they had a problem worth solving.</a:t>
            </a:r>
            <a:endParaRPr lang="en-US" sz="1150" dirty="0"/>
          </a:p>
        </p:txBody>
      </p:sp>
      <p:sp>
        <p:nvSpPr>
          <p:cNvPr id="12" name="Shape 10"/>
          <p:cNvSpPr/>
          <p:nvPr/>
        </p:nvSpPr>
        <p:spPr>
          <a:xfrm>
            <a:off x="640080" y="2633472"/>
            <a:ext cx="10899648" cy="768096"/>
          </a:xfrm>
          <a:prstGeom prst="roundRect">
            <a:avLst>
              <a:gd name="adj" fmla="val 10714"/>
            </a:avLst>
          </a:prstGeom>
          <a:solidFill>
            <a:srgbClr val="FFFFFF"/>
          </a:solidFill>
          <a:ln w="12700">
            <a:solidFill>
              <a:srgbClr val="E0E7E1"/>
            </a:solidFill>
            <a:prstDash val="solid"/>
          </a:ln>
        </p:spPr>
      </p:sp>
      <p:sp>
        <p:nvSpPr>
          <p:cNvPr id="13" name="Shape 11"/>
          <p:cNvSpPr/>
          <p:nvPr/>
        </p:nvSpPr>
        <p:spPr>
          <a:xfrm>
            <a:off x="932688" y="2852928"/>
            <a:ext cx="329184" cy="329184"/>
          </a:xfrm>
          <a:prstGeom prst="ellipse">
            <a:avLst/>
          </a:prstGeom>
          <a:solidFill>
            <a:srgbClr val="1F6F6B"/>
          </a:solidFill>
          <a:ln w="12700">
            <a:solidFill>
              <a:srgbClr val="1F6F6B"/>
            </a:solidFill>
            <a:prstDash val="solid"/>
          </a:ln>
        </p:spPr>
      </p:sp>
      <p:sp>
        <p:nvSpPr>
          <p:cNvPr id="14" name="Text 12"/>
          <p:cNvSpPr txBox="1"/>
          <p:nvPr/>
        </p:nvSpPr>
        <p:spPr>
          <a:xfrm>
            <a:off x="1481328" y="2889504"/>
            <a:ext cx="1005840" cy="274320"/>
          </a:xfrm>
          <a:prstGeom prst="rect">
            <a:avLst/>
          </a:prstGeom>
          <a:noFill/>
          <a:ln/>
        </p:spPr>
        <p:txBody>
          <a:bodyPr wrap="square" lIns="0" tIns="0" rIns="0" bIns="0" rtlCol="0" anchor="ctr"/>
          <a:lstStyle/>
          <a:p>
            <a:pPr indent="0" marL="0">
              <a:buNone/>
            </a:pPr>
            <a:r>
              <a:rPr lang="en-US" sz="1300" b="1" dirty="0">
                <a:solidFill>
                  <a:srgbClr val="16241D"/>
                </a:solidFill>
                <a:latin typeface="Calibri" pitchFamily="34" charset="0"/>
                <a:ea typeface="Calibri" pitchFamily="34" charset="-122"/>
                <a:cs typeface="Calibri" pitchFamily="34" charset="-120"/>
              </a:rPr>
              <a:t>20 Aug</a:t>
            </a:r>
            <a:endParaRPr lang="en-US" sz="1300" dirty="0"/>
          </a:p>
        </p:txBody>
      </p:sp>
      <p:sp>
        <p:nvSpPr>
          <p:cNvPr id="15" name="Text 13"/>
          <p:cNvSpPr txBox="1"/>
          <p:nvPr/>
        </p:nvSpPr>
        <p:spPr>
          <a:xfrm>
            <a:off x="2651760" y="2889504"/>
            <a:ext cx="3200400" cy="274320"/>
          </a:xfrm>
          <a:prstGeom prst="rect">
            <a:avLst/>
          </a:prstGeom>
          <a:noFill/>
          <a:ln/>
        </p:spPr>
        <p:txBody>
          <a:bodyPr wrap="square" lIns="0" tIns="0" rIns="0" bIns="0" rtlCol="0" anchor="ctr"/>
          <a:lstStyle/>
          <a:p>
            <a:pPr indent="0" marL="0">
              <a:buNone/>
            </a:pPr>
            <a:r>
              <a:rPr lang="en-US" sz="1350" b="1" dirty="0">
                <a:solidFill>
                  <a:srgbClr val="16241D"/>
                </a:solidFill>
                <a:latin typeface="Calibri" pitchFamily="34" charset="0"/>
                <a:ea typeface="Calibri" pitchFamily="34" charset="-122"/>
                <a:cs typeface="Calibri" pitchFamily="34" charset="-120"/>
              </a:rPr>
              <a:t>Requirements document received</a:t>
            </a:r>
            <a:endParaRPr lang="en-US" sz="1350" dirty="0"/>
          </a:p>
        </p:txBody>
      </p:sp>
      <p:sp>
        <p:nvSpPr>
          <p:cNvPr id="16" name="Text 14"/>
          <p:cNvSpPr txBox="1"/>
          <p:nvPr/>
        </p:nvSpPr>
        <p:spPr>
          <a:xfrm>
            <a:off x="6035040" y="2761488"/>
            <a:ext cx="5303520" cy="548640"/>
          </a:xfrm>
          <a:prstGeom prst="rect">
            <a:avLst/>
          </a:prstGeom>
          <a:noFill/>
          <a:ln/>
        </p:spPr>
        <p:txBody>
          <a:bodyPr wrap="square" lIns="0" tIns="0" rIns="0" bIns="0" rtlCol="0" anchor="t"/>
          <a:lstStyle/>
          <a:p>
            <a:pPr indent="0" marL="0">
              <a:lnSpc>
                <a:spcPts val="1500"/>
              </a:lnSpc>
              <a:buNone/>
            </a:pPr>
            <a:r>
              <a:rPr lang="en-US" sz="1150" dirty="0">
                <a:solidFill>
                  <a:srgbClr val="6E7D73"/>
                </a:solidFill>
                <a:latin typeface="Calibri" pitchFamily="34" charset="0"/>
                <a:ea typeface="Calibri" pitchFamily="34" charset="-122"/>
                <a:cs typeface="Calibri" pitchFamily="34" charset="-120"/>
              </a:rPr>
              <a:t>A written project requirements document covering deployment, parameters, roles, alerts and the demonstration.</a:t>
            </a:r>
            <a:endParaRPr lang="en-US" sz="1150" dirty="0"/>
          </a:p>
        </p:txBody>
      </p:sp>
      <p:sp>
        <p:nvSpPr>
          <p:cNvPr id="17" name="Shape 15"/>
          <p:cNvSpPr/>
          <p:nvPr/>
        </p:nvSpPr>
        <p:spPr>
          <a:xfrm>
            <a:off x="640080" y="3529584"/>
            <a:ext cx="10899648" cy="768096"/>
          </a:xfrm>
          <a:prstGeom prst="roundRect">
            <a:avLst>
              <a:gd name="adj" fmla="val 10714"/>
            </a:avLst>
          </a:prstGeom>
          <a:solidFill>
            <a:srgbClr val="FFFFFF"/>
          </a:solidFill>
          <a:ln w="12700">
            <a:solidFill>
              <a:srgbClr val="E0E7E1"/>
            </a:solidFill>
            <a:prstDash val="solid"/>
          </a:ln>
        </p:spPr>
      </p:sp>
      <p:sp>
        <p:nvSpPr>
          <p:cNvPr id="18" name="Shape 16"/>
          <p:cNvSpPr/>
          <p:nvPr/>
        </p:nvSpPr>
        <p:spPr>
          <a:xfrm>
            <a:off x="932688" y="3749040"/>
            <a:ext cx="329184" cy="329184"/>
          </a:xfrm>
          <a:prstGeom prst="ellipse">
            <a:avLst/>
          </a:prstGeom>
          <a:solidFill>
            <a:srgbClr val="1F6F6B"/>
          </a:solidFill>
          <a:ln w="12700">
            <a:solidFill>
              <a:srgbClr val="1F6F6B"/>
            </a:solidFill>
            <a:prstDash val="solid"/>
          </a:ln>
        </p:spPr>
      </p:sp>
      <p:sp>
        <p:nvSpPr>
          <p:cNvPr id="19" name="Text 17"/>
          <p:cNvSpPr txBox="1"/>
          <p:nvPr/>
        </p:nvSpPr>
        <p:spPr>
          <a:xfrm>
            <a:off x="1481328" y="3785616"/>
            <a:ext cx="1005840" cy="274320"/>
          </a:xfrm>
          <a:prstGeom prst="rect">
            <a:avLst/>
          </a:prstGeom>
          <a:noFill/>
          <a:ln/>
        </p:spPr>
        <p:txBody>
          <a:bodyPr wrap="square" lIns="0" tIns="0" rIns="0" bIns="0" rtlCol="0" anchor="ctr"/>
          <a:lstStyle/>
          <a:p>
            <a:pPr indent="0" marL="0">
              <a:buNone/>
            </a:pPr>
            <a:r>
              <a:rPr lang="en-US" sz="1300" b="1" dirty="0">
                <a:solidFill>
                  <a:srgbClr val="16241D"/>
                </a:solidFill>
                <a:latin typeface="Calibri" pitchFamily="34" charset="0"/>
                <a:ea typeface="Calibri" pitchFamily="34" charset="-122"/>
                <a:cs typeface="Calibri" pitchFamily="34" charset="-120"/>
              </a:rPr>
              <a:t>26 Aug</a:t>
            </a:r>
            <a:endParaRPr lang="en-US" sz="1300" dirty="0"/>
          </a:p>
        </p:txBody>
      </p:sp>
      <p:sp>
        <p:nvSpPr>
          <p:cNvPr id="20" name="Text 18"/>
          <p:cNvSpPr txBox="1"/>
          <p:nvPr/>
        </p:nvSpPr>
        <p:spPr>
          <a:xfrm>
            <a:off x="2651760" y="3785616"/>
            <a:ext cx="3200400" cy="274320"/>
          </a:xfrm>
          <a:prstGeom prst="rect">
            <a:avLst/>
          </a:prstGeom>
          <a:noFill/>
          <a:ln/>
        </p:spPr>
        <p:txBody>
          <a:bodyPr wrap="square" lIns="0" tIns="0" rIns="0" bIns="0" rtlCol="0" anchor="ctr"/>
          <a:lstStyle/>
          <a:p>
            <a:pPr indent="0" marL="0">
              <a:buNone/>
            </a:pPr>
            <a:r>
              <a:rPr lang="en-US" sz="1350" b="1" dirty="0">
                <a:solidFill>
                  <a:srgbClr val="16241D"/>
                </a:solidFill>
                <a:latin typeface="Calibri" pitchFamily="34" charset="0"/>
                <a:ea typeface="Calibri" pitchFamily="34" charset="-122"/>
                <a:cs typeface="Calibri" pitchFamily="34" charset="-120"/>
              </a:rPr>
              <a:t>Fifteen follow-up questions issued</a:t>
            </a:r>
            <a:endParaRPr lang="en-US" sz="1350" dirty="0"/>
          </a:p>
        </p:txBody>
      </p:sp>
      <p:sp>
        <p:nvSpPr>
          <p:cNvPr id="21" name="Text 19"/>
          <p:cNvSpPr txBox="1"/>
          <p:nvPr/>
        </p:nvSpPr>
        <p:spPr>
          <a:xfrm>
            <a:off x="6035040" y="3657600"/>
            <a:ext cx="5303520" cy="548640"/>
          </a:xfrm>
          <a:prstGeom prst="rect">
            <a:avLst/>
          </a:prstGeom>
          <a:noFill/>
          <a:ln/>
        </p:spPr>
        <p:txBody>
          <a:bodyPr wrap="square" lIns="0" tIns="0" rIns="0" bIns="0" rtlCol="0" anchor="t"/>
          <a:lstStyle/>
          <a:p>
            <a:pPr indent="0" marL="0">
              <a:lnSpc>
                <a:spcPts val="1500"/>
              </a:lnSpc>
              <a:buNone/>
            </a:pPr>
            <a:r>
              <a:rPr lang="en-US" sz="1150" dirty="0">
                <a:solidFill>
                  <a:srgbClr val="6E7D73"/>
                </a:solidFill>
                <a:latin typeface="Calibri" pitchFamily="34" charset="0"/>
                <a:ea typeface="Calibri" pitchFamily="34" charset="-122"/>
                <a:cs typeface="Calibri" pitchFamily="34" charset="-120"/>
              </a:rPr>
              <a:t>Sent in writing because a meeting could not be arranged that week.</a:t>
            </a:r>
            <a:endParaRPr lang="en-US" sz="1150" dirty="0"/>
          </a:p>
        </p:txBody>
      </p:sp>
      <p:sp>
        <p:nvSpPr>
          <p:cNvPr id="22" name="Shape 20"/>
          <p:cNvSpPr/>
          <p:nvPr/>
        </p:nvSpPr>
        <p:spPr>
          <a:xfrm>
            <a:off x="640080" y="4425696"/>
            <a:ext cx="10899648" cy="768096"/>
          </a:xfrm>
          <a:prstGeom prst="roundRect">
            <a:avLst>
              <a:gd name="adj" fmla="val 10714"/>
            </a:avLst>
          </a:prstGeom>
          <a:solidFill>
            <a:srgbClr val="FFFFFF"/>
          </a:solidFill>
          <a:ln w="12700">
            <a:solidFill>
              <a:srgbClr val="E0E7E1"/>
            </a:solidFill>
            <a:prstDash val="solid"/>
          </a:ln>
        </p:spPr>
      </p:sp>
      <p:sp>
        <p:nvSpPr>
          <p:cNvPr id="23" name="Shape 21"/>
          <p:cNvSpPr/>
          <p:nvPr/>
        </p:nvSpPr>
        <p:spPr>
          <a:xfrm>
            <a:off x="932688" y="4645152"/>
            <a:ext cx="329184" cy="329184"/>
          </a:xfrm>
          <a:prstGeom prst="ellipse">
            <a:avLst/>
          </a:prstGeom>
          <a:solidFill>
            <a:srgbClr val="1F6F6B"/>
          </a:solidFill>
          <a:ln w="12700">
            <a:solidFill>
              <a:srgbClr val="1F6F6B"/>
            </a:solidFill>
            <a:prstDash val="solid"/>
          </a:ln>
        </p:spPr>
      </p:sp>
      <p:sp>
        <p:nvSpPr>
          <p:cNvPr id="24" name="Text 22"/>
          <p:cNvSpPr txBox="1"/>
          <p:nvPr/>
        </p:nvSpPr>
        <p:spPr>
          <a:xfrm>
            <a:off x="1481328" y="4681728"/>
            <a:ext cx="1005840" cy="274320"/>
          </a:xfrm>
          <a:prstGeom prst="rect">
            <a:avLst/>
          </a:prstGeom>
          <a:noFill/>
          <a:ln/>
        </p:spPr>
        <p:txBody>
          <a:bodyPr wrap="square" lIns="0" tIns="0" rIns="0" bIns="0" rtlCol="0" anchor="ctr"/>
          <a:lstStyle/>
          <a:p>
            <a:pPr indent="0" marL="0">
              <a:buNone/>
            </a:pPr>
            <a:r>
              <a:rPr lang="en-US" sz="1300" b="1" dirty="0">
                <a:solidFill>
                  <a:srgbClr val="16241D"/>
                </a:solidFill>
                <a:latin typeface="Calibri" pitchFamily="34" charset="0"/>
                <a:ea typeface="Calibri" pitchFamily="34" charset="-122"/>
                <a:cs typeface="Calibri" pitchFamily="34" charset="-120"/>
              </a:rPr>
              <a:t>27 Aug</a:t>
            </a:r>
            <a:endParaRPr lang="en-US" sz="1300" dirty="0"/>
          </a:p>
        </p:txBody>
      </p:sp>
      <p:sp>
        <p:nvSpPr>
          <p:cNvPr id="25" name="Text 23"/>
          <p:cNvSpPr txBox="1"/>
          <p:nvPr/>
        </p:nvSpPr>
        <p:spPr>
          <a:xfrm>
            <a:off x="2651760" y="4681728"/>
            <a:ext cx="3200400" cy="274320"/>
          </a:xfrm>
          <a:prstGeom prst="rect">
            <a:avLst/>
          </a:prstGeom>
          <a:noFill/>
          <a:ln/>
        </p:spPr>
        <p:txBody>
          <a:bodyPr wrap="square" lIns="0" tIns="0" rIns="0" bIns="0" rtlCol="0" anchor="ctr"/>
          <a:lstStyle/>
          <a:p>
            <a:pPr indent="0" marL="0">
              <a:buNone/>
            </a:pPr>
            <a:r>
              <a:rPr lang="en-US" sz="1350" b="1" dirty="0">
                <a:solidFill>
                  <a:srgbClr val="16241D"/>
                </a:solidFill>
                <a:latin typeface="Calibri" pitchFamily="34" charset="0"/>
                <a:ea typeface="Calibri" pitchFamily="34" charset="-122"/>
                <a:cs typeface="Calibri" pitchFamily="34" charset="-120"/>
              </a:rPr>
              <a:t>Written answers returned</a:t>
            </a:r>
            <a:endParaRPr lang="en-US" sz="1350" dirty="0"/>
          </a:p>
        </p:txBody>
      </p:sp>
      <p:sp>
        <p:nvSpPr>
          <p:cNvPr id="26" name="Text 24"/>
          <p:cNvSpPr txBox="1"/>
          <p:nvPr/>
        </p:nvSpPr>
        <p:spPr>
          <a:xfrm>
            <a:off x="6035040" y="4553712"/>
            <a:ext cx="5303520" cy="548640"/>
          </a:xfrm>
          <a:prstGeom prst="rect">
            <a:avLst/>
          </a:prstGeom>
          <a:noFill/>
          <a:ln/>
        </p:spPr>
        <p:txBody>
          <a:bodyPr wrap="square" lIns="0" tIns="0" rIns="0" bIns="0" rtlCol="0" anchor="t"/>
          <a:lstStyle/>
          <a:p>
            <a:pPr indent="0" marL="0">
              <a:lnSpc>
                <a:spcPts val="1500"/>
              </a:lnSpc>
              <a:buNone/>
            </a:pPr>
            <a:r>
              <a:rPr lang="en-US" sz="1150" dirty="0">
                <a:solidFill>
                  <a:srgbClr val="6E7D73"/>
                </a:solidFill>
                <a:latin typeface="Calibri" pitchFamily="34" charset="0"/>
                <a:ea typeface="Calibri" pitchFamily="34" charset="-122"/>
                <a:cs typeface="Calibri" pitchFamily="34" charset="-120"/>
              </a:rPr>
              <a:t>Current process, affected users, priorities, data approach and reading fields.</a:t>
            </a:r>
            <a:endParaRPr lang="en-US" sz="1150" dirty="0"/>
          </a:p>
        </p:txBody>
      </p:sp>
      <p:sp>
        <p:nvSpPr>
          <p:cNvPr id="27" name="Shape 25"/>
          <p:cNvSpPr/>
          <p:nvPr/>
        </p:nvSpPr>
        <p:spPr>
          <a:xfrm>
            <a:off x="640080" y="5321808"/>
            <a:ext cx="10899648" cy="768096"/>
          </a:xfrm>
          <a:prstGeom prst="roundRect">
            <a:avLst>
              <a:gd name="adj" fmla="val 10714"/>
            </a:avLst>
          </a:prstGeom>
          <a:solidFill>
            <a:srgbClr val="E7EFE7"/>
          </a:solidFill>
          <a:ln w="12700">
            <a:solidFill>
              <a:srgbClr val="E7EFE7"/>
            </a:solidFill>
            <a:prstDash val="solid"/>
          </a:ln>
        </p:spPr>
      </p:sp>
      <p:sp>
        <p:nvSpPr>
          <p:cNvPr id="28" name="Shape 26"/>
          <p:cNvSpPr/>
          <p:nvPr/>
        </p:nvSpPr>
        <p:spPr>
          <a:xfrm>
            <a:off x="932688" y="5541264"/>
            <a:ext cx="329184" cy="329184"/>
          </a:xfrm>
          <a:prstGeom prst="ellipse">
            <a:avLst/>
          </a:prstGeom>
          <a:solidFill>
            <a:srgbClr val="D9A92C"/>
          </a:solidFill>
          <a:ln w="12700">
            <a:solidFill>
              <a:srgbClr val="D9A92C"/>
            </a:solidFill>
            <a:prstDash val="solid"/>
          </a:ln>
        </p:spPr>
      </p:sp>
      <p:sp>
        <p:nvSpPr>
          <p:cNvPr id="29" name="Text 27"/>
          <p:cNvSpPr txBox="1"/>
          <p:nvPr/>
        </p:nvSpPr>
        <p:spPr>
          <a:xfrm>
            <a:off x="1481328" y="5577840"/>
            <a:ext cx="1005840" cy="274320"/>
          </a:xfrm>
          <a:prstGeom prst="rect">
            <a:avLst/>
          </a:prstGeom>
          <a:noFill/>
          <a:ln/>
        </p:spPr>
        <p:txBody>
          <a:bodyPr wrap="square" lIns="0" tIns="0" rIns="0" bIns="0" rtlCol="0" anchor="ctr"/>
          <a:lstStyle/>
          <a:p>
            <a:pPr indent="0" marL="0">
              <a:buNone/>
            </a:pPr>
            <a:r>
              <a:rPr lang="en-US" sz="1300" b="1" dirty="0">
                <a:solidFill>
                  <a:srgbClr val="16241D"/>
                </a:solidFill>
                <a:latin typeface="Calibri" pitchFamily="34" charset="0"/>
                <a:ea typeface="Calibri" pitchFamily="34" charset="-122"/>
                <a:cs typeface="Calibri" pitchFamily="34" charset="-120"/>
              </a:rPr>
              <a:t>3 Sep</a:t>
            </a:r>
            <a:endParaRPr lang="en-US" sz="1300" dirty="0"/>
          </a:p>
        </p:txBody>
      </p:sp>
      <p:sp>
        <p:nvSpPr>
          <p:cNvPr id="30" name="Text 28"/>
          <p:cNvSpPr txBox="1"/>
          <p:nvPr/>
        </p:nvSpPr>
        <p:spPr>
          <a:xfrm>
            <a:off x="2651760" y="5577840"/>
            <a:ext cx="3200400" cy="274320"/>
          </a:xfrm>
          <a:prstGeom prst="rect">
            <a:avLst/>
          </a:prstGeom>
          <a:noFill/>
          <a:ln/>
        </p:spPr>
        <p:txBody>
          <a:bodyPr wrap="square" lIns="0" tIns="0" rIns="0" bIns="0" rtlCol="0" anchor="ctr"/>
          <a:lstStyle/>
          <a:p>
            <a:pPr indent="0" marL="0">
              <a:buNone/>
            </a:pPr>
            <a:r>
              <a:rPr lang="en-US" sz="1350" b="1" dirty="0">
                <a:solidFill>
                  <a:srgbClr val="2F5D3A"/>
                </a:solidFill>
                <a:latin typeface="Calibri" pitchFamily="34" charset="0"/>
                <a:ea typeface="Calibri" pitchFamily="34" charset="-122"/>
                <a:cs typeface="Calibri" pitchFamily="34" charset="-120"/>
              </a:rPr>
              <a:t>Findings confirmed and approved</a:t>
            </a:r>
            <a:endParaRPr lang="en-US" sz="1350" dirty="0"/>
          </a:p>
        </p:txBody>
      </p:sp>
      <p:sp>
        <p:nvSpPr>
          <p:cNvPr id="31" name="Text 29"/>
          <p:cNvSpPr txBox="1"/>
          <p:nvPr/>
        </p:nvSpPr>
        <p:spPr>
          <a:xfrm>
            <a:off x="6035040" y="5449824"/>
            <a:ext cx="5303520" cy="548640"/>
          </a:xfrm>
          <a:prstGeom prst="rect">
            <a:avLst/>
          </a:prstGeom>
          <a:noFill/>
          <a:ln/>
        </p:spPr>
        <p:txBody>
          <a:bodyPr wrap="square" lIns="0" tIns="0" rIns="0" bIns="0" rtlCol="0" anchor="t"/>
          <a:lstStyle/>
          <a:p>
            <a:pPr indent="0" marL="0">
              <a:lnSpc>
                <a:spcPts val="1500"/>
              </a:lnSpc>
              <a:buNone/>
            </a:pPr>
            <a:r>
              <a:rPr lang="en-US" sz="1150" dirty="0">
                <a:solidFill>
                  <a:srgbClr val="6E7D73"/>
                </a:solidFill>
                <a:latin typeface="Calibri" pitchFamily="34" charset="0"/>
                <a:ea typeface="Calibri" pitchFamily="34" charset="-122"/>
                <a:cs typeface="Calibri" pitchFamily="34" charset="-120"/>
              </a:rPr>
              <a:t>“The document can be used as it meets the entry requirements as the end user.”</a:t>
            </a:r>
            <a:endParaRPr lang="en-US" sz="1150" dirty="0"/>
          </a:p>
        </p:txBody>
      </p:sp>
      <p:sp>
        <p:nvSpPr>
          <p:cNvPr id="32" name="Text 30"/>
          <p:cNvSpPr txBox="1"/>
          <p:nvPr/>
        </p:nvSpPr>
        <p:spPr>
          <a:xfrm>
            <a:off x="640080" y="5870448"/>
            <a:ext cx="10881360" cy="329184"/>
          </a:xfrm>
          <a:prstGeom prst="rect">
            <a:avLst/>
          </a:prstGeom>
          <a:noFill/>
          <a:ln/>
        </p:spPr>
        <p:txBody>
          <a:bodyPr wrap="square" lIns="0" tIns="0" rIns="0" bIns="0" rtlCol="0" anchor="ctr"/>
          <a:lstStyle/>
          <a:p>
            <a:pPr indent="0" marL="0">
              <a:buNone/>
            </a:pPr>
            <a:r>
              <a:rPr lang="en-US" sz="1250" i="1" dirty="0">
                <a:solidFill>
                  <a:srgbClr val="1F6F6B"/>
                </a:solidFill>
                <a:latin typeface="Calibri" pitchFamily="34" charset="0"/>
                <a:ea typeface="Calibri" pitchFamily="34" charset="-122"/>
                <a:cs typeface="Calibri" pitchFamily="34" charset="-120"/>
              </a:rPr>
              <a:t>Every requirement in our specification traces to one of these written sources. All five are attached as appendices.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241D"/>
        </a:solidFill>
      </p:bgPr>
    </p:bg>
    <p:spTree>
      <p:nvGrpSpPr>
        <p:cNvPr id="1" name=""/>
        <p:cNvGrpSpPr/>
        <p:nvPr/>
      </p:nvGrpSpPr>
      <p:grpSpPr>
        <a:xfrm>
          <a:off x="0" y="0"/>
          <a:ext cx="0" cy="0"/>
          <a:chOff x="0" y="0"/>
          <a:chExt cx="0" cy="0"/>
        </a:xfrm>
      </p:grpSpPr>
      <p:sp>
        <p:nvSpPr>
          <p:cNvPr id="2" name="Text 0"/>
          <p:cNvSpPr txBox="1"/>
          <p:nvPr/>
        </p:nvSpPr>
        <p:spPr>
          <a:xfrm>
            <a:off x="822960" y="1828800"/>
            <a:ext cx="2011680" cy="1371600"/>
          </a:xfrm>
          <a:prstGeom prst="rect">
            <a:avLst/>
          </a:prstGeom>
          <a:noFill/>
          <a:ln/>
        </p:spPr>
        <p:txBody>
          <a:bodyPr wrap="square" lIns="0" tIns="0" rIns="0" bIns="0" rtlCol="0" anchor="ctr"/>
          <a:lstStyle/>
          <a:p>
            <a:pPr indent="0" marL="0">
              <a:buNone/>
            </a:pPr>
            <a:r>
              <a:rPr lang="en-US" sz="9600" b="1" dirty="0">
                <a:solidFill>
                  <a:srgbClr val="1F6F6B"/>
                </a:solidFill>
                <a:latin typeface="Cambria" pitchFamily="34" charset="0"/>
                <a:ea typeface="Cambria" pitchFamily="34" charset="-122"/>
                <a:cs typeface="Cambria" pitchFamily="34" charset="-120"/>
              </a:rPr>
              <a:t>02</a:t>
            </a:r>
            <a:endParaRPr lang="en-US" sz="9600" dirty="0"/>
          </a:p>
        </p:txBody>
      </p:sp>
      <p:sp>
        <p:nvSpPr>
          <p:cNvPr id="3" name="Text 1"/>
          <p:cNvSpPr txBox="1"/>
          <p:nvPr/>
        </p:nvSpPr>
        <p:spPr>
          <a:xfrm>
            <a:off x="2926080" y="2148840"/>
            <a:ext cx="841248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The problem</a:t>
            </a:r>
            <a:endParaRPr lang="en-US" sz="4000" dirty="0"/>
          </a:p>
        </p:txBody>
      </p:sp>
      <p:sp>
        <p:nvSpPr>
          <p:cNvPr id="4" name="Text 2"/>
          <p:cNvSpPr txBox="1"/>
          <p:nvPr/>
        </p:nvSpPr>
        <p:spPr>
          <a:xfrm>
            <a:off x="2926080" y="3063240"/>
            <a:ext cx="7680960" cy="822960"/>
          </a:xfrm>
          <a:prstGeom prst="rect">
            <a:avLst/>
          </a:prstGeom>
          <a:noFill/>
          <a:ln/>
        </p:spPr>
        <p:txBody>
          <a:bodyPr wrap="square" lIns="0" tIns="0" rIns="0" bIns="0" rtlCol="0" anchor="t"/>
          <a:lstStyle/>
          <a:p>
            <a:pPr indent="0" marL="0">
              <a:lnSpc>
                <a:spcPts val="2400"/>
              </a:lnSpc>
              <a:buNone/>
            </a:pPr>
            <a:r>
              <a:rPr lang="en-US" sz="1500" dirty="0">
                <a:solidFill>
                  <a:srgbClr val="A9BCAF"/>
                </a:solidFill>
                <a:latin typeface="Calibri" pitchFamily="34" charset="0"/>
                <a:ea typeface="Calibri" pitchFamily="34" charset="-122"/>
                <a:cs typeface="Calibri" pitchFamily="34" charset="-120"/>
              </a:rPr>
              <a:t>Fifteen sensors are producing measurements continuously. None of it reaches the people who need it.</a:t>
            </a:r>
            <a:endParaRPr lang="en-US" sz="1500" dirty="0"/>
          </a:p>
        </p:txBody>
      </p:sp>
      <p:sp>
        <p:nvSpPr>
          <p:cNvPr id="5" name="Shape 3"/>
          <p:cNvSpPr/>
          <p:nvPr/>
        </p:nvSpPr>
        <p:spPr>
          <a:xfrm>
            <a:off x="2926080" y="4114800"/>
            <a:ext cx="1005840" cy="32004"/>
          </a:xfrm>
          <a:prstGeom prst="rect">
            <a:avLst/>
          </a:prstGeom>
          <a:solidFill>
            <a:srgbClr val="D9A92C"/>
          </a:solidFill>
          <a:ln w="12700">
            <a:solidFill>
              <a:srgbClr val="D9A92C"/>
            </a:solidFill>
            <a:prstDash val="solid"/>
          </a:ln>
        </p:spPr>
      </p:sp>
      <p:sp>
        <p:nvSpPr>
          <p:cNvPr id="6" name="Text 4"/>
          <p:cNvSpPr txBox="1"/>
          <p:nvPr/>
        </p:nvSpPr>
        <p:spPr>
          <a:xfrm>
            <a:off x="2926080" y="4370832"/>
            <a:ext cx="5486400" cy="310896"/>
          </a:xfrm>
          <a:prstGeom prst="rect">
            <a:avLst/>
          </a:prstGeom>
          <a:noFill/>
          <a:ln/>
        </p:spPr>
        <p:txBody>
          <a:bodyPr wrap="square" lIns="0" tIns="0" rIns="0" bIns="0" rtlCol="0" anchor="ctr"/>
          <a:lstStyle/>
          <a:p>
            <a:pPr indent="0" marL="0">
              <a:buNone/>
            </a:pPr>
            <a:r>
              <a:rPr lang="en-US" sz="1500" b="1" dirty="0">
                <a:solidFill>
                  <a:srgbClr val="D9A92C"/>
                </a:solidFill>
                <a:latin typeface="Calibri" pitchFamily="34" charset="0"/>
                <a:ea typeface="Calibri" pitchFamily="34" charset="-122"/>
                <a:cs typeface="Calibri" pitchFamily="34" charset="-120"/>
              </a:rPr>
              <a:t>Ayatolla Pikwa</a:t>
            </a:r>
            <a:endParaRPr lang="en-US" sz="1500" dirty="0"/>
          </a:p>
        </p:txBody>
      </p:sp>
      <p:sp>
        <p:nvSpPr>
          <p:cNvPr id="7" name="Text 5"/>
          <p:cNvSpPr txBox="1"/>
          <p:nvPr/>
        </p:nvSpPr>
        <p:spPr>
          <a:xfrm>
            <a:off x="2926080" y="4718304"/>
            <a:ext cx="5486400" cy="274320"/>
          </a:xfrm>
          <a:prstGeom prst="rect">
            <a:avLst/>
          </a:prstGeom>
          <a:noFill/>
          <a:ln/>
        </p:spPr>
        <p:txBody>
          <a:bodyPr wrap="square" lIns="0" tIns="0" rIns="0" bIns="0" rtlCol="0" anchor="ctr"/>
          <a:lstStyle/>
          <a:p>
            <a:pPr indent="0" marL="0">
              <a:buNone/>
            </a:pPr>
            <a:r>
              <a:rPr lang="en-US" sz="1200" dirty="0">
                <a:solidFill>
                  <a:srgbClr val="A9BCAF"/>
                </a:solidFill>
                <a:latin typeface="Calibri" pitchFamily="34" charset="0"/>
                <a:ea typeface="Calibri" pitchFamily="34" charset="-122"/>
                <a:cs typeface="Calibri" pitchFamily="34" charset="-120"/>
              </a:rPr>
              <a:t>4 minutes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Ayatolla Pikwa</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Data is being produced. Nobody can read it.</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8</a:t>
            </a:r>
            <a:endParaRPr lang="en-US" sz="1000" dirty="0"/>
          </a:p>
        </p:txBody>
      </p:sp>
      <p:sp>
        <p:nvSpPr>
          <p:cNvPr id="7" name="Shape 5"/>
          <p:cNvSpPr/>
          <p:nvPr/>
        </p:nvSpPr>
        <p:spPr>
          <a:xfrm>
            <a:off x="640080" y="1783080"/>
            <a:ext cx="5212080" cy="3931920"/>
          </a:xfrm>
          <a:prstGeom prst="roundRect">
            <a:avLst>
              <a:gd name="adj" fmla="val 2093"/>
            </a:avLst>
          </a:prstGeom>
          <a:solidFill>
            <a:srgbClr val="EFE7DC"/>
          </a:solidFill>
          <a:ln w="12700">
            <a:solidFill>
              <a:srgbClr val="EFE7DC"/>
            </a:solidFill>
            <a:prstDash val="solid"/>
          </a:ln>
        </p:spPr>
      </p:sp>
      <p:sp>
        <p:nvSpPr>
          <p:cNvPr id="8" name="Text 6"/>
          <p:cNvSpPr txBox="1"/>
          <p:nvPr/>
        </p:nvSpPr>
        <p:spPr>
          <a:xfrm>
            <a:off x="914400" y="2057400"/>
            <a:ext cx="4663440" cy="329184"/>
          </a:xfrm>
          <a:prstGeom prst="rect">
            <a:avLst/>
          </a:prstGeom>
          <a:noFill/>
          <a:ln/>
        </p:spPr>
        <p:txBody>
          <a:bodyPr wrap="square" lIns="0" tIns="0" rIns="0" bIns="0" rtlCol="0" anchor="ctr"/>
          <a:lstStyle/>
          <a:p>
            <a:pPr indent="0" marL="0">
              <a:buNone/>
            </a:pPr>
            <a:r>
              <a:rPr lang="en-US" sz="1400" b="1" dirty="0">
                <a:solidFill>
                  <a:srgbClr val="16241D"/>
                </a:solidFill>
                <a:latin typeface="Calibri" pitchFamily="34" charset="0"/>
                <a:ea typeface="Calibri" pitchFamily="34" charset="-122"/>
                <a:cs typeface="Calibri" pitchFamily="34" charset="-120"/>
              </a:rPr>
              <a:t>How the organisation works today</a:t>
            </a:r>
            <a:endParaRPr lang="en-US" sz="1400" dirty="0"/>
          </a:p>
        </p:txBody>
      </p:sp>
      <p:sp>
        <p:nvSpPr>
          <p:cNvPr id="9" name="Text 7"/>
          <p:cNvSpPr txBox="1"/>
          <p:nvPr/>
        </p:nvSpPr>
        <p:spPr>
          <a:xfrm>
            <a:off x="914400" y="2487168"/>
            <a:ext cx="4663440" cy="2926080"/>
          </a:xfrm>
          <a:prstGeom prst="rect">
            <a:avLst/>
          </a:prstGeom>
          <a:noFill/>
          <a:ln/>
        </p:spPr>
        <p:txBody>
          <a:bodyPr wrap="square" lIns="0" tIns="0" rIns="0" bIns="0" rtlCol="0" anchor="t"/>
          <a:lstStyle/>
          <a:p>
            <a:pPr marL="342900" indent="-342900">
              <a:lnSpc>
                <a:spcPts val="1900"/>
              </a:lnSpc>
              <a:spcAft>
                <a:spcPts val="1100"/>
              </a:spcAft>
              <a:buSzPct val="100000"/>
              <a:buChar char="•"/>
            </a:pPr>
            <a:r>
              <a:rPr lang="en-US" sz="1350" dirty="0">
                <a:solidFill>
                  <a:srgbClr val="16241D"/>
                </a:solidFill>
                <a:latin typeface="Calibri" pitchFamily="34" charset="0"/>
                <a:ea typeface="Calibri" pitchFamily="34" charset="-122"/>
                <a:cs typeface="Calibri" pitchFamily="34" charset="-120"/>
              </a:rPr>
              <a:t>Soil is sampled once, at the start of the planting cycle, and sent to a laboratory.</a:t>
            </a:r>
            <a:endParaRPr lang="en-US" sz="1350" dirty="0"/>
          </a:p>
          <a:p>
            <a:pPr marL="342900" indent="-342900">
              <a:lnSpc>
                <a:spcPts val="1900"/>
              </a:lnSpc>
              <a:spcAft>
                <a:spcPts val="1100"/>
              </a:spcAft>
              <a:buSzPct val="100000"/>
              <a:buChar char="•"/>
            </a:pPr>
            <a:r>
              <a:rPr lang="en-US" sz="1350" dirty="0">
                <a:solidFill>
                  <a:srgbClr val="16241D"/>
                </a:solidFill>
                <a:latin typeface="Calibri" pitchFamily="34" charset="0"/>
                <a:ea typeface="Calibri" pitchFamily="34" charset="-122"/>
                <a:cs typeface="Calibri" pitchFamily="34" charset="-120"/>
              </a:rPr>
              <a:t>That single result determines fertiliser for the whole season.</a:t>
            </a:r>
            <a:endParaRPr lang="en-US" sz="1350" dirty="0"/>
          </a:p>
          <a:p>
            <a:pPr marL="342900" indent="-342900">
              <a:lnSpc>
                <a:spcPts val="1900"/>
              </a:lnSpc>
              <a:spcAft>
                <a:spcPts val="1100"/>
              </a:spcAft>
              <a:buSzPct val="100000"/>
              <a:buChar char="•"/>
            </a:pPr>
            <a:r>
              <a:rPr lang="en-US" sz="1350" dirty="0">
                <a:solidFill>
                  <a:srgbClr val="16241D"/>
                </a:solidFill>
                <a:latin typeface="Calibri" pitchFamily="34" charset="0"/>
                <a:ea typeface="Calibri" pitchFamily="34" charset="-122"/>
                <a:cs typeface="Calibri" pitchFamily="34" charset="-120"/>
              </a:rPr>
              <a:t>Between those points no continuous measurement is reviewed.</a:t>
            </a:r>
            <a:endParaRPr lang="en-US" sz="1350" dirty="0"/>
          </a:p>
          <a:p>
            <a:pPr marL="342900" indent="-342900">
              <a:lnSpc>
                <a:spcPts val="1900"/>
              </a:lnSpc>
              <a:spcAft>
                <a:spcPts val="1100"/>
              </a:spcAft>
              <a:buSzPct val="100000"/>
              <a:buChar char="•"/>
            </a:pPr>
            <a:r>
              <a:rPr lang="en-US" sz="1350" dirty="0">
                <a:solidFill>
                  <a:srgbClr val="16241D"/>
                </a:solidFill>
                <a:latin typeface="Calibri" pitchFamily="34" charset="0"/>
                <a:ea typeface="Calibri" pitchFamily="34" charset="-122"/>
                <a:cs typeface="Calibri" pitchFamily="34" charset="-120"/>
              </a:rPr>
              <a:t>Conditions are assessed by physically visiting each of the three sites.</a:t>
            </a:r>
            <a:endParaRPr lang="en-US" sz="1350" dirty="0"/>
          </a:p>
        </p:txBody>
      </p:sp>
      <p:sp>
        <p:nvSpPr>
          <p:cNvPr id="10" name="Shape 8"/>
          <p:cNvSpPr/>
          <p:nvPr/>
        </p:nvSpPr>
        <p:spPr>
          <a:xfrm>
            <a:off x="6355080" y="1783080"/>
            <a:ext cx="5193792" cy="3931920"/>
          </a:xfrm>
          <a:prstGeom prst="roundRect">
            <a:avLst>
              <a:gd name="adj" fmla="val 2093"/>
            </a:avLst>
          </a:prstGeom>
          <a:solidFill>
            <a:srgbClr val="FFFFFF"/>
          </a:solidFill>
          <a:ln w="12700">
            <a:solidFill>
              <a:srgbClr val="E0E7E1"/>
            </a:solidFill>
            <a:prstDash val="solid"/>
          </a:ln>
        </p:spPr>
      </p:sp>
      <p:sp>
        <p:nvSpPr>
          <p:cNvPr id="11" name="Text 9"/>
          <p:cNvSpPr txBox="1"/>
          <p:nvPr/>
        </p:nvSpPr>
        <p:spPr>
          <a:xfrm>
            <a:off x="6629400" y="2057400"/>
            <a:ext cx="4663440" cy="329184"/>
          </a:xfrm>
          <a:prstGeom prst="rect">
            <a:avLst/>
          </a:prstGeom>
          <a:noFill/>
          <a:ln/>
        </p:spPr>
        <p:txBody>
          <a:bodyPr wrap="square" lIns="0" tIns="0" rIns="0" bIns="0" rtlCol="0" anchor="ctr"/>
          <a:lstStyle/>
          <a:p>
            <a:pPr indent="0" marL="0">
              <a:buNone/>
            </a:pPr>
            <a:r>
              <a:rPr lang="en-US" sz="1400" b="1" dirty="0">
                <a:solidFill>
                  <a:srgbClr val="AE5C34"/>
                </a:solidFill>
                <a:latin typeface="Calibri" pitchFamily="34" charset="0"/>
                <a:ea typeface="Calibri" pitchFamily="34" charset="-122"/>
                <a:cs typeface="Calibri" pitchFamily="34" charset="-120"/>
              </a:rPr>
              <a:t>What that costs them</a:t>
            </a:r>
            <a:endParaRPr lang="en-US" sz="1400" dirty="0"/>
          </a:p>
        </p:txBody>
      </p:sp>
      <p:sp>
        <p:nvSpPr>
          <p:cNvPr id="12" name="Shape 10"/>
          <p:cNvSpPr/>
          <p:nvPr/>
        </p:nvSpPr>
        <p:spPr>
          <a:xfrm>
            <a:off x="6629400" y="2596896"/>
            <a:ext cx="41148" cy="237744"/>
          </a:xfrm>
          <a:prstGeom prst="rect">
            <a:avLst/>
          </a:prstGeom>
          <a:solidFill>
            <a:srgbClr val="AE5C34"/>
          </a:solidFill>
          <a:ln w="12700">
            <a:solidFill>
              <a:srgbClr val="AE5C34"/>
            </a:solidFill>
            <a:prstDash val="solid"/>
          </a:ln>
        </p:spPr>
      </p:sp>
      <p:sp>
        <p:nvSpPr>
          <p:cNvPr id="13" name="Text 11"/>
          <p:cNvSpPr txBox="1"/>
          <p:nvPr/>
        </p:nvSpPr>
        <p:spPr>
          <a:xfrm>
            <a:off x="6812280" y="2542032"/>
            <a:ext cx="4480560" cy="292608"/>
          </a:xfrm>
          <a:prstGeom prst="rect">
            <a:avLst/>
          </a:prstGeom>
          <a:noFill/>
          <a:ln/>
        </p:spPr>
        <p:txBody>
          <a:bodyPr wrap="square" lIns="0" tIns="0" rIns="0" bIns="0" rtlCol="0" anchor="ctr"/>
          <a:lstStyle/>
          <a:p>
            <a:pPr indent="0" marL="0">
              <a:buNone/>
            </a:pPr>
            <a:r>
              <a:rPr lang="en-US" sz="1400" b="1" dirty="0">
                <a:solidFill>
                  <a:srgbClr val="16241D"/>
                </a:solidFill>
                <a:latin typeface="Calibri" pitchFamily="34" charset="0"/>
                <a:ea typeface="Calibri" pitchFamily="34" charset="-122"/>
                <a:cs typeface="Calibri" pitchFamily="34" charset="-120"/>
              </a:rPr>
              <a:t>Change is noticed late</a:t>
            </a:r>
            <a:endParaRPr lang="en-US" sz="1400" dirty="0"/>
          </a:p>
        </p:txBody>
      </p:sp>
      <p:sp>
        <p:nvSpPr>
          <p:cNvPr id="14" name="Text 12"/>
          <p:cNvSpPr txBox="1"/>
          <p:nvPr/>
        </p:nvSpPr>
        <p:spPr>
          <a:xfrm>
            <a:off x="6812280" y="2852928"/>
            <a:ext cx="4480560" cy="640080"/>
          </a:xfrm>
          <a:prstGeom prst="rect">
            <a:avLst/>
          </a:prstGeom>
          <a:noFill/>
          <a:ln/>
        </p:spPr>
        <p:txBody>
          <a:bodyPr wrap="square" lIns="0" tIns="0" rIns="0" bIns="0" rtlCol="0" anchor="t"/>
          <a:lstStyle/>
          <a:p>
            <a:pPr indent="0" marL="0">
              <a:lnSpc>
                <a:spcPts val="1600"/>
              </a:lnSpc>
              <a:buNone/>
            </a:pPr>
            <a:r>
              <a:rPr lang="en-US" sz="1200" dirty="0">
                <a:solidFill>
                  <a:srgbClr val="6E7D73"/>
                </a:solidFill>
                <a:latin typeface="Calibri" pitchFamily="34" charset="0"/>
                <a:ea typeface="Calibri" pitchFamily="34" charset="-122"/>
                <a:cs typeface="Calibri" pitchFamily="34" charset="-120"/>
              </a:rPr>
              <a:t>Low moisture or unusual nutrient levels are found when they become visible, not when they occur.</a:t>
            </a:r>
            <a:endParaRPr lang="en-US" sz="1200" dirty="0"/>
          </a:p>
        </p:txBody>
      </p:sp>
      <p:sp>
        <p:nvSpPr>
          <p:cNvPr id="15" name="Shape 13"/>
          <p:cNvSpPr/>
          <p:nvPr/>
        </p:nvSpPr>
        <p:spPr>
          <a:xfrm>
            <a:off x="6629400" y="3639312"/>
            <a:ext cx="41148" cy="237744"/>
          </a:xfrm>
          <a:prstGeom prst="rect">
            <a:avLst/>
          </a:prstGeom>
          <a:solidFill>
            <a:srgbClr val="AE5C34"/>
          </a:solidFill>
          <a:ln w="12700">
            <a:solidFill>
              <a:srgbClr val="AE5C34"/>
            </a:solidFill>
            <a:prstDash val="solid"/>
          </a:ln>
        </p:spPr>
      </p:sp>
      <p:sp>
        <p:nvSpPr>
          <p:cNvPr id="16" name="Text 14"/>
          <p:cNvSpPr txBox="1"/>
          <p:nvPr/>
        </p:nvSpPr>
        <p:spPr>
          <a:xfrm>
            <a:off x="6812280" y="3584448"/>
            <a:ext cx="4480560" cy="292608"/>
          </a:xfrm>
          <a:prstGeom prst="rect">
            <a:avLst/>
          </a:prstGeom>
          <a:noFill/>
          <a:ln/>
        </p:spPr>
        <p:txBody>
          <a:bodyPr wrap="square" lIns="0" tIns="0" rIns="0" bIns="0" rtlCol="0" anchor="ctr"/>
          <a:lstStyle/>
          <a:p>
            <a:pPr indent="0" marL="0">
              <a:buNone/>
            </a:pPr>
            <a:r>
              <a:rPr lang="en-US" sz="1400" b="1" dirty="0">
                <a:solidFill>
                  <a:srgbClr val="16241D"/>
                </a:solidFill>
                <a:latin typeface="Calibri" pitchFamily="34" charset="0"/>
                <a:ea typeface="Calibri" pitchFamily="34" charset="-122"/>
                <a:cs typeface="Calibri" pitchFamily="34" charset="-120"/>
              </a:rPr>
              <a:t>Three sites cannot be watched</a:t>
            </a:r>
            <a:endParaRPr lang="en-US" sz="1400" dirty="0"/>
          </a:p>
        </p:txBody>
      </p:sp>
      <p:sp>
        <p:nvSpPr>
          <p:cNvPr id="17" name="Text 15"/>
          <p:cNvSpPr txBox="1"/>
          <p:nvPr/>
        </p:nvSpPr>
        <p:spPr>
          <a:xfrm>
            <a:off x="6812280" y="3895344"/>
            <a:ext cx="4480560" cy="640080"/>
          </a:xfrm>
          <a:prstGeom prst="rect">
            <a:avLst/>
          </a:prstGeom>
          <a:noFill/>
          <a:ln/>
        </p:spPr>
        <p:txBody>
          <a:bodyPr wrap="square" lIns="0" tIns="0" rIns="0" bIns="0" rtlCol="0" anchor="t"/>
          <a:lstStyle/>
          <a:p>
            <a:pPr indent="0" marL="0">
              <a:lnSpc>
                <a:spcPts val="1600"/>
              </a:lnSpc>
              <a:buNone/>
            </a:pPr>
            <a:r>
              <a:rPr lang="en-US" sz="1200" dirty="0">
                <a:solidFill>
                  <a:srgbClr val="6E7D73"/>
                </a:solidFill>
                <a:latin typeface="Calibri" pitchFamily="34" charset="0"/>
                <a:ea typeface="Calibri" pitchFamily="34" charset="-122"/>
                <a:cs typeface="Calibri" pitchFamily="34" charset="-120"/>
              </a:rPr>
              <a:t>Physical inspection across three locations is not frequent enough to be useful.</a:t>
            </a:r>
            <a:endParaRPr lang="en-US" sz="1200" dirty="0"/>
          </a:p>
        </p:txBody>
      </p:sp>
      <p:sp>
        <p:nvSpPr>
          <p:cNvPr id="18" name="Shape 16"/>
          <p:cNvSpPr/>
          <p:nvPr/>
        </p:nvSpPr>
        <p:spPr>
          <a:xfrm>
            <a:off x="6629400" y="4681728"/>
            <a:ext cx="41148" cy="237744"/>
          </a:xfrm>
          <a:prstGeom prst="rect">
            <a:avLst/>
          </a:prstGeom>
          <a:solidFill>
            <a:srgbClr val="AE5C34"/>
          </a:solidFill>
          <a:ln w="12700">
            <a:solidFill>
              <a:srgbClr val="AE5C34"/>
            </a:solidFill>
            <a:prstDash val="solid"/>
          </a:ln>
        </p:spPr>
      </p:sp>
      <p:sp>
        <p:nvSpPr>
          <p:cNvPr id="19" name="Text 17"/>
          <p:cNvSpPr txBox="1"/>
          <p:nvPr/>
        </p:nvSpPr>
        <p:spPr>
          <a:xfrm>
            <a:off x="6812280" y="4626864"/>
            <a:ext cx="4480560" cy="292608"/>
          </a:xfrm>
          <a:prstGeom prst="rect">
            <a:avLst/>
          </a:prstGeom>
          <a:noFill/>
          <a:ln/>
        </p:spPr>
        <p:txBody>
          <a:bodyPr wrap="square" lIns="0" tIns="0" rIns="0" bIns="0" rtlCol="0" anchor="ctr"/>
          <a:lstStyle/>
          <a:p>
            <a:pPr indent="0" marL="0">
              <a:buNone/>
            </a:pPr>
            <a:r>
              <a:rPr lang="en-US" sz="1400" b="1" dirty="0">
                <a:solidFill>
                  <a:srgbClr val="16241D"/>
                </a:solidFill>
                <a:latin typeface="Calibri" pitchFamily="34" charset="0"/>
                <a:ea typeface="Calibri" pitchFamily="34" charset="-122"/>
                <a:cs typeface="Calibri" pitchFamily="34" charset="-120"/>
              </a:rPr>
              <a:t>Equipment failure is invisible</a:t>
            </a:r>
            <a:endParaRPr lang="en-US" sz="1400" dirty="0"/>
          </a:p>
        </p:txBody>
      </p:sp>
      <p:sp>
        <p:nvSpPr>
          <p:cNvPr id="20" name="Text 18"/>
          <p:cNvSpPr txBox="1"/>
          <p:nvPr/>
        </p:nvSpPr>
        <p:spPr>
          <a:xfrm>
            <a:off x="6812280" y="4937760"/>
            <a:ext cx="4480560" cy="640080"/>
          </a:xfrm>
          <a:prstGeom prst="rect">
            <a:avLst/>
          </a:prstGeom>
          <a:noFill/>
          <a:ln/>
        </p:spPr>
        <p:txBody>
          <a:bodyPr wrap="square" lIns="0" tIns="0" rIns="0" bIns="0" rtlCol="0" anchor="t"/>
          <a:lstStyle/>
          <a:p>
            <a:pPr indent="0" marL="0">
              <a:lnSpc>
                <a:spcPts val="1600"/>
              </a:lnSpc>
              <a:buNone/>
            </a:pPr>
            <a:r>
              <a:rPr lang="en-US" sz="1200" dirty="0">
                <a:solidFill>
                  <a:srgbClr val="6E7D73"/>
                </a:solidFill>
                <a:latin typeface="Calibri" pitchFamily="34" charset="0"/>
                <a:ea typeface="Calibri" pitchFamily="34" charset="-122"/>
                <a:cs typeface="Calibri" pitchFamily="34" charset="-120"/>
              </a:rPr>
              <a:t>A sensor that has stopped reporting looks the same as one reporting normal conditions.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CURRENT PROCESS</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Ayatolla Pikwa</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Where the information stops</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9</a:t>
            </a:r>
            <a:endParaRPr lang="en-US" sz="1000" dirty="0"/>
          </a:p>
        </p:txBody>
      </p:sp>
      <p:pic>
        <p:nvPicPr>
          <p:cNvPr id="7" name="Image 0" descr="preencoded.png">    </p:cNvPr>
          <p:cNvPicPr>
            <a:picLocks noChangeAspect="1"/>
          </p:cNvPicPr>
          <p:nvPr/>
        </p:nvPicPr>
        <p:blipFill>
          <a:blip r:embed="rId1"/>
          <a:stretch>
            <a:fillRect/>
          </a:stretch>
        </p:blipFill>
        <p:spPr>
          <a:xfrm>
            <a:off x="2331720" y="1536192"/>
            <a:ext cx="7498080" cy="41605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STATEMENT</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Ayatolla Pikwa</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The problem statement</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10</a:t>
            </a:r>
            <a:endParaRPr lang="en-US" sz="1000" dirty="0"/>
          </a:p>
        </p:txBody>
      </p:sp>
      <p:sp>
        <p:nvSpPr>
          <p:cNvPr id="7" name="Shape 5"/>
          <p:cNvSpPr/>
          <p:nvPr/>
        </p:nvSpPr>
        <p:spPr>
          <a:xfrm>
            <a:off x="640080" y="1737360"/>
            <a:ext cx="10899648" cy="1828800"/>
          </a:xfrm>
          <a:prstGeom prst="roundRect">
            <a:avLst>
              <a:gd name="adj" fmla="val 4500"/>
            </a:avLst>
          </a:prstGeom>
          <a:solidFill>
            <a:srgbClr val="EFE7DC"/>
          </a:solidFill>
          <a:ln w="12700">
            <a:solidFill>
              <a:srgbClr val="EFE7DC"/>
            </a:solidFill>
            <a:prstDash val="solid"/>
          </a:ln>
        </p:spPr>
      </p:sp>
      <p:sp>
        <p:nvSpPr>
          <p:cNvPr id="8" name="Text 6"/>
          <p:cNvSpPr txBox="1"/>
          <p:nvPr/>
        </p:nvSpPr>
        <p:spPr>
          <a:xfrm>
            <a:off x="1051560" y="1993392"/>
            <a:ext cx="9966960" cy="1371600"/>
          </a:xfrm>
          <a:prstGeom prst="rect">
            <a:avLst/>
          </a:prstGeom>
          <a:noFill/>
          <a:ln/>
        </p:spPr>
        <p:txBody>
          <a:bodyPr wrap="square" lIns="0" tIns="0" rIns="0" bIns="0" rtlCol="0" anchor="t"/>
          <a:lstStyle/>
          <a:p>
            <a:pPr indent="0" marL="0">
              <a:lnSpc>
                <a:spcPts val="2400"/>
              </a:lnSpc>
              <a:buNone/>
            </a:pPr>
            <a:r>
              <a:rPr lang="en-US" sz="1500" dirty="0">
                <a:solidFill>
                  <a:srgbClr val="16241D"/>
                </a:solidFill>
                <a:latin typeface="Calibri" pitchFamily="34" charset="0"/>
                <a:ea typeface="Calibri" pitchFamily="34" charset="-122"/>
                <a:cs typeface="Calibri" pitchFamily="34" charset="-120"/>
              </a:rPr>
              <a:t>The organisation currently uses single-point laboratory soil sampling and physical inspection to assess soil condition across three agricultural locations. This results in significant changes being identified late, while measurements capable of revealing those changes are produced continuously by fifteen deployed sensors and are not accessible in any usable form.</a:t>
            </a:r>
            <a:endParaRPr lang="en-US" sz="1500" dirty="0"/>
          </a:p>
        </p:txBody>
      </p:sp>
      <p:sp>
        <p:nvSpPr>
          <p:cNvPr id="9" name="Text 7"/>
          <p:cNvSpPr txBox="1"/>
          <p:nvPr/>
        </p:nvSpPr>
        <p:spPr>
          <a:xfrm>
            <a:off x="640080" y="3785616"/>
            <a:ext cx="2377440" cy="310896"/>
          </a:xfrm>
          <a:prstGeom prst="rect">
            <a:avLst/>
          </a:prstGeom>
          <a:noFill/>
          <a:ln/>
        </p:spPr>
        <p:txBody>
          <a:bodyPr wrap="square" lIns="0" tIns="0" rIns="0" bIns="0" rtlCol="0" anchor="ctr"/>
          <a:lstStyle/>
          <a:p>
            <a:pPr indent="0" marL="0">
              <a:buNone/>
            </a:pPr>
            <a:r>
              <a:rPr lang="en-US" sz="1250" b="1" dirty="0">
                <a:solidFill>
                  <a:srgbClr val="1F6F6B"/>
                </a:solidFill>
                <a:latin typeface="Calibri" pitchFamily="34" charset="0"/>
                <a:ea typeface="Calibri" pitchFamily="34" charset="-122"/>
                <a:cs typeface="Calibri" pitchFamily="34" charset="-120"/>
              </a:rPr>
              <a:t>Current situation</a:t>
            </a:r>
            <a:endParaRPr lang="en-US" sz="1250" dirty="0"/>
          </a:p>
        </p:txBody>
      </p:sp>
      <p:sp>
        <p:nvSpPr>
          <p:cNvPr id="10" name="Text 8"/>
          <p:cNvSpPr txBox="1"/>
          <p:nvPr/>
        </p:nvSpPr>
        <p:spPr>
          <a:xfrm>
            <a:off x="3200400" y="3785616"/>
            <a:ext cx="8321040" cy="310896"/>
          </a:xfrm>
          <a:prstGeom prst="rect">
            <a:avLst/>
          </a:prstGeom>
          <a:noFill/>
          <a:ln/>
        </p:spPr>
        <p:txBody>
          <a:bodyPr wrap="square" lIns="0" tIns="0" rIns="0" bIns="0" rtlCol="0" anchor="ctr"/>
          <a:lstStyle/>
          <a:p>
            <a:pPr indent="0" marL="0">
              <a:buNone/>
            </a:pPr>
            <a:r>
              <a:rPr lang="en-US" sz="1250" dirty="0">
                <a:solidFill>
                  <a:srgbClr val="16241D"/>
                </a:solidFill>
                <a:latin typeface="Calibri" pitchFamily="34" charset="0"/>
                <a:ea typeface="Calibri" pitchFamily="34" charset="-122"/>
                <a:cs typeface="Calibri" pitchFamily="34" charset="-120"/>
              </a:rPr>
              <a:t>Sampled once per cycle; sensor readings not presented in a usable form</a:t>
            </a:r>
            <a:endParaRPr lang="en-US" sz="1250" dirty="0"/>
          </a:p>
        </p:txBody>
      </p:sp>
      <p:sp>
        <p:nvSpPr>
          <p:cNvPr id="11" name="Text 9"/>
          <p:cNvSpPr txBox="1"/>
          <p:nvPr/>
        </p:nvSpPr>
        <p:spPr>
          <a:xfrm>
            <a:off x="640080" y="4288536"/>
            <a:ext cx="2377440" cy="310896"/>
          </a:xfrm>
          <a:prstGeom prst="rect">
            <a:avLst/>
          </a:prstGeom>
          <a:noFill/>
          <a:ln/>
        </p:spPr>
        <p:txBody>
          <a:bodyPr wrap="square" lIns="0" tIns="0" rIns="0" bIns="0" rtlCol="0" anchor="ctr"/>
          <a:lstStyle/>
          <a:p>
            <a:pPr indent="0" marL="0">
              <a:buNone/>
            </a:pPr>
            <a:r>
              <a:rPr lang="en-US" sz="1250" b="1" dirty="0">
                <a:solidFill>
                  <a:srgbClr val="1F6F6B"/>
                </a:solidFill>
                <a:latin typeface="Calibri" pitchFamily="34" charset="0"/>
                <a:ea typeface="Calibri" pitchFamily="34" charset="-122"/>
                <a:cs typeface="Calibri" pitchFamily="34" charset="-120"/>
              </a:rPr>
              <a:t>Problem</a:t>
            </a:r>
            <a:endParaRPr lang="en-US" sz="1250" dirty="0"/>
          </a:p>
        </p:txBody>
      </p:sp>
      <p:sp>
        <p:nvSpPr>
          <p:cNvPr id="12" name="Text 10"/>
          <p:cNvSpPr txBox="1"/>
          <p:nvPr/>
        </p:nvSpPr>
        <p:spPr>
          <a:xfrm>
            <a:off x="3200400" y="4288536"/>
            <a:ext cx="8321040" cy="310896"/>
          </a:xfrm>
          <a:prstGeom prst="rect">
            <a:avLst/>
          </a:prstGeom>
          <a:noFill/>
          <a:ln/>
        </p:spPr>
        <p:txBody>
          <a:bodyPr wrap="square" lIns="0" tIns="0" rIns="0" bIns="0" rtlCol="0" anchor="ctr"/>
          <a:lstStyle/>
          <a:p>
            <a:pPr indent="0" marL="0">
              <a:buNone/>
            </a:pPr>
            <a:r>
              <a:rPr lang="en-US" sz="1250" dirty="0">
                <a:solidFill>
                  <a:srgbClr val="16241D"/>
                </a:solidFill>
                <a:latin typeface="Calibri" pitchFamily="34" charset="0"/>
                <a:ea typeface="Calibri" pitchFamily="34" charset="-122"/>
                <a:cs typeface="Calibri" pitchFamily="34" charset="-120"/>
              </a:rPr>
              <a:t>Significant change in soil and environmental condition is identified late</a:t>
            </a:r>
            <a:endParaRPr lang="en-US" sz="1250" dirty="0"/>
          </a:p>
        </p:txBody>
      </p:sp>
      <p:sp>
        <p:nvSpPr>
          <p:cNvPr id="13" name="Text 11"/>
          <p:cNvSpPr txBox="1"/>
          <p:nvPr/>
        </p:nvSpPr>
        <p:spPr>
          <a:xfrm>
            <a:off x="640080" y="4791456"/>
            <a:ext cx="2377440" cy="310896"/>
          </a:xfrm>
          <a:prstGeom prst="rect">
            <a:avLst/>
          </a:prstGeom>
          <a:noFill/>
          <a:ln/>
        </p:spPr>
        <p:txBody>
          <a:bodyPr wrap="square" lIns="0" tIns="0" rIns="0" bIns="0" rtlCol="0" anchor="ctr"/>
          <a:lstStyle/>
          <a:p>
            <a:pPr indent="0" marL="0">
              <a:buNone/>
            </a:pPr>
            <a:r>
              <a:rPr lang="en-US" sz="1250" b="1" dirty="0">
                <a:solidFill>
                  <a:srgbClr val="1F6F6B"/>
                </a:solidFill>
                <a:latin typeface="Calibri" pitchFamily="34" charset="0"/>
                <a:ea typeface="Calibri" pitchFamily="34" charset="-122"/>
                <a:cs typeface="Calibri" pitchFamily="34" charset="-120"/>
              </a:rPr>
              <a:t>Affected users</a:t>
            </a:r>
            <a:endParaRPr lang="en-US" sz="1250" dirty="0"/>
          </a:p>
        </p:txBody>
      </p:sp>
      <p:sp>
        <p:nvSpPr>
          <p:cNvPr id="14" name="Text 12"/>
          <p:cNvSpPr txBox="1"/>
          <p:nvPr/>
        </p:nvSpPr>
        <p:spPr>
          <a:xfrm>
            <a:off x="3200400" y="4791456"/>
            <a:ext cx="8321040" cy="310896"/>
          </a:xfrm>
          <a:prstGeom prst="rect">
            <a:avLst/>
          </a:prstGeom>
          <a:noFill/>
          <a:ln/>
        </p:spPr>
        <p:txBody>
          <a:bodyPr wrap="square" lIns="0" tIns="0" rIns="0" bIns="0" rtlCol="0" anchor="ctr"/>
          <a:lstStyle/>
          <a:p>
            <a:pPr indent="0" marL="0">
              <a:buNone/>
            </a:pPr>
            <a:r>
              <a:rPr lang="en-US" sz="1250" dirty="0">
                <a:solidFill>
                  <a:srgbClr val="16241D"/>
                </a:solidFill>
                <a:latin typeface="Calibri" pitchFamily="34" charset="0"/>
                <a:ea typeface="Calibri" pitchFamily="34" charset="-122"/>
                <a:cs typeface="Calibri" pitchFamily="34" charset="-120"/>
              </a:rPr>
              <a:t>Site or farm manager, agricultural staff, field workers, researchers</a:t>
            </a:r>
            <a:endParaRPr lang="en-US" sz="1250" dirty="0"/>
          </a:p>
        </p:txBody>
      </p:sp>
      <p:sp>
        <p:nvSpPr>
          <p:cNvPr id="15" name="Text 13"/>
          <p:cNvSpPr txBox="1"/>
          <p:nvPr/>
        </p:nvSpPr>
        <p:spPr>
          <a:xfrm>
            <a:off x="640080" y="5294376"/>
            <a:ext cx="2377440" cy="310896"/>
          </a:xfrm>
          <a:prstGeom prst="rect">
            <a:avLst/>
          </a:prstGeom>
          <a:noFill/>
          <a:ln/>
        </p:spPr>
        <p:txBody>
          <a:bodyPr wrap="square" lIns="0" tIns="0" rIns="0" bIns="0" rtlCol="0" anchor="ctr"/>
          <a:lstStyle/>
          <a:p>
            <a:pPr indent="0" marL="0">
              <a:buNone/>
            </a:pPr>
            <a:r>
              <a:rPr lang="en-US" sz="1250" b="1" dirty="0">
                <a:solidFill>
                  <a:srgbClr val="1F6F6B"/>
                </a:solidFill>
                <a:latin typeface="Calibri" pitchFamily="34" charset="0"/>
                <a:ea typeface="Calibri" pitchFamily="34" charset="-122"/>
                <a:cs typeface="Calibri" pitchFamily="34" charset="-120"/>
              </a:rPr>
              <a:t>Consequences</a:t>
            </a:r>
            <a:endParaRPr lang="en-US" sz="1250" dirty="0"/>
          </a:p>
        </p:txBody>
      </p:sp>
      <p:sp>
        <p:nvSpPr>
          <p:cNvPr id="16" name="Text 14"/>
          <p:cNvSpPr txBox="1"/>
          <p:nvPr/>
        </p:nvSpPr>
        <p:spPr>
          <a:xfrm>
            <a:off x="3200400" y="5294376"/>
            <a:ext cx="8321040" cy="310896"/>
          </a:xfrm>
          <a:prstGeom prst="rect">
            <a:avLst/>
          </a:prstGeom>
          <a:noFill/>
          <a:ln/>
        </p:spPr>
        <p:txBody>
          <a:bodyPr wrap="square" lIns="0" tIns="0" rIns="0" bIns="0" rtlCol="0" anchor="ctr"/>
          <a:lstStyle/>
          <a:p>
            <a:pPr indent="0" marL="0">
              <a:buNone/>
            </a:pPr>
            <a:r>
              <a:rPr lang="en-US" sz="1250" dirty="0">
                <a:solidFill>
                  <a:srgbClr val="16241D"/>
                </a:solidFill>
                <a:latin typeface="Calibri" pitchFamily="34" charset="0"/>
                <a:ea typeface="Calibri" pitchFamily="34" charset="-122"/>
                <a:cs typeface="Calibri" pitchFamily="34" charset="-120"/>
              </a:rPr>
              <a:t>Delayed response to low moisture and unusual nutrient levels; equipment failure unnoticed</a:t>
            </a:r>
            <a:endParaRPr lang="en-US" sz="1250" dirty="0"/>
          </a:p>
        </p:txBody>
      </p:sp>
      <p:sp>
        <p:nvSpPr>
          <p:cNvPr id="17" name="Text 15"/>
          <p:cNvSpPr txBox="1"/>
          <p:nvPr/>
        </p:nvSpPr>
        <p:spPr>
          <a:xfrm>
            <a:off x="640080" y="5797296"/>
            <a:ext cx="2377440" cy="310896"/>
          </a:xfrm>
          <a:prstGeom prst="rect">
            <a:avLst/>
          </a:prstGeom>
          <a:noFill/>
          <a:ln/>
        </p:spPr>
        <p:txBody>
          <a:bodyPr wrap="square" lIns="0" tIns="0" rIns="0" bIns="0" rtlCol="0" anchor="ctr"/>
          <a:lstStyle/>
          <a:p>
            <a:pPr indent="0" marL="0">
              <a:buNone/>
            </a:pPr>
            <a:r>
              <a:rPr lang="en-US" sz="1250" b="1" dirty="0">
                <a:solidFill>
                  <a:srgbClr val="1F6F6B"/>
                </a:solidFill>
                <a:latin typeface="Calibri" pitchFamily="34" charset="0"/>
                <a:ea typeface="Calibri" pitchFamily="34" charset="-122"/>
                <a:cs typeface="Calibri" pitchFamily="34" charset="-120"/>
              </a:rPr>
              <a:t>Need</a:t>
            </a:r>
            <a:endParaRPr lang="en-US" sz="1250" dirty="0"/>
          </a:p>
        </p:txBody>
      </p:sp>
      <p:sp>
        <p:nvSpPr>
          <p:cNvPr id="18" name="Text 16"/>
          <p:cNvSpPr txBox="1"/>
          <p:nvPr/>
        </p:nvSpPr>
        <p:spPr>
          <a:xfrm>
            <a:off x="3200400" y="5797296"/>
            <a:ext cx="8321040" cy="310896"/>
          </a:xfrm>
          <a:prstGeom prst="rect">
            <a:avLst/>
          </a:prstGeom>
          <a:noFill/>
          <a:ln/>
        </p:spPr>
        <p:txBody>
          <a:bodyPr wrap="square" lIns="0" tIns="0" rIns="0" bIns="0" rtlCol="0" anchor="ctr"/>
          <a:lstStyle/>
          <a:p>
            <a:pPr indent="0" marL="0">
              <a:buNone/>
            </a:pPr>
            <a:r>
              <a:rPr lang="en-US" sz="1250" dirty="0">
                <a:solidFill>
                  <a:srgbClr val="16241D"/>
                </a:solidFill>
                <a:latin typeface="Calibri" pitchFamily="34" charset="0"/>
                <a:ea typeface="Calibri" pitchFamily="34" charset="-122"/>
                <a:cs typeface="Calibri" pitchFamily="34" charset="-120"/>
              </a:rPr>
              <a:t>A central system that organises readings and identifies what needs attention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41D"/>
        </a:solidFill>
      </p:bgPr>
    </p:bg>
    <p:spTree>
      <p:nvGrpSpPr>
        <p:cNvPr id="1" name=""/>
        <p:cNvGrpSpPr/>
        <p:nvPr/>
      </p:nvGrpSpPr>
      <p:grpSpPr>
        <a:xfrm>
          <a:off x="0" y="0"/>
          <a:ext cx="0" cy="0"/>
          <a:chOff x="0" y="0"/>
          <a:chExt cx="0" cy="0"/>
        </a:xfrm>
      </p:grpSpPr>
      <p:sp>
        <p:nvSpPr>
          <p:cNvPr id="2" name="Text 0"/>
          <p:cNvSpPr txBox="1"/>
          <p:nvPr/>
        </p:nvSpPr>
        <p:spPr>
          <a:xfrm>
            <a:off x="822960" y="1828800"/>
            <a:ext cx="2011680" cy="1371600"/>
          </a:xfrm>
          <a:prstGeom prst="rect">
            <a:avLst/>
          </a:prstGeom>
          <a:noFill/>
          <a:ln/>
        </p:spPr>
        <p:txBody>
          <a:bodyPr wrap="square" lIns="0" tIns="0" rIns="0" bIns="0" rtlCol="0" anchor="ctr"/>
          <a:lstStyle/>
          <a:p>
            <a:pPr indent="0" marL="0">
              <a:buNone/>
            </a:pPr>
            <a:r>
              <a:rPr lang="en-US" sz="9600" b="1" dirty="0">
                <a:solidFill>
                  <a:srgbClr val="1F6F6B"/>
                </a:solidFill>
                <a:latin typeface="Cambria" pitchFamily="34" charset="0"/>
                <a:ea typeface="Cambria" pitchFamily="34" charset="-122"/>
                <a:cs typeface="Cambria" pitchFamily="34" charset="-120"/>
              </a:rPr>
              <a:t>03</a:t>
            </a:r>
            <a:endParaRPr lang="en-US" sz="9600" dirty="0"/>
          </a:p>
        </p:txBody>
      </p:sp>
      <p:sp>
        <p:nvSpPr>
          <p:cNvPr id="3" name="Text 1"/>
          <p:cNvSpPr txBox="1"/>
          <p:nvPr/>
        </p:nvSpPr>
        <p:spPr>
          <a:xfrm>
            <a:off x="2926080" y="2148840"/>
            <a:ext cx="841248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What is deployed</a:t>
            </a:r>
            <a:endParaRPr lang="en-US" sz="4000" dirty="0"/>
          </a:p>
        </p:txBody>
      </p:sp>
      <p:sp>
        <p:nvSpPr>
          <p:cNvPr id="4" name="Text 2"/>
          <p:cNvSpPr txBox="1"/>
          <p:nvPr/>
        </p:nvSpPr>
        <p:spPr>
          <a:xfrm>
            <a:off x="2926080" y="3063240"/>
            <a:ext cx="7680960" cy="822960"/>
          </a:xfrm>
          <a:prstGeom prst="rect">
            <a:avLst/>
          </a:prstGeom>
          <a:noFill/>
          <a:ln/>
        </p:spPr>
        <p:txBody>
          <a:bodyPr wrap="square" lIns="0" tIns="0" rIns="0" bIns="0" rtlCol="0" anchor="t"/>
          <a:lstStyle/>
          <a:p>
            <a:pPr indent="0" marL="0">
              <a:lnSpc>
                <a:spcPts val="2400"/>
              </a:lnSpc>
              <a:buNone/>
            </a:pPr>
            <a:r>
              <a:rPr lang="en-US" sz="1500" dirty="0">
                <a:solidFill>
                  <a:srgbClr val="A9BCAF"/>
                </a:solidFill>
                <a:latin typeface="Calibri" pitchFamily="34" charset="0"/>
                <a:ea typeface="Calibri" pitchFamily="34" charset="-122"/>
                <a:cs typeface="Calibri" pitchFamily="34" charset="-120"/>
              </a:rPr>
              <a:t>Fifteen devices, three locations, seven soil parameters, a reading every thirty minutes.</a:t>
            </a:r>
            <a:endParaRPr lang="en-US" sz="1500" dirty="0"/>
          </a:p>
        </p:txBody>
      </p:sp>
      <p:sp>
        <p:nvSpPr>
          <p:cNvPr id="5" name="Shape 3"/>
          <p:cNvSpPr/>
          <p:nvPr/>
        </p:nvSpPr>
        <p:spPr>
          <a:xfrm>
            <a:off x="2926080" y="4114800"/>
            <a:ext cx="1005840" cy="32004"/>
          </a:xfrm>
          <a:prstGeom prst="rect">
            <a:avLst/>
          </a:prstGeom>
          <a:solidFill>
            <a:srgbClr val="D9A92C"/>
          </a:solidFill>
          <a:ln w="12700">
            <a:solidFill>
              <a:srgbClr val="D9A92C"/>
            </a:solidFill>
            <a:prstDash val="solid"/>
          </a:ln>
        </p:spPr>
      </p:sp>
      <p:sp>
        <p:nvSpPr>
          <p:cNvPr id="6" name="Text 4"/>
          <p:cNvSpPr txBox="1"/>
          <p:nvPr/>
        </p:nvSpPr>
        <p:spPr>
          <a:xfrm>
            <a:off x="2926080" y="4370832"/>
            <a:ext cx="5486400" cy="310896"/>
          </a:xfrm>
          <a:prstGeom prst="rect">
            <a:avLst/>
          </a:prstGeom>
          <a:noFill/>
          <a:ln/>
        </p:spPr>
        <p:txBody>
          <a:bodyPr wrap="square" lIns="0" tIns="0" rIns="0" bIns="0" rtlCol="0" anchor="ctr"/>
          <a:lstStyle/>
          <a:p>
            <a:pPr indent="0" marL="0">
              <a:buNone/>
            </a:pPr>
            <a:r>
              <a:rPr lang="en-US" sz="1500" b="1" dirty="0">
                <a:solidFill>
                  <a:srgbClr val="D9A92C"/>
                </a:solidFill>
                <a:latin typeface="Calibri" pitchFamily="34" charset="0"/>
                <a:ea typeface="Calibri" pitchFamily="34" charset="-122"/>
                <a:cs typeface="Calibri" pitchFamily="34" charset="-120"/>
              </a:rPr>
              <a:t>Machedi Mamello</a:t>
            </a:r>
            <a:endParaRPr lang="en-US" sz="1500" dirty="0"/>
          </a:p>
        </p:txBody>
      </p:sp>
      <p:sp>
        <p:nvSpPr>
          <p:cNvPr id="7" name="Text 5"/>
          <p:cNvSpPr txBox="1"/>
          <p:nvPr/>
        </p:nvSpPr>
        <p:spPr>
          <a:xfrm>
            <a:off x="2926080" y="4718304"/>
            <a:ext cx="5486400" cy="274320"/>
          </a:xfrm>
          <a:prstGeom prst="rect">
            <a:avLst/>
          </a:prstGeom>
          <a:noFill/>
          <a:ln/>
        </p:spPr>
        <p:txBody>
          <a:bodyPr wrap="square" lIns="0" tIns="0" rIns="0" bIns="0" rtlCol="0" anchor="ctr"/>
          <a:lstStyle/>
          <a:p>
            <a:pPr indent="0" marL="0">
              <a:buNone/>
            </a:pPr>
            <a:r>
              <a:rPr lang="en-US" sz="1200" dirty="0">
                <a:solidFill>
                  <a:srgbClr val="A9BCAF"/>
                </a:solidFill>
                <a:latin typeface="Calibri" pitchFamily="34" charset="0"/>
                <a:ea typeface="Calibri" pitchFamily="34" charset="-122"/>
                <a:cs typeface="Calibri" pitchFamily="34" charset="-120"/>
              </a:rPr>
              <a:t>3 minutes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DEPLOYMENT</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Machedi Mamello</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Fifteen sensors already in the ground</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12</a:t>
            </a:r>
            <a:endParaRPr lang="en-US" sz="1000" dirty="0"/>
          </a:p>
        </p:txBody>
      </p:sp>
      <p:pic>
        <p:nvPicPr>
          <p:cNvPr id="7" name="Image 0" descr="preencoded.png">    </p:cNvPr>
          <p:cNvPicPr>
            <a:picLocks noChangeAspect="1"/>
          </p:cNvPicPr>
          <p:nvPr/>
        </p:nvPicPr>
        <p:blipFill>
          <a:blip r:embed="rId1"/>
          <a:stretch>
            <a:fillRect/>
          </a:stretch>
        </p:blipFill>
        <p:spPr>
          <a:xfrm>
            <a:off x="685800" y="1737360"/>
            <a:ext cx="10789920" cy="418795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MEASUREMENT</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Machedi Mamello</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Seven parameters, every thirty minutes</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13</a:t>
            </a:r>
            <a:endParaRPr lang="en-US" sz="1000" dirty="0"/>
          </a:p>
        </p:txBody>
      </p:sp>
      <p:sp>
        <p:nvSpPr>
          <p:cNvPr id="7" name="Shape 5"/>
          <p:cNvSpPr/>
          <p:nvPr/>
        </p:nvSpPr>
        <p:spPr>
          <a:xfrm>
            <a:off x="640080" y="1737360"/>
            <a:ext cx="2587752" cy="1371600"/>
          </a:xfrm>
          <a:prstGeom prst="roundRect">
            <a:avLst>
              <a:gd name="adj" fmla="val 6000"/>
            </a:avLst>
          </a:prstGeom>
          <a:solidFill>
            <a:srgbClr val="EFE7DC"/>
          </a:solidFill>
          <a:ln w="12700">
            <a:solidFill>
              <a:srgbClr val="EFE7DC"/>
            </a:solidFill>
            <a:prstDash val="solid"/>
          </a:ln>
        </p:spPr>
      </p:sp>
      <p:sp>
        <p:nvSpPr>
          <p:cNvPr id="8" name="Text 6"/>
          <p:cNvSpPr txBox="1"/>
          <p:nvPr/>
        </p:nvSpPr>
        <p:spPr>
          <a:xfrm>
            <a:off x="658368" y="1920240"/>
            <a:ext cx="2551176" cy="658368"/>
          </a:xfrm>
          <a:prstGeom prst="rect">
            <a:avLst/>
          </a:prstGeom>
          <a:noFill/>
          <a:ln/>
        </p:spPr>
        <p:txBody>
          <a:bodyPr wrap="square" lIns="0" tIns="0" rIns="0" bIns="0" rtlCol="0" anchor="ctr"/>
          <a:lstStyle/>
          <a:p>
            <a:pPr algn="ctr" indent="0" marL="0">
              <a:buNone/>
            </a:pPr>
            <a:r>
              <a:rPr lang="en-US" sz="4000" b="1" dirty="0">
                <a:solidFill>
                  <a:srgbClr val="2F5D3A"/>
                </a:solidFill>
                <a:latin typeface="Cambria" pitchFamily="34" charset="0"/>
                <a:ea typeface="Cambria" pitchFamily="34" charset="-122"/>
                <a:cs typeface="Cambria" pitchFamily="34" charset="-120"/>
              </a:rPr>
              <a:t>7</a:t>
            </a:r>
            <a:endParaRPr lang="en-US" sz="4000" dirty="0"/>
          </a:p>
        </p:txBody>
      </p:sp>
      <p:sp>
        <p:nvSpPr>
          <p:cNvPr id="9" name="Text 7"/>
          <p:cNvSpPr txBox="1"/>
          <p:nvPr/>
        </p:nvSpPr>
        <p:spPr>
          <a:xfrm>
            <a:off x="731520" y="2596896"/>
            <a:ext cx="2404872" cy="402336"/>
          </a:xfrm>
          <a:prstGeom prst="rect">
            <a:avLst/>
          </a:prstGeom>
          <a:noFill/>
          <a:ln/>
        </p:spPr>
        <p:txBody>
          <a:bodyPr wrap="square" lIns="0" tIns="0" rIns="0" bIns="0" rtlCol="0" anchor="t"/>
          <a:lstStyle/>
          <a:p>
            <a:pPr algn="ctr" indent="0" marL="0">
              <a:buNone/>
            </a:pPr>
            <a:r>
              <a:rPr lang="en-US" sz="1200" dirty="0">
                <a:solidFill>
                  <a:srgbClr val="6E7D73"/>
                </a:solidFill>
                <a:latin typeface="Calibri" pitchFamily="34" charset="0"/>
                <a:ea typeface="Calibri" pitchFamily="34" charset="-122"/>
                <a:cs typeface="Calibri" pitchFamily="34" charset="-120"/>
              </a:rPr>
              <a:t>Soil parameters</a:t>
            </a:r>
            <a:endParaRPr lang="en-US" sz="1200" dirty="0"/>
          </a:p>
          <a:p>
            <a:pPr algn="ctr" indent="0" marL="0">
              <a:buNone/>
            </a:pPr>
            <a:r>
              <a:rPr lang="en-US" sz="1200" dirty="0">
                <a:solidFill>
                  <a:srgbClr val="6E7D73"/>
                </a:solidFill>
                <a:latin typeface="Calibri" pitchFamily="34" charset="0"/>
                <a:ea typeface="Calibri" pitchFamily="34" charset="-122"/>
                <a:cs typeface="Calibri" pitchFamily="34" charset="-120"/>
              </a:rPr>
              <a:t>per reading</a:t>
            </a:r>
            <a:endParaRPr lang="en-US" sz="1200" dirty="0"/>
          </a:p>
        </p:txBody>
      </p:sp>
      <p:sp>
        <p:nvSpPr>
          <p:cNvPr id="10" name="Shape 8"/>
          <p:cNvSpPr/>
          <p:nvPr/>
        </p:nvSpPr>
        <p:spPr>
          <a:xfrm>
            <a:off x="3401568" y="1737360"/>
            <a:ext cx="2587752" cy="1371600"/>
          </a:xfrm>
          <a:prstGeom prst="roundRect">
            <a:avLst>
              <a:gd name="adj" fmla="val 6000"/>
            </a:avLst>
          </a:prstGeom>
          <a:solidFill>
            <a:srgbClr val="EFE7DC"/>
          </a:solidFill>
          <a:ln w="12700">
            <a:solidFill>
              <a:srgbClr val="EFE7DC"/>
            </a:solidFill>
            <a:prstDash val="solid"/>
          </a:ln>
        </p:spPr>
      </p:sp>
      <p:sp>
        <p:nvSpPr>
          <p:cNvPr id="11" name="Text 9"/>
          <p:cNvSpPr txBox="1"/>
          <p:nvPr/>
        </p:nvSpPr>
        <p:spPr>
          <a:xfrm>
            <a:off x="3419856" y="1920240"/>
            <a:ext cx="2551176" cy="658368"/>
          </a:xfrm>
          <a:prstGeom prst="rect">
            <a:avLst/>
          </a:prstGeom>
          <a:noFill/>
          <a:ln/>
        </p:spPr>
        <p:txBody>
          <a:bodyPr wrap="square" lIns="0" tIns="0" rIns="0" bIns="0" rtlCol="0" anchor="ctr"/>
          <a:lstStyle/>
          <a:p>
            <a:pPr algn="ctr" indent="0" marL="0">
              <a:buNone/>
            </a:pPr>
            <a:r>
              <a:rPr lang="en-US" sz="4000" b="1" dirty="0">
                <a:solidFill>
                  <a:srgbClr val="1F6F6B"/>
                </a:solidFill>
                <a:latin typeface="Cambria" pitchFamily="34" charset="0"/>
                <a:ea typeface="Cambria" pitchFamily="34" charset="-122"/>
                <a:cs typeface="Cambria" pitchFamily="34" charset="-120"/>
              </a:rPr>
              <a:t>30</a:t>
            </a:r>
            <a:endParaRPr lang="en-US" sz="4000" dirty="0"/>
          </a:p>
        </p:txBody>
      </p:sp>
      <p:sp>
        <p:nvSpPr>
          <p:cNvPr id="12" name="Text 10"/>
          <p:cNvSpPr txBox="1"/>
          <p:nvPr/>
        </p:nvSpPr>
        <p:spPr>
          <a:xfrm>
            <a:off x="3493008" y="2596896"/>
            <a:ext cx="2404872" cy="402336"/>
          </a:xfrm>
          <a:prstGeom prst="rect">
            <a:avLst/>
          </a:prstGeom>
          <a:noFill/>
          <a:ln/>
        </p:spPr>
        <p:txBody>
          <a:bodyPr wrap="square" lIns="0" tIns="0" rIns="0" bIns="0" rtlCol="0" anchor="t"/>
          <a:lstStyle/>
          <a:p>
            <a:pPr algn="ctr" indent="0" marL="0">
              <a:buNone/>
            </a:pPr>
            <a:r>
              <a:rPr lang="en-US" sz="1200" dirty="0">
                <a:solidFill>
                  <a:srgbClr val="6E7D73"/>
                </a:solidFill>
                <a:latin typeface="Calibri" pitchFamily="34" charset="0"/>
                <a:ea typeface="Calibri" pitchFamily="34" charset="-122"/>
                <a:cs typeface="Calibri" pitchFamily="34" charset="-120"/>
              </a:rPr>
              <a:t>Minutes between readings</a:t>
            </a:r>
            <a:endParaRPr lang="en-US" sz="1200" dirty="0"/>
          </a:p>
        </p:txBody>
      </p:sp>
      <p:sp>
        <p:nvSpPr>
          <p:cNvPr id="13" name="Shape 11"/>
          <p:cNvSpPr/>
          <p:nvPr/>
        </p:nvSpPr>
        <p:spPr>
          <a:xfrm>
            <a:off x="6163056" y="1737360"/>
            <a:ext cx="2587752" cy="1371600"/>
          </a:xfrm>
          <a:prstGeom prst="roundRect">
            <a:avLst>
              <a:gd name="adj" fmla="val 6000"/>
            </a:avLst>
          </a:prstGeom>
          <a:solidFill>
            <a:srgbClr val="EFE7DC"/>
          </a:solidFill>
          <a:ln w="12700">
            <a:solidFill>
              <a:srgbClr val="EFE7DC"/>
            </a:solidFill>
            <a:prstDash val="solid"/>
          </a:ln>
        </p:spPr>
      </p:sp>
      <p:sp>
        <p:nvSpPr>
          <p:cNvPr id="14" name="Text 12"/>
          <p:cNvSpPr txBox="1"/>
          <p:nvPr/>
        </p:nvSpPr>
        <p:spPr>
          <a:xfrm>
            <a:off x="6181344" y="1920240"/>
            <a:ext cx="2551176" cy="658368"/>
          </a:xfrm>
          <a:prstGeom prst="rect">
            <a:avLst/>
          </a:prstGeom>
          <a:noFill/>
          <a:ln/>
        </p:spPr>
        <p:txBody>
          <a:bodyPr wrap="square" lIns="0" tIns="0" rIns="0" bIns="0" rtlCol="0" anchor="ctr"/>
          <a:lstStyle/>
          <a:p>
            <a:pPr algn="ctr" indent="0" marL="0">
              <a:buNone/>
            </a:pPr>
            <a:r>
              <a:rPr lang="en-US" sz="4000" b="1" dirty="0">
                <a:solidFill>
                  <a:srgbClr val="AE5C34"/>
                </a:solidFill>
                <a:latin typeface="Cambria" pitchFamily="34" charset="0"/>
                <a:ea typeface="Cambria" pitchFamily="34" charset="-122"/>
                <a:cs typeface="Cambria" pitchFamily="34" charset="-120"/>
              </a:rPr>
              <a:t>720</a:t>
            </a:r>
            <a:endParaRPr lang="en-US" sz="4000" dirty="0"/>
          </a:p>
        </p:txBody>
      </p:sp>
      <p:sp>
        <p:nvSpPr>
          <p:cNvPr id="15" name="Text 13"/>
          <p:cNvSpPr txBox="1"/>
          <p:nvPr/>
        </p:nvSpPr>
        <p:spPr>
          <a:xfrm>
            <a:off x="6254496" y="2596896"/>
            <a:ext cx="2404872" cy="402336"/>
          </a:xfrm>
          <a:prstGeom prst="rect">
            <a:avLst/>
          </a:prstGeom>
          <a:noFill/>
          <a:ln/>
        </p:spPr>
        <p:txBody>
          <a:bodyPr wrap="square" lIns="0" tIns="0" rIns="0" bIns="0" rtlCol="0" anchor="t"/>
          <a:lstStyle/>
          <a:p>
            <a:pPr algn="ctr" indent="0" marL="0">
              <a:buNone/>
            </a:pPr>
            <a:r>
              <a:rPr lang="en-US" sz="1200" dirty="0">
                <a:solidFill>
                  <a:srgbClr val="6E7D73"/>
                </a:solidFill>
                <a:latin typeface="Calibri" pitchFamily="34" charset="0"/>
                <a:ea typeface="Calibri" pitchFamily="34" charset="-122"/>
                <a:cs typeface="Calibri" pitchFamily="34" charset="-120"/>
              </a:rPr>
              <a:t>Readings per day</a:t>
            </a:r>
            <a:endParaRPr lang="en-US" sz="1200" dirty="0"/>
          </a:p>
          <a:p>
            <a:pPr algn="ctr" indent="0" marL="0">
              <a:buNone/>
            </a:pPr>
            <a:r>
              <a:rPr lang="en-US" sz="1200" dirty="0">
                <a:solidFill>
                  <a:srgbClr val="6E7D73"/>
                </a:solidFill>
                <a:latin typeface="Calibri" pitchFamily="34" charset="0"/>
                <a:ea typeface="Calibri" pitchFamily="34" charset="-122"/>
                <a:cs typeface="Calibri" pitchFamily="34" charset="-120"/>
              </a:rPr>
              <a:t>across all sensors</a:t>
            </a:r>
            <a:endParaRPr lang="en-US" sz="1200" dirty="0"/>
          </a:p>
        </p:txBody>
      </p:sp>
      <p:sp>
        <p:nvSpPr>
          <p:cNvPr id="16" name="Shape 14"/>
          <p:cNvSpPr/>
          <p:nvPr/>
        </p:nvSpPr>
        <p:spPr>
          <a:xfrm>
            <a:off x="8924544" y="1737360"/>
            <a:ext cx="2615184" cy="1371600"/>
          </a:xfrm>
          <a:prstGeom prst="roundRect">
            <a:avLst>
              <a:gd name="adj" fmla="val 6000"/>
            </a:avLst>
          </a:prstGeom>
          <a:solidFill>
            <a:srgbClr val="EFE7DC"/>
          </a:solidFill>
          <a:ln w="12700">
            <a:solidFill>
              <a:srgbClr val="EFE7DC"/>
            </a:solidFill>
            <a:prstDash val="solid"/>
          </a:ln>
        </p:spPr>
      </p:sp>
      <p:sp>
        <p:nvSpPr>
          <p:cNvPr id="17" name="Text 15"/>
          <p:cNvSpPr txBox="1"/>
          <p:nvPr/>
        </p:nvSpPr>
        <p:spPr>
          <a:xfrm>
            <a:off x="8942832" y="1920240"/>
            <a:ext cx="2578608" cy="658368"/>
          </a:xfrm>
          <a:prstGeom prst="rect">
            <a:avLst/>
          </a:prstGeom>
          <a:noFill/>
          <a:ln/>
        </p:spPr>
        <p:txBody>
          <a:bodyPr wrap="square" lIns="0" tIns="0" rIns="0" bIns="0" rtlCol="0" anchor="ctr"/>
          <a:lstStyle/>
          <a:p>
            <a:pPr algn="ctr" indent="0" marL="0">
              <a:buNone/>
            </a:pPr>
            <a:r>
              <a:rPr lang="en-US" sz="4000" b="1" dirty="0">
                <a:solidFill>
                  <a:srgbClr val="D9A92C"/>
                </a:solidFill>
                <a:latin typeface="Cambria" pitchFamily="34" charset="0"/>
                <a:ea typeface="Cambria" pitchFamily="34" charset="-122"/>
                <a:cs typeface="Cambria" pitchFamily="34" charset="-120"/>
              </a:rPr>
              <a:t>12</a:t>
            </a:r>
            <a:endParaRPr lang="en-US" sz="4000" dirty="0"/>
          </a:p>
        </p:txBody>
      </p:sp>
      <p:sp>
        <p:nvSpPr>
          <p:cNvPr id="18" name="Text 16"/>
          <p:cNvSpPr txBox="1"/>
          <p:nvPr/>
        </p:nvSpPr>
        <p:spPr>
          <a:xfrm>
            <a:off x="9015984" y="2596896"/>
            <a:ext cx="2432304" cy="402336"/>
          </a:xfrm>
          <a:prstGeom prst="rect">
            <a:avLst/>
          </a:prstGeom>
          <a:noFill/>
          <a:ln/>
        </p:spPr>
        <p:txBody>
          <a:bodyPr wrap="square" lIns="0" tIns="0" rIns="0" bIns="0" rtlCol="0" anchor="t"/>
          <a:lstStyle/>
          <a:p>
            <a:pPr algn="ctr" indent="0" marL="0">
              <a:buNone/>
            </a:pPr>
            <a:r>
              <a:rPr lang="en-US" sz="1200" dirty="0">
                <a:solidFill>
                  <a:srgbClr val="6E7D73"/>
                </a:solidFill>
                <a:latin typeface="Calibri" pitchFamily="34" charset="0"/>
                <a:ea typeface="Calibri" pitchFamily="34" charset="-122"/>
                <a:cs typeface="Calibri" pitchFamily="34" charset="-120"/>
              </a:rPr>
              <a:t>Months of history</a:t>
            </a:r>
            <a:endParaRPr lang="en-US" sz="1200" dirty="0"/>
          </a:p>
          <a:p>
            <a:pPr algn="ctr" indent="0" marL="0">
              <a:buNone/>
            </a:pPr>
            <a:r>
              <a:rPr lang="en-US" sz="1200" dirty="0">
                <a:solidFill>
                  <a:srgbClr val="6E7D73"/>
                </a:solidFill>
                <a:latin typeface="Calibri" pitchFamily="34" charset="0"/>
                <a:ea typeface="Calibri" pitchFamily="34" charset="-122"/>
                <a:cs typeface="Calibri" pitchFamily="34" charset="-120"/>
              </a:rPr>
              <a:t>retained</a:t>
            </a:r>
            <a:endParaRPr lang="en-US" sz="1200" dirty="0"/>
          </a:p>
        </p:txBody>
      </p:sp>
      <p:sp>
        <p:nvSpPr>
          <p:cNvPr id="19" name="Shape 17"/>
          <p:cNvSpPr/>
          <p:nvPr/>
        </p:nvSpPr>
        <p:spPr>
          <a:xfrm>
            <a:off x="640080" y="3364992"/>
            <a:ext cx="10899648" cy="2377440"/>
          </a:xfrm>
          <a:prstGeom prst="roundRect">
            <a:avLst>
              <a:gd name="adj" fmla="val 3462"/>
            </a:avLst>
          </a:prstGeom>
          <a:solidFill>
            <a:srgbClr val="FFFFFF"/>
          </a:solidFill>
          <a:ln w="12700">
            <a:solidFill>
              <a:srgbClr val="E0E7E1"/>
            </a:solidFill>
            <a:prstDash val="solid"/>
          </a:ln>
        </p:spPr>
      </p:sp>
      <p:sp>
        <p:nvSpPr>
          <p:cNvPr id="20" name="Shape 18"/>
          <p:cNvSpPr/>
          <p:nvPr/>
        </p:nvSpPr>
        <p:spPr>
          <a:xfrm>
            <a:off x="960120" y="3657600"/>
            <a:ext cx="2377440" cy="786384"/>
          </a:xfrm>
          <a:prstGeom prst="roundRect">
            <a:avLst>
              <a:gd name="adj" fmla="val 9302"/>
            </a:avLst>
          </a:prstGeom>
          <a:solidFill>
            <a:srgbClr val="EFE7DC"/>
          </a:solidFill>
          <a:ln w="12700">
            <a:solidFill>
              <a:srgbClr val="EFE7DC"/>
            </a:solidFill>
            <a:prstDash val="solid"/>
          </a:ln>
        </p:spPr>
      </p:sp>
      <p:sp>
        <p:nvSpPr>
          <p:cNvPr id="21" name="Text 19"/>
          <p:cNvSpPr txBox="1"/>
          <p:nvPr/>
        </p:nvSpPr>
        <p:spPr>
          <a:xfrm>
            <a:off x="1143000" y="3803904"/>
            <a:ext cx="2011680" cy="274320"/>
          </a:xfrm>
          <a:prstGeom prst="rect">
            <a:avLst/>
          </a:prstGeom>
          <a:noFill/>
          <a:ln/>
        </p:spPr>
        <p:txBody>
          <a:bodyPr wrap="square" lIns="0" tIns="0" rIns="0" bIns="0" rtlCol="0" anchor="ctr"/>
          <a:lstStyle/>
          <a:p>
            <a:pPr indent="0" marL="0">
              <a:buNone/>
            </a:pPr>
            <a:r>
              <a:rPr lang="en-US" sz="1250" b="1" dirty="0">
                <a:solidFill>
                  <a:srgbClr val="16241D"/>
                </a:solidFill>
                <a:latin typeface="Calibri" pitchFamily="34" charset="0"/>
                <a:ea typeface="Calibri" pitchFamily="34" charset="-122"/>
                <a:cs typeface="Calibri" pitchFamily="34" charset="-120"/>
              </a:rPr>
              <a:t>Soil temperature</a:t>
            </a:r>
            <a:endParaRPr lang="en-US" sz="1250" dirty="0"/>
          </a:p>
        </p:txBody>
      </p:sp>
      <p:sp>
        <p:nvSpPr>
          <p:cNvPr id="22" name="Text 20"/>
          <p:cNvSpPr txBox="1"/>
          <p:nvPr/>
        </p:nvSpPr>
        <p:spPr>
          <a:xfrm>
            <a:off x="1143000" y="4078224"/>
            <a:ext cx="2011680" cy="237744"/>
          </a:xfrm>
          <a:prstGeom prst="rect">
            <a:avLst/>
          </a:prstGeom>
          <a:noFill/>
          <a:ln/>
        </p:spPr>
        <p:txBody>
          <a:bodyPr wrap="square" lIns="0" tIns="0" rIns="0" bIns="0" rtlCol="0" anchor="ctr"/>
          <a:lstStyle/>
          <a:p>
            <a:pPr indent="0" marL="0">
              <a:buNone/>
            </a:pPr>
            <a:r>
              <a:rPr lang="en-US" sz="1100" dirty="0">
                <a:solidFill>
                  <a:srgbClr val="1F6F6B"/>
                </a:solidFill>
                <a:latin typeface="Calibri" pitchFamily="34" charset="0"/>
                <a:ea typeface="Calibri" pitchFamily="34" charset="-122"/>
                <a:cs typeface="Calibri" pitchFamily="34" charset="-120"/>
              </a:rPr>
              <a:t>°C</a:t>
            </a:r>
            <a:endParaRPr lang="en-US" sz="1100" dirty="0"/>
          </a:p>
        </p:txBody>
      </p:sp>
      <p:sp>
        <p:nvSpPr>
          <p:cNvPr id="23" name="Shape 21"/>
          <p:cNvSpPr/>
          <p:nvPr/>
        </p:nvSpPr>
        <p:spPr>
          <a:xfrm>
            <a:off x="3593592" y="3657600"/>
            <a:ext cx="2377440" cy="786384"/>
          </a:xfrm>
          <a:prstGeom prst="roundRect">
            <a:avLst>
              <a:gd name="adj" fmla="val 9302"/>
            </a:avLst>
          </a:prstGeom>
          <a:solidFill>
            <a:srgbClr val="EFE7DC"/>
          </a:solidFill>
          <a:ln w="12700">
            <a:solidFill>
              <a:srgbClr val="EFE7DC"/>
            </a:solidFill>
            <a:prstDash val="solid"/>
          </a:ln>
        </p:spPr>
      </p:sp>
      <p:sp>
        <p:nvSpPr>
          <p:cNvPr id="24" name="Text 22"/>
          <p:cNvSpPr txBox="1"/>
          <p:nvPr/>
        </p:nvSpPr>
        <p:spPr>
          <a:xfrm>
            <a:off x="3776472" y="3803904"/>
            <a:ext cx="2011680" cy="274320"/>
          </a:xfrm>
          <a:prstGeom prst="rect">
            <a:avLst/>
          </a:prstGeom>
          <a:noFill/>
          <a:ln/>
        </p:spPr>
        <p:txBody>
          <a:bodyPr wrap="square" lIns="0" tIns="0" rIns="0" bIns="0" rtlCol="0" anchor="ctr"/>
          <a:lstStyle/>
          <a:p>
            <a:pPr indent="0" marL="0">
              <a:buNone/>
            </a:pPr>
            <a:r>
              <a:rPr lang="en-US" sz="1250" b="1" dirty="0">
                <a:solidFill>
                  <a:srgbClr val="16241D"/>
                </a:solidFill>
                <a:latin typeface="Calibri" pitchFamily="34" charset="0"/>
                <a:ea typeface="Calibri" pitchFamily="34" charset="-122"/>
                <a:cs typeface="Calibri" pitchFamily="34" charset="-120"/>
              </a:rPr>
              <a:t>Soil moisture</a:t>
            </a:r>
            <a:endParaRPr lang="en-US" sz="1250" dirty="0"/>
          </a:p>
        </p:txBody>
      </p:sp>
      <p:sp>
        <p:nvSpPr>
          <p:cNvPr id="25" name="Text 23"/>
          <p:cNvSpPr txBox="1"/>
          <p:nvPr/>
        </p:nvSpPr>
        <p:spPr>
          <a:xfrm>
            <a:off x="3776472" y="4078224"/>
            <a:ext cx="2011680" cy="237744"/>
          </a:xfrm>
          <a:prstGeom prst="rect">
            <a:avLst/>
          </a:prstGeom>
          <a:noFill/>
          <a:ln/>
        </p:spPr>
        <p:txBody>
          <a:bodyPr wrap="square" lIns="0" tIns="0" rIns="0" bIns="0" rtlCol="0" anchor="ctr"/>
          <a:lstStyle/>
          <a:p>
            <a:pPr indent="0" marL="0">
              <a:buNone/>
            </a:pPr>
            <a:r>
              <a:rPr lang="en-US" sz="1100" dirty="0">
                <a:solidFill>
                  <a:srgbClr val="1F6F6B"/>
                </a:solidFill>
                <a:latin typeface="Calibri" pitchFamily="34" charset="0"/>
                <a:ea typeface="Calibri" pitchFamily="34" charset="-122"/>
                <a:cs typeface="Calibri" pitchFamily="34" charset="-120"/>
              </a:rPr>
              <a:t>%</a:t>
            </a:r>
            <a:endParaRPr lang="en-US" sz="1100" dirty="0"/>
          </a:p>
        </p:txBody>
      </p:sp>
      <p:sp>
        <p:nvSpPr>
          <p:cNvPr id="26" name="Shape 24"/>
          <p:cNvSpPr/>
          <p:nvPr/>
        </p:nvSpPr>
        <p:spPr>
          <a:xfrm>
            <a:off x="6227064" y="3657600"/>
            <a:ext cx="2377440" cy="786384"/>
          </a:xfrm>
          <a:prstGeom prst="roundRect">
            <a:avLst>
              <a:gd name="adj" fmla="val 9302"/>
            </a:avLst>
          </a:prstGeom>
          <a:solidFill>
            <a:srgbClr val="EFE7DC"/>
          </a:solidFill>
          <a:ln w="12700">
            <a:solidFill>
              <a:srgbClr val="EFE7DC"/>
            </a:solidFill>
            <a:prstDash val="solid"/>
          </a:ln>
        </p:spPr>
      </p:sp>
      <p:sp>
        <p:nvSpPr>
          <p:cNvPr id="27" name="Text 25"/>
          <p:cNvSpPr txBox="1"/>
          <p:nvPr/>
        </p:nvSpPr>
        <p:spPr>
          <a:xfrm>
            <a:off x="6409944" y="3803904"/>
            <a:ext cx="2011680" cy="274320"/>
          </a:xfrm>
          <a:prstGeom prst="rect">
            <a:avLst/>
          </a:prstGeom>
          <a:noFill/>
          <a:ln/>
        </p:spPr>
        <p:txBody>
          <a:bodyPr wrap="square" lIns="0" tIns="0" rIns="0" bIns="0" rtlCol="0" anchor="ctr"/>
          <a:lstStyle/>
          <a:p>
            <a:pPr indent="0" marL="0">
              <a:buNone/>
            </a:pPr>
            <a:r>
              <a:rPr lang="en-US" sz="1250" b="1" dirty="0">
                <a:solidFill>
                  <a:srgbClr val="16241D"/>
                </a:solidFill>
                <a:latin typeface="Calibri" pitchFamily="34" charset="0"/>
                <a:ea typeface="Calibri" pitchFamily="34" charset="-122"/>
                <a:cs typeface="Calibri" pitchFamily="34" charset="-120"/>
              </a:rPr>
              <a:t>Electrical conductivity</a:t>
            </a:r>
            <a:endParaRPr lang="en-US" sz="1250" dirty="0"/>
          </a:p>
        </p:txBody>
      </p:sp>
      <p:sp>
        <p:nvSpPr>
          <p:cNvPr id="28" name="Text 26"/>
          <p:cNvSpPr txBox="1"/>
          <p:nvPr/>
        </p:nvSpPr>
        <p:spPr>
          <a:xfrm>
            <a:off x="6409944" y="4078224"/>
            <a:ext cx="2011680" cy="237744"/>
          </a:xfrm>
          <a:prstGeom prst="rect">
            <a:avLst/>
          </a:prstGeom>
          <a:noFill/>
          <a:ln/>
        </p:spPr>
        <p:txBody>
          <a:bodyPr wrap="square" lIns="0" tIns="0" rIns="0" bIns="0" rtlCol="0" anchor="ctr"/>
          <a:lstStyle/>
          <a:p>
            <a:pPr indent="0" marL="0">
              <a:buNone/>
            </a:pPr>
            <a:r>
              <a:rPr lang="en-US" sz="1100" dirty="0">
                <a:solidFill>
                  <a:srgbClr val="1F6F6B"/>
                </a:solidFill>
                <a:latin typeface="Calibri" pitchFamily="34" charset="0"/>
                <a:ea typeface="Calibri" pitchFamily="34" charset="-122"/>
                <a:cs typeface="Calibri" pitchFamily="34" charset="-120"/>
              </a:rPr>
              <a:t>dS/m</a:t>
            </a:r>
            <a:endParaRPr lang="en-US" sz="1100" dirty="0"/>
          </a:p>
        </p:txBody>
      </p:sp>
      <p:sp>
        <p:nvSpPr>
          <p:cNvPr id="29" name="Shape 27"/>
          <p:cNvSpPr/>
          <p:nvPr/>
        </p:nvSpPr>
        <p:spPr>
          <a:xfrm>
            <a:off x="8860536" y="3657600"/>
            <a:ext cx="2377440" cy="786384"/>
          </a:xfrm>
          <a:prstGeom prst="roundRect">
            <a:avLst>
              <a:gd name="adj" fmla="val 9302"/>
            </a:avLst>
          </a:prstGeom>
          <a:solidFill>
            <a:srgbClr val="EFE7DC"/>
          </a:solidFill>
          <a:ln w="12700">
            <a:solidFill>
              <a:srgbClr val="EFE7DC"/>
            </a:solidFill>
            <a:prstDash val="solid"/>
          </a:ln>
        </p:spPr>
      </p:sp>
      <p:sp>
        <p:nvSpPr>
          <p:cNvPr id="30" name="Text 28"/>
          <p:cNvSpPr txBox="1"/>
          <p:nvPr/>
        </p:nvSpPr>
        <p:spPr>
          <a:xfrm>
            <a:off x="9043416" y="3803904"/>
            <a:ext cx="2011680" cy="274320"/>
          </a:xfrm>
          <a:prstGeom prst="rect">
            <a:avLst/>
          </a:prstGeom>
          <a:noFill/>
          <a:ln/>
        </p:spPr>
        <p:txBody>
          <a:bodyPr wrap="square" lIns="0" tIns="0" rIns="0" bIns="0" rtlCol="0" anchor="ctr"/>
          <a:lstStyle/>
          <a:p>
            <a:pPr indent="0" marL="0">
              <a:buNone/>
            </a:pPr>
            <a:r>
              <a:rPr lang="en-US" sz="1250" b="1" dirty="0">
                <a:solidFill>
                  <a:srgbClr val="16241D"/>
                </a:solidFill>
                <a:latin typeface="Calibri" pitchFamily="34" charset="0"/>
                <a:ea typeface="Calibri" pitchFamily="34" charset="-122"/>
                <a:cs typeface="Calibri" pitchFamily="34" charset="-120"/>
              </a:rPr>
              <a:t>pH</a:t>
            </a:r>
            <a:endParaRPr lang="en-US" sz="1250" dirty="0"/>
          </a:p>
        </p:txBody>
      </p:sp>
      <p:sp>
        <p:nvSpPr>
          <p:cNvPr id="31" name="Text 29"/>
          <p:cNvSpPr txBox="1"/>
          <p:nvPr/>
        </p:nvSpPr>
        <p:spPr>
          <a:xfrm>
            <a:off x="9043416" y="4078224"/>
            <a:ext cx="2011680" cy="237744"/>
          </a:xfrm>
          <a:prstGeom prst="rect">
            <a:avLst/>
          </a:prstGeom>
          <a:noFill/>
          <a:ln/>
        </p:spPr>
        <p:txBody>
          <a:bodyPr wrap="square" lIns="0" tIns="0" rIns="0" bIns="0" rtlCol="0" anchor="ctr"/>
          <a:lstStyle/>
          <a:p>
            <a:pPr indent="0" marL="0">
              <a:buNone/>
            </a:pPr>
            <a:r>
              <a:rPr lang="en-US" sz="1100" dirty="0">
                <a:solidFill>
                  <a:srgbClr val="1F6F6B"/>
                </a:solidFill>
                <a:latin typeface="Calibri" pitchFamily="34" charset="0"/>
                <a:ea typeface="Calibri" pitchFamily="34" charset="-122"/>
                <a:cs typeface="Calibri" pitchFamily="34" charset="-120"/>
              </a:rPr>
              <a:t>—</a:t>
            </a:r>
            <a:endParaRPr lang="en-US" sz="1100" dirty="0"/>
          </a:p>
        </p:txBody>
      </p:sp>
      <p:sp>
        <p:nvSpPr>
          <p:cNvPr id="32" name="Shape 30"/>
          <p:cNvSpPr/>
          <p:nvPr/>
        </p:nvSpPr>
        <p:spPr>
          <a:xfrm>
            <a:off x="960120" y="4626864"/>
            <a:ext cx="2377440" cy="786384"/>
          </a:xfrm>
          <a:prstGeom prst="roundRect">
            <a:avLst>
              <a:gd name="adj" fmla="val 9302"/>
            </a:avLst>
          </a:prstGeom>
          <a:solidFill>
            <a:srgbClr val="EFE7DC"/>
          </a:solidFill>
          <a:ln w="12700">
            <a:solidFill>
              <a:srgbClr val="EFE7DC"/>
            </a:solidFill>
            <a:prstDash val="solid"/>
          </a:ln>
        </p:spPr>
      </p:sp>
      <p:sp>
        <p:nvSpPr>
          <p:cNvPr id="33" name="Text 31"/>
          <p:cNvSpPr txBox="1"/>
          <p:nvPr/>
        </p:nvSpPr>
        <p:spPr>
          <a:xfrm>
            <a:off x="1143000" y="4773168"/>
            <a:ext cx="2011680" cy="274320"/>
          </a:xfrm>
          <a:prstGeom prst="rect">
            <a:avLst/>
          </a:prstGeom>
          <a:noFill/>
          <a:ln/>
        </p:spPr>
        <p:txBody>
          <a:bodyPr wrap="square" lIns="0" tIns="0" rIns="0" bIns="0" rtlCol="0" anchor="ctr"/>
          <a:lstStyle/>
          <a:p>
            <a:pPr indent="0" marL="0">
              <a:buNone/>
            </a:pPr>
            <a:r>
              <a:rPr lang="en-US" sz="1250" b="1" dirty="0">
                <a:solidFill>
                  <a:srgbClr val="16241D"/>
                </a:solidFill>
                <a:latin typeface="Calibri" pitchFamily="34" charset="0"/>
                <a:ea typeface="Calibri" pitchFamily="34" charset="-122"/>
                <a:cs typeface="Calibri" pitchFamily="34" charset="-120"/>
              </a:rPr>
              <a:t>Nitrogen</a:t>
            </a:r>
            <a:endParaRPr lang="en-US" sz="1250" dirty="0"/>
          </a:p>
        </p:txBody>
      </p:sp>
      <p:sp>
        <p:nvSpPr>
          <p:cNvPr id="34" name="Text 32"/>
          <p:cNvSpPr txBox="1"/>
          <p:nvPr/>
        </p:nvSpPr>
        <p:spPr>
          <a:xfrm>
            <a:off x="1143000" y="5047488"/>
            <a:ext cx="2011680" cy="237744"/>
          </a:xfrm>
          <a:prstGeom prst="rect">
            <a:avLst/>
          </a:prstGeom>
          <a:noFill/>
          <a:ln/>
        </p:spPr>
        <p:txBody>
          <a:bodyPr wrap="square" lIns="0" tIns="0" rIns="0" bIns="0" rtlCol="0" anchor="ctr"/>
          <a:lstStyle/>
          <a:p>
            <a:pPr indent="0" marL="0">
              <a:buNone/>
            </a:pPr>
            <a:r>
              <a:rPr lang="en-US" sz="1100" dirty="0">
                <a:solidFill>
                  <a:srgbClr val="1F6F6B"/>
                </a:solidFill>
                <a:latin typeface="Calibri" pitchFamily="34" charset="0"/>
                <a:ea typeface="Calibri" pitchFamily="34" charset="-122"/>
                <a:cs typeface="Calibri" pitchFamily="34" charset="-120"/>
              </a:rPr>
              <a:t>mg/kg</a:t>
            </a:r>
            <a:endParaRPr lang="en-US" sz="1100" dirty="0"/>
          </a:p>
        </p:txBody>
      </p:sp>
      <p:sp>
        <p:nvSpPr>
          <p:cNvPr id="35" name="Shape 33"/>
          <p:cNvSpPr/>
          <p:nvPr/>
        </p:nvSpPr>
        <p:spPr>
          <a:xfrm>
            <a:off x="3593592" y="4626864"/>
            <a:ext cx="2377440" cy="786384"/>
          </a:xfrm>
          <a:prstGeom prst="roundRect">
            <a:avLst>
              <a:gd name="adj" fmla="val 9302"/>
            </a:avLst>
          </a:prstGeom>
          <a:solidFill>
            <a:srgbClr val="EFE7DC"/>
          </a:solidFill>
          <a:ln w="12700">
            <a:solidFill>
              <a:srgbClr val="EFE7DC"/>
            </a:solidFill>
            <a:prstDash val="solid"/>
          </a:ln>
        </p:spPr>
      </p:sp>
      <p:sp>
        <p:nvSpPr>
          <p:cNvPr id="36" name="Text 34"/>
          <p:cNvSpPr txBox="1"/>
          <p:nvPr/>
        </p:nvSpPr>
        <p:spPr>
          <a:xfrm>
            <a:off x="3776472" y="4773168"/>
            <a:ext cx="2011680" cy="274320"/>
          </a:xfrm>
          <a:prstGeom prst="rect">
            <a:avLst/>
          </a:prstGeom>
          <a:noFill/>
          <a:ln/>
        </p:spPr>
        <p:txBody>
          <a:bodyPr wrap="square" lIns="0" tIns="0" rIns="0" bIns="0" rtlCol="0" anchor="ctr"/>
          <a:lstStyle/>
          <a:p>
            <a:pPr indent="0" marL="0">
              <a:buNone/>
            </a:pPr>
            <a:r>
              <a:rPr lang="en-US" sz="1250" b="1" dirty="0">
                <a:solidFill>
                  <a:srgbClr val="16241D"/>
                </a:solidFill>
                <a:latin typeface="Calibri" pitchFamily="34" charset="0"/>
                <a:ea typeface="Calibri" pitchFamily="34" charset="-122"/>
                <a:cs typeface="Calibri" pitchFamily="34" charset="-120"/>
              </a:rPr>
              <a:t>Phosphorus</a:t>
            </a:r>
            <a:endParaRPr lang="en-US" sz="1250" dirty="0"/>
          </a:p>
        </p:txBody>
      </p:sp>
      <p:sp>
        <p:nvSpPr>
          <p:cNvPr id="37" name="Text 35"/>
          <p:cNvSpPr txBox="1"/>
          <p:nvPr/>
        </p:nvSpPr>
        <p:spPr>
          <a:xfrm>
            <a:off x="3776472" y="5047488"/>
            <a:ext cx="2011680" cy="237744"/>
          </a:xfrm>
          <a:prstGeom prst="rect">
            <a:avLst/>
          </a:prstGeom>
          <a:noFill/>
          <a:ln/>
        </p:spPr>
        <p:txBody>
          <a:bodyPr wrap="square" lIns="0" tIns="0" rIns="0" bIns="0" rtlCol="0" anchor="ctr"/>
          <a:lstStyle/>
          <a:p>
            <a:pPr indent="0" marL="0">
              <a:buNone/>
            </a:pPr>
            <a:r>
              <a:rPr lang="en-US" sz="1100" dirty="0">
                <a:solidFill>
                  <a:srgbClr val="1F6F6B"/>
                </a:solidFill>
                <a:latin typeface="Calibri" pitchFamily="34" charset="0"/>
                <a:ea typeface="Calibri" pitchFamily="34" charset="-122"/>
                <a:cs typeface="Calibri" pitchFamily="34" charset="-120"/>
              </a:rPr>
              <a:t>mg/kg</a:t>
            </a:r>
            <a:endParaRPr lang="en-US" sz="1100" dirty="0"/>
          </a:p>
        </p:txBody>
      </p:sp>
      <p:sp>
        <p:nvSpPr>
          <p:cNvPr id="38" name="Shape 36"/>
          <p:cNvSpPr/>
          <p:nvPr/>
        </p:nvSpPr>
        <p:spPr>
          <a:xfrm>
            <a:off x="6227064" y="4626864"/>
            <a:ext cx="2377440" cy="786384"/>
          </a:xfrm>
          <a:prstGeom prst="roundRect">
            <a:avLst>
              <a:gd name="adj" fmla="val 9302"/>
            </a:avLst>
          </a:prstGeom>
          <a:solidFill>
            <a:srgbClr val="EFE7DC"/>
          </a:solidFill>
          <a:ln w="12700">
            <a:solidFill>
              <a:srgbClr val="EFE7DC"/>
            </a:solidFill>
            <a:prstDash val="solid"/>
          </a:ln>
        </p:spPr>
      </p:sp>
      <p:sp>
        <p:nvSpPr>
          <p:cNvPr id="39" name="Text 37"/>
          <p:cNvSpPr txBox="1"/>
          <p:nvPr/>
        </p:nvSpPr>
        <p:spPr>
          <a:xfrm>
            <a:off x="6409944" y="4773168"/>
            <a:ext cx="2011680" cy="274320"/>
          </a:xfrm>
          <a:prstGeom prst="rect">
            <a:avLst/>
          </a:prstGeom>
          <a:noFill/>
          <a:ln/>
        </p:spPr>
        <p:txBody>
          <a:bodyPr wrap="square" lIns="0" tIns="0" rIns="0" bIns="0" rtlCol="0" anchor="ctr"/>
          <a:lstStyle/>
          <a:p>
            <a:pPr indent="0" marL="0">
              <a:buNone/>
            </a:pPr>
            <a:r>
              <a:rPr lang="en-US" sz="1250" b="1" dirty="0">
                <a:solidFill>
                  <a:srgbClr val="16241D"/>
                </a:solidFill>
                <a:latin typeface="Calibri" pitchFamily="34" charset="0"/>
                <a:ea typeface="Calibri" pitchFamily="34" charset="-122"/>
                <a:cs typeface="Calibri" pitchFamily="34" charset="-120"/>
              </a:rPr>
              <a:t>Potassium</a:t>
            </a:r>
            <a:endParaRPr lang="en-US" sz="1250" dirty="0"/>
          </a:p>
        </p:txBody>
      </p:sp>
      <p:sp>
        <p:nvSpPr>
          <p:cNvPr id="40" name="Text 38"/>
          <p:cNvSpPr txBox="1"/>
          <p:nvPr/>
        </p:nvSpPr>
        <p:spPr>
          <a:xfrm>
            <a:off x="6409944" y="5047488"/>
            <a:ext cx="2011680" cy="237744"/>
          </a:xfrm>
          <a:prstGeom prst="rect">
            <a:avLst/>
          </a:prstGeom>
          <a:noFill/>
          <a:ln/>
        </p:spPr>
        <p:txBody>
          <a:bodyPr wrap="square" lIns="0" tIns="0" rIns="0" bIns="0" rtlCol="0" anchor="ctr"/>
          <a:lstStyle/>
          <a:p>
            <a:pPr indent="0" marL="0">
              <a:buNone/>
            </a:pPr>
            <a:r>
              <a:rPr lang="en-US" sz="1100" dirty="0">
                <a:solidFill>
                  <a:srgbClr val="1F6F6B"/>
                </a:solidFill>
                <a:latin typeface="Calibri" pitchFamily="34" charset="0"/>
                <a:ea typeface="Calibri" pitchFamily="34" charset="-122"/>
                <a:cs typeface="Calibri" pitchFamily="34" charset="-120"/>
              </a:rPr>
              <a:t>mg/kg</a:t>
            </a:r>
            <a:endParaRPr lang="en-US" sz="1100" dirty="0"/>
          </a:p>
        </p:txBody>
      </p:sp>
      <p:sp>
        <p:nvSpPr>
          <p:cNvPr id="41" name="Text 39"/>
          <p:cNvSpPr txBox="1"/>
          <p:nvPr/>
        </p:nvSpPr>
        <p:spPr>
          <a:xfrm>
            <a:off x="8138160" y="4846320"/>
            <a:ext cx="3200400" cy="548640"/>
          </a:xfrm>
          <a:prstGeom prst="rect">
            <a:avLst/>
          </a:prstGeom>
          <a:noFill/>
          <a:ln/>
        </p:spPr>
        <p:txBody>
          <a:bodyPr wrap="square" lIns="0" tIns="0" rIns="0" bIns="0" rtlCol="0" anchor="t"/>
          <a:lstStyle/>
          <a:p>
            <a:pPr indent="0" marL="0">
              <a:lnSpc>
                <a:spcPts val="1600"/>
              </a:lnSpc>
              <a:buNone/>
            </a:pPr>
            <a:r>
              <a:rPr lang="en-US" sz="1200" i="1" dirty="0">
                <a:solidFill>
                  <a:srgbClr val="6E7D73"/>
                </a:solidFill>
                <a:latin typeface="Calibri" pitchFamily="34" charset="0"/>
                <a:ea typeface="Calibri" pitchFamily="34" charset="-122"/>
                <a:cs typeface="Calibri" pitchFamily="34" charset="-120"/>
              </a:rPr>
              <a:t>Each reading is linked to a sensor, a location and the time it was taken.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241D"/>
        </a:solidFill>
      </p:bgPr>
    </p:bg>
    <p:spTree>
      <p:nvGrpSpPr>
        <p:cNvPr id="1" name=""/>
        <p:cNvGrpSpPr/>
        <p:nvPr/>
      </p:nvGrpSpPr>
      <p:grpSpPr>
        <a:xfrm>
          <a:off x="0" y="0"/>
          <a:ext cx="0" cy="0"/>
          <a:chOff x="0" y="0"/>
          <a:chExt cx="0" cy="0"/>
        </a:xfrm>
      </p:grpSpPr>
      <p:sp>
        <p:nvSpPr>
          <p:cNvPr id="2" name="Text 0"/>
          <p:cNvSpPr txBox="1"/>
          <p:nvPr/>
        </p:nvSpPr>
        <p:spPr>
          <a:xfrm>
            <a:off x="822960" y="1828800"/>
            <a:ext cx="2011680" cy="1371600"/>
          </a:xfrm>
          <a:prstGeom prst="rect">
            <a:avLst/>
          </a:prstGeom>
          <a:noFill/>
          <a:ln/>
        </p:spPr>
        <p:txBody>
          <a:bodyPr wrap="square" lIns="0" tIns="0" rIns="0" bIns="0" rtlCol="0" anchor="ctr"/>
          <a:lstStyle/>
          <a:p>
            <a:pPr indent="0" marL="0">
              <a:buNone/>
            </a:pPr>
            <a:r>
              <a:rPr lang="en-US" sz="9600" b="1" dirty="0">
                <a:solidFill>
                  <a:srgbClr val="1F6F6B"/>
                </a:solidFill>
                <a:latin typeface="Cambria" pitchFamily="34" charset="0"/>
                <a:ea typeface="Cambria" pitchFamily="34" charset="-122"/>
                <a:cs typeface="Cambria" pitchFamily="34" charset="-120"/>
              </a:rPr>
              <a:t>04</a:t>
            </a:r>
            <a:endParaRPr lang="en-US" sz="9600" dirty="0"/>
          </a:p>
        </p:txBody>
      </p:sp>
      <p:sp>
        <p:nvSpPr>
          <p:cNvPr id="3" name="Text 1"/>
          <p:cNvSpPr txBox="1"/>
          <p:nvPr/>
        </p:nvSpPr>
        <p:spPr>
          <a:xfrm>
            <a:off x="2926080" y="2148840"/>
            <a:ext cx="841248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The proposed system</a:t>
            </a:r>
            <a:endParaRPr lang="en-US" sz="4000" dirty="0"/>
          </a:p>
        </p:txBody>
      </p:sp>
      <p:sp>
        <p:nvSpPr>
          <p:cNvPr id="4" name="Text 2"/>
          <p:cNvSpPr txBox="1"/>
          <p:nvPr/>
        </p:nvSpPr>
        <p:spPr>
          <a:xfrm>
            <a:off x="2926080" y="3063240"/>
            <a:ext cx="7680960" cy="822960"/>
          </a:xfrm>
          <a:prstGeom prst="rect">
            <a:avLst/>
          </a:prstGeom>
          <a:noFill/>
          <a:ln/>
        </p:spPr>
        <p:txBody>
          <a:bodyPr wrap="square" lIns="0" tIns="0" rIns="0" bIns="0" rtlCol="0" anchor="t"/>
          <a:lstStyle/>
          <a:p>
            <a:pPr indent="0" marL="0">
              <a:lnSpc>
                <a:spcPts val="2400"/>
              </a:lnSpc>
              <a:buNone/>
            </a:pPr>
            <a:r>
              <a:rPr lang="en-US" sz="1500" dirty="0">
                <a:solidFill>
                  <a:srgbClr val="A9BCAF"/>
                </a:solidFill>
                <a:latin typeface="Calibri" pitchFamily="34" charset="0"/>
                <a:ea typeface="Calibri" pitchFamily="34" charset="-122"/>
                <a:cs typeface="Calibri" pitchFamily="34" charset="-120"/>
              </a:rPr>
              <a:t>One system on one database, reached from a phone in the field and a browser at a desk.</a:t>
            </a:r>
            <a:endParaRPr lang="en-US" sz="1500" dirty="0"/>
          </a:p>
        </p:txBody>
      </p:sp>
      <p:sp>
        <p:nvSpPr>
          <p:cNvPr id="5" name="Shape 3"/>
          <p:cNvSpPr/>
          <p:nvPr/>
        </p:nvSpPr>
        <p:spPr>
          <a:xfrm>
            <a:off x="2926080" y="4114800"/>
            <a:ext cx="1005840" cy="32004"/>
          </a:xfrm>
          <a:prstGeom prst="rect">
            <a:avLst/>
          </a:prstGeom>
          <a:solidFill>
            <a:srgbClr val="D9A92C"/>
          </a:solidFill>
          <a:ln w="12700">
            <a:solidFill>
              <a:srgbClr val="D9A92C"/>
            </a:solidFill>
            <a:prstDash val="solid"/>
          </a:ln>
        </p:spPr>
      </p:sp>
      <p:sp>
        <p:nvSpPr>
          <p:cNvPr id="6" name="Text 4"/>
          <p:cNvSpPr txBox="1"/>
          <p:nvPr/>
        </p:nvSpPr>
        <p:spPr>
          <a:xfrm>
            <a:off x="2926080" y="4370832"/>
            <a:ext cx="5486400" cy="310896"/>
          </a:xfrm>
          <a:prstGeom prst="rect">
            <a:avLst/>
          </a:prstGeom>
          <a:noFill/>
          <a:ln/>
        </p:spPr>
        <p:txBody>
          <a:bodyPr wrap="square" lIns="0" tIns="0" rIns="0" bIns="0" rtlCol="0" anchor="ctr"/>
          <a:lstStyle/>
          <a:p>
            <a:pPr indent="0" marL="0">
              <a:buNone/>
            </a:pPr>
            <a:r>
              <a:rPr lang="en-US" sz="1500" b="1" dirty="0">
                <a:solidFill>
                  <a:srgbClr val="D9A92C"/>
                </a:solidFill>
                <a:latin typeface="Calibri" pitchFamily="34" charset="0"/>
                <a:ea typeface="Calibri" pitchFamily="34" charset="-122"/>
                <a:cs typeface="Calibri" pitchFamily="34" charset="-120"/>
              </a:rPr>
              <a:t>Nido Maphosa</a:t>
            </a:r>
            <a:endParaRPr lang="en-US" sz="1500" dirty="0"/>
          </a:p>
        </p:txBody>
      </p:sp>
      <p:sp>
        <p:nvSpPr>
          <p:cNvPr id="7" name="Text 5"/>
          <p:cNvSpPr txBox="1"/>
          <p:nvPr/>
        </p:nvSpPr>
        <p:spPr>
          <a:xfrm>
            <a:off x="2926080" y="4718304"/>
            <a:ext cx="5486400" cy="274320"/>
          </a:xfrm>
          <a:prstGeom prst="rect">
            <a:avLst/>
          </a:prstGeom>
          <a:noFill/>
          <a:ln/>
        </p:spPr>
        <p:txBody>
          <a:bodyPr wrap="square" lIns="0" tIns="0" rIns="0" bIns="0" rtlCol="0" anchor="ctr"/>
          <a:lstStyle/>
          <a:p>
            <a:pPr indent="0" marL="0">
              <a:buNone/>
            </a:pPr>
            <a:r>
              <a:rPr lang="en-US" sz="1200" dirty="0">
                <a:solidFill>
                  <a:srgbClr val="A9BCAF"/>
                </a:solidFill>
                <a:latin typeface="Calibri" pitchFamily="34" charset="0"/>
                <a:ea typeface="Calibri" pitchFamily="34" charset="-122"/>
                <a:cs typeface="Calibri" pitchFamily="34" charset="-120"/>
              </a:rPr>
              <a:t>5 minutes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AIM AND OBJECTIVES</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Nido Maphosa</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What the system is for</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15</a:t>
            </a:r>
            <a:endParaRPr lang="en-US" sz="1000" dirty="0"/>
          </a:p>
        </p:txBody>
      </p:sp>
      <p:sp>
        <p:nvSpPr>
          <p:cNvPr id="7" name="Shape 5"/>
          <p:cNvSpPr/>
          <p:nvPr/>
        </p:nvSpPr>
        <p:spPr>
          <a:xfrm>
            <a:off x="640080" y="1737360"/>
            <a:ext cx="10899648" cy="1234440"/>
          </a:xfrm>
          <a:prstGeom prst="roundRect">
            <a:avLst>
              <a:gd name="adj" fmla="val 6667"/>
            </a:avLst>
          </a:prstGeom>
          <a:solidFill>
            <a:srgbClr val="EFE7DC"/>
          </a:solidFill>
          <a:ln w="12700">
            <a:solidFill>
              <a:srgbClr val="EFE7DC"/>
            </a:solidFill>
            <a:prstDash val="solid"/>
          </a:ln>
        </p:spPr>
      </p:sp>
      <p:sp>
        <p:nvSpPr>
          <p:cNvPr id="8" name="Text 6"/>
          <p:cNvSpPr txBox="1"/>
          <p:nvPr/>
        </p:nvSpPr>
        <p:spPr>
          <a:xfrm>
            <a:off x="1051560" y="1956816"/>
            <a:ext cx="9966960" cy="914400"/>
          </a:xfrm>
          <a:prstGeom prst="rect">
            <a:avLst/>
          </a:prstGeom>
          <a:noFill/>
          <a:ln/>
        </p:spPr>
        <p:txBody>
          <a:bodyPr wrap="square" lIns="0" tIns="0" rIns="0" bIns="0" rtlCol="0" anchor="t"/>
          <a:lstStyle/>
          <a:p>
            <a:pPr indent="0" marL="0">
              <a:lnSpc>
                <a:spcPts val="2400"/>
              </a:lnSpc>
              <a:buNone/>
            </a:pPr>
            <a:r>
              <a:rPr lang="en-US" sz="1500" dirty="0">
                <a:solidFill>
                  <a:srgbClr val="16241D"/>
                </a:solidFill>
                <a:latin typeface="Calibri" pitchFamily="34" charset="0"/>
                <a:ea typeface="Calibri" pitchFamily="34" charset="-122"/>
                <a:cs typeface="Calibri" pitchFamily="34" charset="-120"/>
              </a:rPr>
              <a:t>To bring soil and environmental measurements from fifteen sensors across three locations into a single system, interpret them against ranges set for each site, report the condition of the equipment, and present the result to authorised users on a phone and on the web.</a:t>
            </a:r>
            <a:endParaRPr lang="en-US" sz="1500" dirty="0"/>
          </a:p>
        </p:txBody>
      </p:sp>
      <p:sp>
        <p:nvSpPr>
          <p:cNvPr id="9" name="Text 7"/>
          <p:cNvSpPr txBox="1"/>
          <p:nvPr/>
        </p:nvSpPr>
        <p:spPr>
          <a:xfrm>
            <a:off x="685800" y="3200400"/>
            <a:ext cx="1371600" cy="292608"/>
          </a:xfrm>
          <a:prstGeom prst="rect">
            <a:avLst/>
          </a:prstGeom>
          <a:noFill/>
          <a:ln/>
        </p:spPr>
        <p:txBody>
          <a:bodyPr wrap="square" lIns="0" tIns="0" rIns="0" bIns="0" rtlCol="0" anchor="ctr"/>
          <a:lstStyle/>
          <a:p>
            <a:pPr indent="0" marL="0">
              <a:buNone/>
            </a:pPr>
            <a:r>
              <a:rPr lang="en-US" sz="1350" b="1" dirty="0">
                <a:solidFill>
                  <a:srgbClr val="1F6F6B"/>
                </a:solidFill>
                <a:latin typeface="Calibri" pitchFamily="34" charset="0"/>
                <a:ea typeface="Calibri" pitchFamily="34" charset="-122"/>
                <a:cs typeface="Calibri" pitchFamily="34" charset="-120"/>
              </a:rPr>
              <a:t>Store</a:t>
            </a:r>
            <a:endParaRPr lang="en-US" sz="1350" dirty="0"/>
          </a:p>
        </p:txBody>
      </p:sp>
      <p:sp>
        <p:nvSpPr>
          <p:cNvPr id="10" name="Text 8"/>
          <p:cNvSpPr txBox="1"/>
          <p:nvPr/>
        </p:nvSpPr>
        <p:spPr>
          <a:xfrm>
            <a:off x="2057400" y="3200400"/>
            <a:ext cx="4023360" cy="457200"/>
          </a:xfrm>
          <a:prstGeom prst="rect">
            <a:avLst/>
          </a:prstGeom>
          <a:noFill/>
          <a:ln/>
        </p:spPr>
        <p:txBody>
          <a:bodyPr wrap="square" lIns="0" tIns="0" rIns="0" bIns="0" rtlCol="0" anchor="t"/>
          <a:lstStyle/>
          <a:p>
            <a:pPr indent="0" marL="0">
              <a:lnSpc>
                <a:spcPts val="1600"/>
              </a:lnSpc>
              <a:buNone/>
            </a:pPr>
            <a:r>
              <a:rPr lang="en-US" sz="1250" dirty="0">
                <a:solidFill>
                  <a:srgbClr val="16241D"/>
                </a:solidFill>
                <a:latin typeface="Calibri" pitchFamily="34" charset="0"/>
                <a:ea typeface="Calibri" pitchFamily="34" charset="-122"/>
                <a:cs typeface="Calibri" pitchFamily="34" charset="-120"/>
              </a:rPr>
              <a:t>every reading for all fifteen sensors, without duplication</a:t>
            </a:r>
            <a:endParaRPr lang="en-US" sz="1250" dirty="0"/>
          </a:p>
        </p:txBody>
      </p:sp>
      <p:sp>
        <p:nvSpPr>
          <p:cNvPr id="11" name="Text 9"/>
          <p:cNvSpPr txBox="1"/>
          <p:nvPr/>
        </p:nvSpPr>
        <p:spPr>
          <a:xfrm>
            <a:off x="6217920" y="3200400"/>
            <a:ext cx="1371600" cy="292608"/>
          </a:xfrm>
          <a:prstGeom prst="rect">
            <a:avLst/>
          </a:prstGeom>
          <a:noFill/>
          <a:ln/>
        </p:spPr>
        <p:txBody>
          <a:bodyPr wrap="square" lIns="0" tIns="0" rIns="0" bIns="0" rtlCol="0" anchor="ctr"/>
          <a:lstStyle/>
          <a:p>
            <a:pPr indent="0" marL="0">
              <a:buNone/>
            </a:pPr>
            <a:r>
              <a:rPr lang="en-US" sz="1350" b="1" dirty="0">
                <a:solidFill>
                  <a:srgbClr val="1F6F6B"/>
                </a:solidFill>
                <a:latin typeface="Calibri" pitchFamily="34" charset="0"/>
                <a:ea typeface="Calibri" pitchFamily="34" charset="-122"/>
                <a:cs typeface="Calibri" pitchFamily="34" charset="-120"/>
              </a:rPr>
              <a:t>Present</a:t>
            </a:r>
            <a:endParaRPr lang="en-US" sz="1350" dirty="0"/>
          </a:p>
        </p:txBody>
      </p:sp>
      <p:sp>
        <p:nvSpPr>
          <p:cNvPr id="12" name="Text 10"/>
          <p:cNvSpPr txBox="1"/>
          <p:nvPr/>
        </p:nvSpPr>
        <p:spPr>
          <a:xfrm>
            <a:off x="7589520" y="3200400"/>
            <a:ext cx="4023360" cy="457200"/>
          </a:xfrm>
          <a:prstGeom prst="rect">
            <a:avLst/>
          </a:prstGeom>
          <a:noFill/>
          <a:ln/>
        </p:spPr>
        <p:txBody>
          <a:bodyPr wrap="square" lIns="0" tIns="0" rIns="0" bIns="0" rtlCol="0" anchor="t"/>
          <a:lstStyle/>
          <a:p>
            <a:pPr indent="0" marL="0">
              <a:lnSpc>
                <a:spcPts val="1600"/>
              </a:lnSpc>
              <a:buNone/>
            </a:pPr>
            <a:r>
              <a:rPr lang="en-US" sz="1250" dirty="0">
                <a:solidFill>
                  <a:srgbClr val="16241D"/>
                </a:solidFill>
                <a:latin typeface="Calibri" pitchFamily="34" charset="0"/>
                <a:ea typeface="Calibri" pitchFamily="34" charset="-122"/>
                <a:cs typeface="Calibri" pitchFamily="34" charset="-120"/>
              </a:rPr>
              <a:t>the current condition of each location and each sensor</a:t>
            </a:r>
            <a:endParaRPr lang="en-US" sz="1250" dirty="0"/>
          </a:p>
        </p:txBody>
      </p:sp>
      <p:sp>
        <p:nvSpPr>
          <p:cNvPr id="13" name="Text 11"/>
          <p:cNvSpPr txBox="1"/>
          <p:nvPr/>
        </p:nvSpPr>
        <p:spPr>
          <a:xfrm>
            <a:off x="685800" y="3913632"/>
            <a:ext cx="1371600" cy="292608"/>
          </a:xfrm>
          <a:prstGeom prst="rect">
            <a:avLst/>
          </a:prstGeom>
          <a:noFill/>
          <a:ln/>
        </p:spPr>
        <p:txBody>
          <a:bodyPr wrap="square" lIns="0" tIns="0" rIns="0" bIns="0" rtlCol="0" anchor="ctr"/>
          <a:lstStyle/>
          <a:p>
            <a:pPr indent="0" marL="0">
              <a:buNone/>
            </a:pPr>
            <a:r>
              <a:rPr lang="en-US" sz="1350" b="1" dirty="0">
                <a:solidFill>
                  <a:srgbClr val="1F6F6B"/>
                </a:solidFill>
                <a:latin typeface="Calibri" pitchFamily="34" charset="0"/>
                <a:ea typeface="Calibri" pitchFamily="34" charset="-122"/>
                <a:cs typeface="Calibri" pitchFamily="34" charset="-120"/>
              </a:rPr>
              <a:t>Compare</a:t>
            </a:r>
            <a:endParaRPr lang="en-US" sz="1350" dirty="0"/>
          </a:p>
        </p:txBody>
      </p:sp>
      <p:sp>
        <p:nvSpPr>
          <p:cNvPr id="14" name="Text 12"/>
          <p:cNvSpPr txBox="1"/>
          <p:nvPr/>
        </p:nvSpPr>
        <p:spPr>
          <a:xfrm>
            <a:off x="2057400" y="3913632"/>
            <a:ext cx="4023360" cy="457200"/>
          </a:xfrm>
          <a:prstGeom prst="rect">
            <a:avLst/>
          </a:prstGeom>
          <a:noFill/>
          <a:ln/>
        </p:spPr>
        <p:txBody>
          <a:bodyPr wrap="square" lIns="0" tIns="0" rIns="0" bIns="0" rtlCol="0" anchor="t"/>
          <a:lstStyle/>
          <a:p>
            <a:pPr indent="0" marL="0">
              <a:lnSpc>
                <a:spcPts val="1600"/>
              </a:lnSpc>
              <a:buNone/>
            </a:pPr>
            <a:r>
              <a:rPr lang="en-US" sz="1250" dirty="0">
                <a:solidFill>
                  <a:srgbClr val="16241D"/>
                </a:solidFill>
                <a:latin typeface="Calibri" pitchFamily="34" charset="0"/>
                <a:ea typeface="Calibri" pitchFamily="34" charset="-122"/>
                <a:cs typeface="Calibri" pitchFamily="34" charset="-120"/>
              </a:rPr>
              <a:t>measured values against ranges configured per location</a:t>
            </a:r>
            <a:endParaRPr lang="en-US" sz="1250" dirty="0"/>
          </a:p>
        </p:txBody>
      </p:sp>
      <p:sp>
        <p:nvSpPr>
          <p:cNvPr id="15" name="Text 13"/>
          <p:cNvSpPr txBox="1"/>
          <p:nvPr/>
        </p:nvSpPr>
        <p:spPr>
          <a:xfrm>
            <a:off x="6217920" y="3913632"/>
            <a:ext cx="1371600" cy="292608"/>
          </a:xfrm>
          <a:prstGeom prst="rect">
            <a:avLst/>
          </a:prstGeom>
          <a:noFill/>
          <a:ln/>
        </p:spPr>
        <p:txBody>
          <a:bodyPr wrap="square" lIns="0" tIns="0" rIns="0" bIns="0" rtlCol="0" anchor="ctr"/>
          <a:lstStyle/>
          <a:p>
            <a:pPr indent="0" marL="0">
              <a:buNone/>
            </a:pPr>
            <a:r>
              <a:rPr lang="en-US" sz="1350" b="1" dirty="0">
                <a:solidFill>
                  <a:srgbClr val="1F6F6B"/>
                </a:solidFill>
                <a:latin typeface="Calibri" pitchFamily="34" charset="0"/>
                <a:ea typeface="Calibri" pitchFamily="34" charset="-122"/>
                <a:cs typeface="Calibri" pitchFamily="34" charset="-120"/>
              </a:rPr>
              <a:t>Report</a:t>
            </a:r>
            <a:endParaRPr lang="en-US" sz="1350" dirty="0"/>
          </a:p>
        </p:txBody>
      </p:sp>
      <p:sp>
        <p:nvSpPr>
          <p:cNvPr id="16" name="Text 14"/>
          <p:cNvSpPr txBox="1"/>
          <p:nvPr/>
        </p:nvSpPr>
        <p:spPr>
          <a:xfrm>
            <a:off x="7589520" y="3913632"/>
            <a:ext cx="4023360" cy="457200"/>
          </a:xfrm>
          <a:prstGeom prst="rect">
            <a:avLst/>
          </a:prstGeom>
          <a:noFill/>
          <a:ln/>
        </p:spPr>
        <p:txBody>
          <a:bodyPr wrap="square" lIns="0" tIns="0" rIns="0" bIns="0" rtlCol="0" anchor="t"/>
          <a:lstStyle/>
          <a:p>
            <a:pPr indent="0" marL="0">
              <a:lnSpc>
                <a:spcPts val="1600"/>
              </a:lnSpc>
              <a:buNone/>
            </a:pPr>
            <a:r>
              <a:rPr lang="en-US" sz="1250" dirty="0">
                <a:solidFill>
                  <a:srgbClr val="16241D"/>
                </a:solidFill>
                <a:latin typeface="Calibri" pitchFamily="34" charset="0"/>
                <a:ea typeface="Calibri" pitchFamily="34" charset="-122"/>
                <a:cs typeface="Calibri" pitchFamily="34" charset="-120"/>
              </a:rPr>
              <a:t>battery level, sensor status and time of last communication</a:t>
            </a:r>
            <a:endParaRPr lang="en-US" sz="1250" dirty="0"/>
          </a:p>
        </p:txBody>
      </p:sp>
      <p:sp>
        <p:nvSpPr>
          <p:cNvPr id="17" name="Text 15"/>
          <p:cNvSpPr txBox="1"/>
          <p:nvPr/>
        </p:nvSpPr>
        <p:spPr>
          <a:xfrm>
            <a:off x="685800" y="4626864"/>
            <a:ext cx="1371600" cy="292608"/>
          </a:xfrm>
          <a:prstGeom prst="rect">
            <a:avLst/>
          </a:prstGeom>
          <a:noFill/>
          <a:ln/>
        </p:spPr>
        <p:txBody>
          <a:bodyPr wrap="square" lIns="0" tIns="0" rIns="0" bIns="0" rtlCol="0" anchor="ctr"/>
          <a:lstStyle/>
          <a:p>
            <a:pPr indent="0" marL="0">
              <a:buNone/>
            </a:pPr>
            <a:r>
              <a:rPr lang="en-US" sz="1350" b="1" dirty="0">
                <a:solidFill>
                  <a:srgbClr val="1F6F6B"/>
                </a:solidFill>
                <a:latin typeface="Calibri" pitchFamily="34" charset="0"/>
                <a:ea typeface="Calibri" pitchFamily="34" charset="-122"/>
                <a:cs typeface="Calibri" pitchFamily="34" charset="-120"/>
              </a:rPr>
              <a:t>Alert</a:t>
            </a:r>
            <a:endParaRPr lang="en-US" sz="1350" dirty="0"/>
          </a:p>
        </p:txBody>
      </p:sp>
      <p:sp>
        <p:nvSpPr>
          <p:cNvPr id="18" name="Text 16"/>
          <p:cNvSpPr txBox="1"/>
          <p:nvPr/>
        </p:nvSpPr>
        <p:spPr>
          <a:xfrm>
            <a:off x="2057400" y="4626864"/>
            <a:ext cx="4023360" cy="457200"/>
          </a:xfrm>
          <a:prstGeom prst="rect">
            <a:avLst/>
          </a:prstGeom>
          <a:noFill/>
          <a:ln/>
        </p:spPr>
        <p:txBody>
          <a:bodyPr wrap="square" lIns="0" tIns="0" rIns="0" bIns="0" rtlCol="0" anchor="t"/>
          <a:lstStyle/>
          <a:p>
            <a:pPr indent="0" marL="0">
              <a:lnSpc>
                <a:spcPts val="1600"/>
              </a:lnSpc>
              <a:buNone/>
            </a:pPr>
            <a:r>
              <a:rPr lang="en-US" sz="1250" dirty="0">
                <a:solidFill>
                  <a:srgbClr val="16241D"/>
                </a:solidFill>
                <a:latin typeface="Calibri" pitchFamily="34" charset="0"/>
                <a:ea typeface="Calibri" pitchFamily="34" charset="-122"/>
                <a:cs typeface="Calibri" pitchFamily="34" charset="-120"/>
              </a:rPr>
              <a:t>when a value leaves its range or a sensor stops reporting</a:t>
            </a:r>
            <a:endParaRPr lang="en-US" sz="1250" dirty="0"/>
          </a:p>
        </p:txBody>
      </p:sp>
      <p:sp>
        <p:nvSpPr>
          <p:cNvPr id="19" name="Text 17"/>
          <p:cNvSpPr txBox="1"/>
          <p:nvPr/>
        </p:nvSpPr>
        <p:spPr>
          <a:xfrm>
            <a:off x="6217920" y="4626864"/>
            <a:ext cx="1371600" cy="292608"/>
          </a:xfrm>
          <a:prstGeom prst="rect">
            <a:avLst/>
          </a:prstGeom>
          <a:noFill/>
          <a:ln/>
        </p:spPr>
        <p:txBody>
          <a:bodyPr wrap="square" lIns="0" tIns="0" rIns="0" bIns="0" rtlCol="0" anchor="ctr"/>
          <a:lstStyle/>
          <a:p>
            <a:pPr indent="0" marL="0">
              <a:buNone/>
            </a:pPr>
            <a:r>
              <a:rPr lang="en-US" sz="1350" b="1" dirty="0">
                <a:solidFill>
                  <a:srgbClr val="1F6F6B"/>
                </a:solidFill>
                <a:latin typeface="Calibri" pitchFamily="34" charset="0"/>
                <a:ea typeface="Calibri" pitchFamily="34" charset="-122"/>
                <a:cs typeface="Calibri" pitchFamily="34" charset="-120"/>
              </a:rPr>
              <a:t>Retain</a:t>
            </a:r>
            <a:endParaRPr lang="en-US" sz="1350" dirty="0"/>
          </a:p>
        </p:txBody>
      </p:sp>
      <p:sp>
        <p:nvSpPr>
          <p:cNvPr id="20" name="Text 18"/>
          <p:cNvSpPr txBox="1"/>
          <p:nvPr/>
        </p:nvSpPr>
        <p:spPr>
          <a:xfrm>
            <a:off x="7589520" y="4626864"/>
            <a:ext cx="4023360" cy="457200"/>
          </a:xfrm>
          <a:prstGeom prst="rect">
            <a:avLst/>
          </a:prstGeom>
          <a:noFill/>
          <a:ln/>
        </p:spPr>
        <p:txBody>
          <a:bodyPr wrap="square" lIns="0" tIns="0" rIns="0" bIns="0" rtlCol="0" anchor="t"/>
          <a:lstStyle/>
          <a:p>
            <a:pPr indent="0" marL="0">
              <a:lnSpc>
                <a:spcPts val="1600"/>
              </a:lnSpc>
              <a:buNone/>
            </a:pPr>
            <a:r>
              <a:rPr lang="en-US" sz="1250" dirty="0">
                <a:solidFill>
                  <a:srgbClr val="16241D"/>
                </a:solidFill>
                <a:latin typeface="Calibri" pitchFamily="34" charset="0"/>
                <a:ea typeface="Calibri" pitchFamily="34" charset="-122"/>
                <a:cs typeface="Calibri" pitchFamily="34" charset="-120"/>
              </a:rPr>
              <a:t>readings over time and show them as graphs</a:t>
            </a:r>
            <a:endParaRPr lang="en-US" sz="1250" dirty="0"/>
          </a:p>
        </p:txBody>
      </p:sp>
      <p:sp>
        <p:nvSpPr>
          <p:cNvPr id="21" name="Text 19"/>
          <p:cNvSpPr txBox="1"/>
          <p:nvPr/>
        </p:nvSpPr>
        <p:spPr>
          <a:xfrm>
            <a:off x="685800" y="5340096"/>
            <a:ext cx="1371600" cy="292608"/>
          </a:xfrm>
          <a:prstGeom prst="rect">
            <a:avLst/>
          </a:prstGeom>
          <a:noFill/>
          <a:ln/>
        </p:spPr>
        <p:txBody>
          <a:bodyPr wrap="square" lIns="0" tIns="0" rIns="0" bIns="0" rtlCol="0" anchor="ctr"/>
          <a:lstStyle/>
          <a:p>
            <a:pPr indent="0" marL="0">
              <a:buNone/>
            </a:pPr>
            <a:r>
              <a:rPr lang="en-US" sz="1350" b="1" dirty="0">
                <a:solidFill>
                  <a:srgbClr val="1F6F6B"/>
                </a:solidFill>
                <a:latin typeface="Calibri" pitchFamily="34" charset="0"/>
                <a:ea typeface="Calibri" pitchFamily="34" charset="-122"/>
                <a:cs typeface="Calibri" pitchFamily="34" charset="-120"/>
              </a:rPr>
              <a:t>Restrict</a:t>
            </a:r>
            <a:endParaRPr lang="en-US" sz="1350" dirty="0"/>
          </a:p>
        </p:txBody>
      </p:sp>
      <p:sp>
        <p:nvSpPr>
          <p:cNvPr id="22" name="Text 20"/>
          <p:cNvSpPr txBox="1"/>
          <p:nvPr/>
        </p:nvSpPr>
        <p:spPr>
          <a:xfrm>
            <a:off x="2057400" y="5340096"/>
            <a:ext cx="4023360" cy="457200"/>
          </a:xfrm>
          <a:prstGeom prst="rect">
            <a:avLst/>
          </a:prstGeom>
          <a:noFill/>
          <a:ln/>
        </p:spPr>
        <p:txBody>
          <a:bodyPr wrap="square" lIns="0" tIns="0" rIns="0" bIns="0" rtlCol="0" anchor="t"/>
          <a:lstStyle/>
          <a:p>
            <a:pPr indent="0" marL="0">
              <a:lnSpc>
                <a:spcPts val="1600"/>
              </a:lnSpc>
              <a:buNone/>
            </a:pPr>
            <a:r>
              <a:rPr lang="en-US" sz="1250" dirty="0">
                <a:solidFill>
                  <a:srgbClr val="16241D"/>
                </a:solidFill>
                <a:latin typeface="Calibri" pitchFamily="34" charset="0"/>
                <a:ea typeface="Calibri" pitchFamily="34" charset="-122"/>
                <a:cs typeface="Calibri" pitchFamily="34" charset="-120"/>
              </a:rPr>
              <a:t>access according to the user's assigned role</a:t>
            </a:r>
            <a:endParaRPr lang="en-US" sz="1250" dirty="0"/>
          </a:p>
        </p:txBody>
      </p:sp>
      <p:sp>
        <p:nvSpPr>
          <p:cNvPr id="23" name="Text 21"/>
          <p:cNvSpPr txBox="1"/>
          <p:nvPr/>
        </p:nvSpPr>
        <p:spPr>
          <a:xfrm>
            <a:off x="6217920" y="5340096"/>
            <a:ext cx="1371600" cy="292608"/>
          </a:xfrm>
          <a:prstGeom prst="rect">
            <a:avLst/>
          </a:prstGeom>
          <a:noFill/>
          <a:ln/>
        </p:spPr>
        <p:txBody>
          <a:bodyPr wrap="square" lIns="0" tIns="0" rIns="0" bIns="0" rtlCol="0" anchor="ctr"/>
          <a:lstStyle/>
          <a:p>
            <a:pPr indent="0" marL="0">
              <a:buNone/>
            </a:pPr>
            <a:r>
              <a:rPr lang="en-US" sz="1350" b="1" dirty="0">
                <a:solidFill>
                  <a:srgbClr val="1F6F6B"/>
                </a:solidFill>
                <a:latin typeface="Calibri" pitchFamily="34" charset="0"/>
                <a:ea typeface="Calibri" pitchFamily="34" charset="-122"/>
                <a:cs typeface="Calibri" pitchFamily="34" charset="-120"/>
              </a:rPr>
              <a:t>Enable</a:t>
            </a:r>
            <a:endParaRPr lang="en-US" sz="1350" dirty="0"/>
          </a:p>
        </p:txBody>
      </p:sp>
      <p:sp>
        <p:nvSpPr>
          <p:cNvPr id="24" name="Text 22"/>
          <p:cNvSpPr txBox="1"/>
          <p:nvPr/>
        </p:nvSpPr>
        <p:spPr>
          <a:xfrm>
            <a:off x="7589520" y="5340096"/>
            <a:ext cx="4023360" cy="457200"/>
          </a:xfrm>
          <a:prstGeom prst="rect">
            <a:avLst/>
          </a:prstGeom>
          <a:noFill/>
          <a:ln/>
        </p:spPr>
        <p:txBody>
          <a:bodyPr wrap="square" lIns="0" tIns="0" rIns="0" bIns="0" rtlCol="0" anchor="t"/>
          <a:lstStyle/>
          <a:p>
            <a:pPr indent="0" marL="0">
              <a:lnSpc>
                <a:spcPts val="1600"/>
              </a:lnSpc>
              <a:buNone/>
            </a:pPr>
            <a:r>
              <a:rPr lang="en-US" sz="1250" dirty="0">
                <a:solidFill>
                  <a:srgbClr val="16241D"/>
                </a:solidFill>
                <a:latin typeface="Calibri" pitchFamily="34" charset="0"/>
                <a:ea typeface="Calibri" pitchFamily="34" charset="-122"/>
                <a:cs typeface="Calibri" pitchFamily="34" charset="-120"/>
              </a:rPr>
              <a:t>administrators to manage locations, sensors, ranges and users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Nido Maphosa</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One system, three parts, one shared database</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16</a:t>
            </a:r>
            <a:endParaRPr lang="en-US" sz="1000" dirty="0"/>
          </a:p>
        </p:txBody>
      </p:sp>
      <p:pic>
        <p:nvPicPr>
          <p:cNvPr id="7" name="Image 0" descr="preencoded.png">    </p:cNvPr>
          <p:cNvPicPr>
            <a:picLocks noChangeAspect="1"/>
          </p:cNvPicPr>
          <p:nvPr/>
        </p:nvPicPr>
        <p:blipFill>
          <a:blip r:embed="rId1"/>
          <a:stretch>
            <a:fillRect/>
          </a:stretch>
        </p:blipFill>
        <p:spPr>
          <a:xfrm>
            <a:off x="685800" y="1600200"/>
            <a:ext cx="10789920" cy="464515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DATA OWNERSHIP</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Nido Maphosa</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Every table has exactly one writer</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17</a:t>
            </a:r>
            <a:endParaRPr lang="en-US" sz="1000" dirty="0"/>
          </a:p>
        </p:txBody>
      </p:sp>
      <p:sp>
        <p:nvSpPr>
          <p:cNvPr id="7" name="Text 5"/>
          <p:cNvSpPr txBox="1"/>
          <p:nvPr/>
        </p:nvSpPr>
        <p:spPr>
          <a:xfrm>
            <a:off x="640080" y="1481328"/>
            <a:ext cx="10881360" cy="329184"/>
          </a:xfrm>
          <a:prstGeom prst="rect">
            <a:avLst/>
          </a:prstGeom>
          <a:noFill/>
          <a:ln/>
        </p:spPr>
        <p:txBody>
          <a:bodyPr wrap="square" lIns="0" tIns="0" rIns="0" bIns="0" rtlCol="0" anchor="ctr"/>
          <a:lstStyle/>
          <a:p>
            <a:pPr indent="0" marL="0">
              <a:buNone/>
            </a:pPr>
            <a:r>
              <a:rPr lang="en-US" sz="1500" dirty="0">
                <a:solidFill>
                  <a:srgbClr val="6E7D73"/>
                </a:solidFill>
                <a:latin typeface="Calibri" pitchFamily="34" charset="0"/>
                <a:ea typeface="Calibri" pitchFamily="34" charset="-122"/>
                <a:cs typeface="Calibri" pitchFamily="34" charset="-120"/>
              </a:rPr>
              <a:t>This prevents the most common failure in a system with two front ends: two versions of the same information.</a:t>
            </a:r>
            <a:endParaRPr lang="en-US" sz="1500" dirty="0"/>
          </a:p>
        </p:txBody>
      </p:sp>
      <p:sp>
        <p:nvSpPr>
          <p:cNvPr id="8" name="Text 6"/>
          <p:cNvSpPr txBox="1"/>
          <p:nvPr/>
        </p:nvSpPr>
        <p:spPr>
          <a:xfrm>
            <a:off x="960120" y="2103120"/>
            <a:ext cx="2743200" cy="274320"/>
          </a:xfrm>
          <a:prstGeom prst="rect">
            <a:avLst/>
          </a:prstGeom>
          <a:noFill/>
          <a:ln/>
        </p:spPr>
        <p:txBody>
          <a:bodyPr wrap="square" lIns="0" tIns="0" rIns="0" bIns="0" rtlCol="0" anchor="ctr"/>
          <a:lstStyle/>
          <a:p>
            <a:pPr indent="0" marL="0">
              <a:buNone/>
            </a:pPr>
            <a:r>
              <a:rPr lang="en-US" sz="1150" b="1" dirty="0">
                <a:solidFill>
                  <a:srgbClr val="6E7D73"/>
                </a:solidFill>
                <a:latin typeface="Calibri" pitchFamily="34" charset="0"/>
                <a:ea typeface="Calibri" pitchFamily="34" charset="-122"/>
                <a:cs typeface="Calibri" pitchFamily="34" charset="-120"/>
              </a:rPr>
              <a:t>Data</a:t>
            </a:r>
            <a:endParaRPr lang="en-US" sz="1150" dirty="0"/>
          </a:p>
        </p:txBody>
      </p:sp>
      <p:sp>
        <p:nvSpPr>
          <p:cNvPr id="9" name="Text 7"/>
          <p:cNvSpPr txBox="1"/>
          <p:nvPr/>
        </p:nvSpPr>
        <p:spPr>
          <a:xfrm>
            <a:off x="4572000" y="2103120"/>
            <a:ext cx="3200400" cy="274320"/>
          </a:xfrm>
          <a:prstGeom prst="rect">
            <a:avLst/>
          </a:prstGeom>
          <a:noFill/>
          <a:ln/>
        </p:spPr>
        <p:txBody>
          <a:bodyPr wrap="square" lIns="0" tIns="0" rIns="0" bIns="0" rtlCol="0" anchor="ctr"/>
          <a:lstStyle/>
          <a:p>
            <a:pPr indent="0" marL="0">
              <a:buNone/>
            </a:pPr>
            <a:r>
              <a:rPr lang="en-US" sz="1150" b="1" dirty="0">
                <a:solidFill>
                  <a:srgbClr val="6E7D73"/>
                </a:solidFill>
                <a:latin typeface="Calibri" pitchFamily="34" charset="0"/>
                <a:ea typeface="Calibri" pitchFamily="34" charset="-122"/>
                <a:cs typeface="Calibri" pitchFamily="34" charset="-120"/>
              </a:rPr>
              <a:t>Written by</a:t>
            </a:r>
            <a:endParaRPr lang="en-US" sz="1150" dirty="0"/>
          </a:p>
        </p:txBody>
      </p:sp>
      <p:sp>
        <p:nvSpPr>
          <p:cNvPr id="10" name="Text 8"/>
          <p:cNvSpPr txBox="1"/>
          <p:nvPr/>
        </p:nvSpPr>
        <p:spPr>
          <a:xfrm>
            <a:off x="8229600" y="2103120"/>
            <a:ext cx="3200400" cy="274320"/>
          </a:xfrm>
          <a:prstGeom prst="rect">
            <a:avLst/>
          </a:prstGeom>
          <a:noFill/>
          <a:ln/>
        </p:spPr>
        <p:txBody>
          <a:bodyPr wrap="square" lIns="0" tIns="0" rIns="0" bIns="0" rtlCol="0" anchor="ctr"/>
          <a:lstStyle/>
          <a:p>
            <a:pPr indent="0" marL="0">
              <a:buNone/>
            </a:pPr>
            <a:r>
              <a:rPr lang="en-US" sz="1150" b="1" dirty="0">
                <a:solidFill>
                  <a:srgbClr val="6E7D73"/>
                </a:solidFill>
                <a:latin typeface="Calibri" pitchFamily="34" charset="0"/>
                <a:ea typeface="Calibri" pitchFamily="34" charset="-122"/>
                <a:cs typeface="Calibri" pitchFamily="34" charset="-120"/>
              </a:rPr>
              <a:t>Read by</a:t>
            </a:r>
            <a:endParaRPr lang="en-US" sz="1150" dirty="0"/>
          </a:p>
        </p:txBody>
      </p:sp>
      <p:sp>
        <p:nvSpPr>
          <p:cNvPr id="11" name="Shape 9"/>
          <p:cNvSpPr/>
          <p:nvPr/>
        </p:nvSpPr>
        <p:spPr>
          <a:xfrm>
            <a:off x="640080" y="2432304"/>
            <a:ext cx="10899648" cy="512064"/>
          </a:xfrm>
          <a:prstGeom prst="roundRect">
            <a:avLst>
              <a:gd name="adj" fmla="val 16071"/>
            </a:avLst>
          </a:prstGeom>
          <a:solidFill>
            <a:srgbClr val="EFE7DC"/>
          </a:solidFill>
          <a:ln w="12700">
            <a:solidFill>
              <a:srgbClr val="EFE7DC"/>
            </a:solidFill>
            <a:prstDash val="solid"/>
          </a:ln>
        </p:spPr>
      </p:sp>
      <p:sp>
        <p:nvSpPr>
          <p:cNvPr id="12" name="Text 10"/>
          <p:cNvSpPr txBox="1"/>
          <p:nvPr/>
        </p:nvSpPr>
        <p:spPr>
          <a:xfrm>
            <a:off x="960120" y="2542032"/>
            <a:ext cx="3383280" cy="292608"/>
          </a:xfrm>
          <a:prstGeom prst="rect">
            <a:avLst/>
          </a:prstGeom>
          <a:noFill/>
          <a:ln/>
        </p:spPr>
        <p:txBody>
          <a:bodyPr wrap="square" lIns="0" tIns="0" rIns="0" bIns="0" rtlCol="0" anchor="ctr"/>
          <a:lstStyle/>
          <a:p>
            <a:pPr indent="0" marL="0">
              <a:buNone/>
            </a:pPr>
            <a:r>
              <a:rPr lang="en-US" sz="1300" b="1" dirty="0">
                <a:solidFill>
                  <a:srgbClr val="16241D"/>
                </a:solidFill>
                <a:latin typeface="Calibri" pitchFamily="34" charset="0"/>
                <a:ea typeface="Calibri" pitchFamily="34" charset="-122"/>
                <a:cs typeface="Calibri" pitchFamily="34" charset="-120"/>
              </a:rPr>
              <a:t>Readings</a:t>
            </a:r>
            <a:endParaRPr lang="en-US" sz="1300" dirty="0"/>
          </a:p>
        </p:txBody>
      </p:sp>
      <p:sp>
        <p:nvSpPr>
          <p:cNvPr id="13" name="Text 11"/>
          <p:cNvSpPr txBox="1"/>
          <p:nvPr/>
        </p:nvSpPr>
        <p:spPr>
          <a:xfrm>
            <a:off x="4572000" y="2542032"/>
            <a:ext cx="3474720" cy="292608"/>
          </a:xfrm>
          <a:prstGeom prst="rect">
            <a:avLst/>
          </a:prstGeom>
          <a:noFill/>
          <a:ln/>
        </p:spPr>
        <p:txBody>
          <a:bodyPr wrap="square" lIns="0" tIns="0" rIns="0" bIns="0" rtlCol="0" anchor="ctr"/>
          <a:lstStyle/>
          <a:p>
            <a:pPr indent="0" marL="0">
              <a:buNone/>
            </a:pPr>
            <a:r>
              <a:rPr lang="en-US" sz="1250" dirty="0">
                <a:solidFill>
                  <a:srgbClr val="1F6F6B"/>
                </a:solidFill>
                <a:latin typeface="Calibri" pitchFamily="34" charset="0"/>
                <a:ea typeface="Calibri" pitchFamily="34" charset="-122"/>
                <a:cs typeface="Calibri" pitchFamily="34" charset="-120"/>
              </a:rPr>
              <a:t>Provisioning component only</a:t>
            </a:r>
            <a:endParaRPr lang="en-US" sz="1250" dirty="0"/>
          </a:p>
        </p:txBody>
      </p:sp>
      <p:sp>
        <p:nvSpPr>
          <p:cNvPr id="14" name="Text 12"/>
          <p:cNvSpPr txBox="1"/>
          <p:nvPr/>
        </p:nvSpPr>
        <p:spPr>
          <a:xfrm>
            <a:off x="8229600" y="2542032"/>
            <a:ext cx="3200400" cy="292608"/>
          </a:xfrm>
          <a:prstGeom prst="rect">
            <a:avLst/>
          </a:prstGeom>
          <a:noFill/>
          <a:ln/>
        </p:spPr>
        <p:txBody>
          <a:bodyPr wrap="square" lIns="0" tIns="0" rIns="0" bIns="0" rtlCol="0" anchor="ctr"/>
          <a:lstStyle/>
          <a:p>
            <a:pPr indent="0" marL="0">
              <a:buNone/>
            </a:pPr>
            <a:r>
              <a:rPr lang="en-US" sz="1250" dirty="0">
                <a:solidFill>
                  <a:srgbClr val="6E7D73"/>
                </a:solidFill>
                <a:latin typeface="Calibri" pitchFamily="34" charset="0"/>
                <a:ea typeface="Calibri" pitchFamily="34" charset="-122"/>
                <a:cs typeface="Calibri" pitchFamily="34" charset="-120"/>
              </a:rPr>
              <a:t>Both applications</a:t>
            </a:r>
            <a:endParaRPr lang="en-US" sz="1250" dirty="0"/>
          </a:p>
        </p:txBody>
      </p:sp>
      <p:sp>
        <p:nvSpPr>
          <p:cNvPr id="15" name="Text 13"/>
          <p:cNvSpPr txBox="1"/>
          <p:nvPr/>
        </p:nvSpPr>
        <p:spPr>
          <a:xfrm>
            <a:off x="960120" y="3090672"/>
            <a:ext cx="3383280" cy="292608"/>
          </a:xfrm>
          <a:prstGeom prst="rect">
            <a:avLst/>
          </a:prstGeom>
          <a:noFill/>
          <a:ln/>
        </p:spPr>
        <p:txBody>
          <a:bodyPr wrap="square" lIns="0" tIns="0" rIns="0" bIns="0" rtlCol="0" anchor="ctr"/>
          <a:lstStyle/>
          <a:p>
            <a:pPr indent="0" marL="0">
              <a:buNone/>
            </a:pPr>
            <a:r>
              <a:rPr lang="en-US" sz="1300" b="1" dirty="0">
                <a:solidFill>
                  <a:srgbClr val="16241D"/>
                </a:solidFill>
                <a:latin typeface="Calibri" pitchFamily="34" charset="0"/>
                <a:ea typeface="Calibri" pitchFamily="34" charset="-122"/>
                <a:cs typeface="Calibri" pitchFamily="34" charset="-120"/>
              </a:rPr>
              <a:t>Sensor status</a:t>
            </a:r>
            <a:endParaRPr lang="en-US" sz="1300" dirty="0"/>
          </a:p>
        </p:txBody>
      </p:sp>
      <p:sp>
        <p:nvSpPr>
          <p:cNvPr id="16" name="Text 14"/>
          <p:cNvSpPr txBox="1"/>
          <p:nvPr/>
        </p:nvSpPr>
        <p:spPr>
          <a:xfrm>
            <a:off x="4572000" y="3090672"/>
            <a:ext cx="3474720" cy="292608"/>
          </a:xfrm>
          <a:prstGeom prst="rect">
            <a:avLst/>
          </a:prstGeom>
          <a:noFill/>
          <a:ln/>
        </p:spPr>
        <p:txBody>
          <a:bodyPr wrap="square" lIns="0" tIns="0" rIns="0" bIns="0" rtlCol="0" anchor="ctr"/>
          <a:lstStyle/>
          <a:p>
            <a:pPr indent="0" marL="0">
              <a:buNone/>
            </a:pPr>
            <a:r>
              <a:rPr lang="en-US" sz="1250" dirty="0">
                <a:solidFill>
                  <a:srgbClr val="1F6F6B"/>
                </a:solidFill>
                <a:latin typeface="Calibri" pitchFamily="34" charset="0"/>
                <a:ea typeface="Calibri" pitchFamily="34" charset="-122"/>
                <a:cs typeface="Calibri" pitchFamily="34" charset="-120"/>
              </a:rPr>
              <a:t>Provisioning component only</a:t>
            </a:r>
            <a:endParaRPr lang="en-US" sz="1250" dirty="0"/>
          </a:p>
        </p:txBody>
      </p:sp>
      <p:sp>
        <p:nvSpPr>
          <p:cNvPr id="17" name="Text 15"/>
          <p:cNvSpPr txBox="1"/>
          <p:nvPr/>
        </p:nvSpPr>
        <p:spPr>
          <a:xfrm>
            <a:off x="8229600" y="3090672"/>
            <a:ext cx="3200400" cy="292608"/>
          </a:xfrm>
          <a:prstGeom prst="rect">
            <a:avLst/>
          </a:prstGeom>
          <a:noFill/>
          <a:ln/>
        </p:spPr>
        <p:txBody>
          <a:bodyPr wrap="square" lIns="0" tIns="0" rIns="0" bIns="0" rtlCol="0" anchor="ctr"/>
          <a:lstStyle/>
          <a:p>
            <a:pPr indent="0" marL="0">
              <a:buNone/>
            </a:pPr>
            <a:r>
              <a:rPr lang="en-US" sz="1250" dirty="0">
                <a:solidFill>
                  <a:srgbClr val="6E7D73"/>
                </a:solidFill>
                <a:latin typeface="Calibri" pitchFamily="34" charset="0"/>
                <a:ea typeface="Calibri" pitchFamily="34" charset="-122"/>
                <a:cs typeface="Calibri" pitchFamily="34" charset="-120"/>
              </a:rPr>
              <a:t>Both applications</a:t>
            </a:r>
            <a:endParaRPr lang="en-US" sz="1250" dirty="0"/>
          </a:p>
        </p:txBody>
      </p:sp>
      <p:sp>
        <p:nvSpPr>
          <p:cNvPr id="18" name="Shape 16"/>
          <p:cNvSpPr/>
          <p:nvPr/>
        </p:nvSpPr>
        <p:spPr>
          <a:xfrm>
            <a:off x="640080" y="3529584"/>
            <a:ext cx="10899648" cy="512064"/>
          </a:xfrm>
          <a:prstGeom prst="roundRect">
            <a:avLst>
              <a:gd name="adj" fmla="val 16071"/>
            </a:avLst>
          </a:prstGeom>
          <a:solidFill>
            <a:srgbClr val="EFE7DC"/>
          </a:solidFill>
          <a:ln w="12700">
            <a:solidFill>
              <a:srgbClr val="EFE7DC"/>
            </a:solidFill>
            <a:prstDash val="solid"/>
          </a:ln>
        </p:spPr>
      </p:sp>
      <p:sp>
        <p:nvSpPr>
          <p:cNvPr id="19" name="Text 17"/>
          <p:cNvSpPr txBox="1"/>
          <p:nvPr/>
        </p:nvSpPr>
        <p:spPr>
          <a:xfrm>
            <a:off x="960120" y="3639312"/>
            <a:ext cx="3383280" cy="292608"/>
          </a:xfrm>
          <a:prstGeom prst="rect">
            <a:avLst/>
          </a:prstGeom>
          <a:noFill/>
          <a:ln/>
        </p:spPr>
        <p:txBody>
          <a:bodyPr wrap="square" lIns="0" tIns="0" rIns="0" bIns="0" rtlCol="0" anchor="ctr"/>
          <a:lstStyle/>
          <a:p>
            <a:pPr indent="0" marL="0">
              <a:buNone/>
            </a:pPr>
            <a:r>
              <a:rPr lang="en-US" sz="1300" b="1" dirty="0">
                <a:solidFill>
                  <a:srgbClr val="16241D"/>
                </a:solidFill>
                <a:latin typeface="Calibri" pitchFamily="34" charset="0"/>
                <a:ea typeface="Calibri" pitchFamily="34" charset="-122"/>
                <a:cs typeface="Calibri" pitchFamily="34" charset="-120"/>
              </a:rPr>
              <a:t>Alerts</a:t>
            </a:r>
            <a:endParaRPr lang="en-US" sz="1300" dirty="0"/>
          </a:p>
        </p:txBody>
      </p:sp>
      <p:sp>
        <p:nvSpPr>
          <p:cNvPr id="20" name="Text 18"/>
          <p:cNvSpPr txBox="1"/>
          <p:nvPr/>
        </p:nvSpPr>
        <p:spPr>
          <a:xfrm>
            <a:off x="4572000" y="3639312"/>
            <a:ext cx="3474720" cy="292608"/>
          </a:xfrm>
          <a:prstGeom prst="rect">
            <a:avLst/>
          </a:prstGeom>
          <a:noFill/>
          <a:ln/>
        </p:spPr>
        <p:txBody>
          <a:bodyPr wrap="square" lIns="0" tIns="0" rIns="0" bIns="0" rtlCol="0" anchor="ctr"/>
          <a:lstStyle/>
          <a:p>
            <a:pPr indent="0" marL="0">
              <a:buNone/>
            </a:pPr>
            <a:r>
              <a:rPr lang="en-US" sz="1250" dirty="0">
                <a:solidFill>
                  <a:srgbClr val="1F6F6B"/>
                </a:solidFill>
                <a:latin typeface="Calibri" pitchFamily="34" charset="0"/>
                <a:ea typeface="Calibri" pitchFamily="34" charset="-122"/>
                <a:cs typeface="Calibri" pitchFamily="34" charset="-120"/>
              </a:rPr>
              <a:t>Backend, generated automatically</a:t>
            </a:r>
            <a:endParaRPr lang="en-US" sz="1250" dirty="0"/>
          </a:p>
        </p:txBody>
      </p:sp>
      <p:sp>
        <p:nvSpPr>
          <p:cNvPr id="21" name="Text 19"/>
          <p:cNvSpPr txBox="1"/>
          <p:nvPr/>
        </p:nvSpPr>
        <p:spPr>
          <a:xfrm>
            <a:off x="8229600" y="3639312"/>
            <a:ext cx="3200400" cy="292608"/>
          </a:xfrm>
          <a:prstGeom prst="rect">
            <a:avLst/>
          </a:prstGeom>
          <a:noFill/>
          <a:ln/>
        </p:spPr>
        <p:txBody>
          <a:bodyPr wrap="square" lIns="0" tIns="0" rIns="0" bIns="0" rtlCol="0" anchor="ctr"/>
          <a:lstStyle/>
          <a:p>
            <a:pPr indent="0" marL="0">
              <a:buNone/>
            </a:pPr>
            <a:r>
              <a:rPr lang="en-US" sz="1250" dirty="0">
                <a:solidFill>
                  <a:srgbClr val="6E7D73"/>
                </a:solidFill>
                <a:latin typeface="Calibri" pitchFamily="34" charset="0"/>
                <a:ea typeface="Calibri" pitchFamily="34" charset="-122"/>
                <a:cs typeface="Calibri" pitchFamily="34" charset="-120"/>
              </a:rPr>
              <a:t>Both applications</a:t>
            </a:r>
            <a:endParaRPr lang="en-US" sz="1250" dirty="0"/>
          </a:p>
        </p:txBody>
      </p:sp>
      <p:sp>
        <p:nvSpPr>
          <p:cNvPr id="22" name="Text 20"/>
          <p:cNvSpPr txBox="1"/>
          <p:nvPr/>
        </p:nvSpPr>
        <p:spPr>
          <a:xfrm>
            <a:off x="960120" y="4187952"/>
            <a:ext cx="3383280" cy="292608"/>
          </a:xfrm>
          <a:prstGeom prst="rect">
            <a:avLst/>
          </a:prstGeom>
          <a:noFill/>
          <a:ln/>
        </p:spPr>
        <p:txBody>
          <a:bodyPr wrap="square" lIns="0" tIns="0" rIns="0" bIns="0" rtlCol="0" anchor="ctr"/>
          <a:lstStyle/>
          <a:p>
            <a:pPr indent="0" marL="0">
              <a:buNone/>
            </a:pPr>
            <a:r>
              <a:rPr lang="en-US" sz="1300" b="1" dirty="0">
                <a:solidFill>
                  <a:srgbClr val="16241D"/>
                </a:solidFill>
                <a:latin typeface="Calibri" pitchFamily="34" charset="0"/>
                <a:ea typeface="Calibri" pitchFamily="34" charset="-122"/>
                <a:cs typeface="Calibri" pitchFamily="34" charset="-120"/>
              </a:rPr>
              <a:t>Locations</a:t>
            </a:r>
            <a:endParaRPr lang="en-US" sz="1300" dirty="0"/>
          </a:p>
        </p:txBody>
      </p:sp>
      <p:sp>
        <p:nvSpPr>
          <p:cNvPr id="23" name="Text 21"/>
          <p:cNvSpPr txBox="1"/>
          <p:nvPr/>
        </p:nvSpPr>
        <p:spPr>
          <a:xfrm>
            <a:off x="4572000" y="4187952"/>
            <a:ext cx="3474720" cy="292608"/>
          </a:xfrm>
          <a:prstGeom prst="rect">
            <a:avLst/>
          </a:prstGeom>
          <a:noFill/>
          <a:ln/>
        </p:spPr>
        <p:txBody>
          <a:bodyPr wrap="square" lIns="0" tIns="0" rIns="0" bIns="0" rtlCol="0" anchor="ctr"/>
          <a:lstStyle/>
          <a:p>
            <a:pPr indent="0" marL="0">
              <a:buNone/>
            </a:pPr>
            <a:r>
              <a:rPr lang="en-US" sz="1250" dirty="0">
                <a:solidFill>
                  <a:srgbClr val="1F6F6B"/>
                </a:solidFill>
                <a:latin typeface="Calibri" pitchFamily="34" charset="0"/>
                <a:ea typeface="Calibri" pitchFamily="34" charset="-122"/>
                <a:cs typeface="Calibri" pitchFamily="34" charset="-120"/>
              </a:rPr>
              <a:t>Web application only</a:t>
            </a:r>
            <a:endParaRPr lang="en-US" sz="1250" dirty="0"/>
          </a:p>
        </p:txBody>
      </p:sp>
      <p:sp>
        <p:nvSpPr>
          <p:cNvPr id="24" name="Text 22"/>
          <p:cNvSpPr txBox="1"/>
          <p:nvPr/>
        </p:nvSpPr>
        <p:spPr>
          <a:xfrm>
            <a:off x="8229600" y="4187952"/>
            <a:ext cx="3200400" cy="292608"/>
          </a:xfrm>
          <a:prstGeom prst="rect">
            <a:avLst/>
          </a:prstGeom>
          <a:noFill/>
          <a:ln/>
        </p:spPr>
        <p:txBody>
          <a:bodyPr wrap="square" lIns="0" tIns="0" rIns="0" bIns="0" rtlCol="0" anchor="ctr"/>
          <a:lstStyle/>
          <a:p>
            <a:pPr indent="0" marL="0">
              <a:buNone/>
            </a:pPr>
            <a:r>
              <a:rPr lang="en-US" sz="1250" dirty="0">
                <a:solidFill>
                  <a:srgbClr val="6E7D73"/>
                </a:solidFill>
                <a:latin typeface="Calibri" pitchFamily="34" charset="0"/>
                <a:ea typeface="Calibri" pitchFamily="34" charset="-122"/>
                <a:cs typeface="Calibri" pitchFamily="34" charset="-120"/>
              </a:rPr>
              <a:t>Both applications</a:t>
            </a:r>
            <a:endParaRPr lang="en-US" sz="1250" dirty="0"/>
          </a:p>
        </p:txBody>
      </p:sp>
      <p:sp>
        <p:nvSpPr>
          <p:cNvPr id="25" name="Shape 23"/>
          <p:cNvSpPr/>
          <p:nvPr/>
        </p:nvSpPr>
        <p:spPr>
          <a:xfrm>
            <a:off x="640080" y="4626864"/>
            <a:ext cx="10899648" cy="512064"/>
          </a:xfrm>
          <a:prstGeom prst="roundRect">
            <a:avLst>
              <a:gd name="adj" fmla="val 16071"/>
            </a:avLst>
          </a:prstGeom>
          <a:solidFill>
            <a:srgbClr val="EFE7DC"/>
          </a:solidFill>
          <a:ln w="12700">
            <a:solidFill>
              <a:srgbClr val="EFE7DC"/>
            </a:solidFill>
            <a:prstDash val="solid"/>
          </a:ln>
        </p:spPr>
      </p:sp>
      <p:sp>
        <p:nvSpPr>
          <p:cNvPr id="26" name="Text 24"/>
          <p:cNvSpPr txBox="1"/>
          <p:nvPr/>
        </p:nvSpPr>
        <p:spPr>
          <a:xfrm>
            <a:off x="960120" y="4736592"/>
            <a:ext cx="3383280" cy="292608"/>
          </a:xfrm>
          <a:prstGeom prst="rect">
            <a:avLst/>
          </a:prstGeom>
          <a:noFill/>
          <a:ln/>
        </p:spPr>
        <p:txBody>
          <a:bodyPr wrap="square" lIns="0" tIns="0" rIns="0" bIns="0" rtlCol="0" anchor="ctr"/>
          <a:lstStyle/>
          <a:p>
            <a:pPr indent="0" marL="0">
              <a:buNone/>
            </a:pPr>
            <a:r>
              <a:rPr lang="en-US" sz="1300" b="1" dirty="0">
                <a:solidFill>
                  <a:srgbClr val="16241D"/>
                </a:solidFill>
                <a:latin typeface="Calibri" pitchFamily="34" charset="0"/>
                <a:ea typeface="Calibri" pitchFamily="34" charset="-122"/>
                <a:cs typeface="Calibri" pitchFamily="34" charset="-120"/>
              </a:rPr>
              <a:t>Sensors</a:t>
            </a:r>
            <a:endParaRPr lang="en-US" sz="1300" dirty="0"/>
          </a:p>
        </p:txBody>
      </p:sp>
      <p:sp>
        <p:nvSpPr>
          <p:cNvPr id="27" name="Text 25"/>
          <p:cNvSpPr txBox="1"/>
          <p:nvPr/>
        </p:nvSpPr>
        <p:spPr>
          <a:xfrm>
            <a:off x="4572000" y="4736592"/>
            <a:ext cx="3474720" cy="292608"/>
          </a:xfrm>
          <a:prstGeom prst="rect">
            <a:avLst/>
          </a:prstGeom>
          <a:noFill/>
          <a:ln/>
        </p:spPr>
        <p:txBody>
          <a:bodyPr wrap="square" lIns="0" tIns="0" rIns="0" bIns="0" rtlCol="0" anchor="ctr"/>
          <a:lstStyle/>
          <a:p>
            <a:pPr indent="0" marL="0">
              <a:buNone/>
            </a:pPr>
            <a:r>
              <a:rPr lang="en-US" sz="1250" dirty="0">
                <a:solidFill>
                  <a:srgbClr val="1F6F6B"/>
                </a:solidFill>
                <a:latin typeface="Calibri" pitchFamily="34" charset="0"/>
                <a:ea typeface="Calibri" pitchFamily="34" charset="-122"/>
                <a:cs typeface="Calibri" pitchFamily="34" charset="-120"/>
              </a:rPr>
              <a:t>Web application only</a:t>
            </a:r>
            <a:endParaRPr lang="en-US" sz="1250" dirty="0"/>
          </a:p>
        </p:txBody>
      </p:sp>
      <p:sp>
        <p:nvSpPr>
          <p:cNvPr id="28" name="Text 26"/>
          <p:cNvSpPr txBox="1"/>
          <p:nvPr/>
        </p:nvSpPr>
        <p:spPr>
          <a:xfrm>
            <a:off x="8229600" y="4736592"/>
            <a:ext cx="3200400" cy="292608"/>
          </a:xfrm>
          <a:prstGeom prst="rect">
            <a:avLst/>
          </a:prstGeom>
          <a:noFill/>
          <a:ln/>
        </p:spPr>
        <p:txBody>
          <a:bodyPr wrap="square" lIns="0" tIns="0" rIns="0" bIns="0" rtlCol="0" anchor="ctr"/>
          <a:lstStyle/>
          <a:p>
            <a:pPr indent="0" marL="0">
              <a:buNone/>
            </a:pPr>
            <a:r>
              <a:rPr lang="en-US" sz="1250" dirty="0">
                <a:solidFill>
                  <a:srgbClr val="6E7D73"/>
                </a:solidFill>
                <a:latin typeface="Calibri" pitchFamily="34" charset="0"/>
                <a:ea typeface="Calibri" pitchFamily="34" charset="-122"/>
                <a:cs typeface="Calibri" pitchFamily="34" charset="-120"/>
              </a:rPr>
              <a:t>Both applications</a:t>
            </a:r>
            <a:endParaRPr lang="en-US" sz="1250" dirty="0"/>
          </a:p>
        </p:txBody>
      </p:sp>
      <p:sp>
        <p:nvSpPr>
          <p:cNvPr id="29" name="Text 27"/>
          <p:cNvSpPr txBox="1"/>
          <p:nvPr/>
        </p:nvSpPr>
        <p:spPr>
          <a:xfrm>
            <a:off x="960120" y="5285232"/>
            <a:ext cx="3383280" cy="292608"/>
          </a:xfrm>
          <a:prstGeom prst="rect">
            <a:avLst/>
          </a:prstGeom>
          <a:noFill/>
          <a:ln/>
        </p:spPr>
        <p:txBody>
          <a:bodyPr wrap="square" lIns="0" tIns="0" rIns="0" bIns="0" rtlCol="0" anchor="ctr"/>
          <a:lstStyle/>
          <a:p>
            <a:pPr indent="0" marL="0">
              <a:buNone/>
            </a:pPr>
            <a:r>
              <a:rPr lang="en-US" sz="1300" b="1" dirty="0">
                <a:solidFill>
                  <a:srgbClr val="16241D"/>
                </a:solidFill>
                <a:latin typeface="Calibri" pitchFamily="34" charset="0"/>
                <a:ea typeface="Calibri" pitchFamily="34" charset="-122"/>
                <a:cs typeface="Calibri" pitchFamily="34" charset="-120"/>
              </a:rPr>
              <a:t>Thresholds</a:t>
            </a:r>
            <a:endParaRPr lang="en-US" sz="1300" dirty="0"/>
          </a:p>
        </p:txBody>
      </p:sp>
      <p:sp>
        <p:nvSpPr>
          <p:cNvPr id="30" name="Text 28"/>
          <p:cNvSpPr txBox="1"/>
          <p:nvPr/>
        </p:nvSpPr>
        <p:spPr>
          <a:xfrm>
            <a:off x="4572000" y="5285232"/>
            <a:ext cx="3474720" cy="292608"/>
          </a:xfrm>
          <a:prstGeom prst="rect">
            <a:avLst/>
          </a:prstGeom>
          <a:noFill/>
          <a:ln/>
        </p:spPr>
        <p:txBody>
          <a:bodyPr wrap="square" lIns="0" tIns="0" rIns="0" bIns="0" rtlCol="0" anchor="ctr"/>
          <a:lstStyle/>
          <a:p>
            <a:pPr indent="0" marL="0">
              <a:buNone/>
            </a:pPr>
            <a:r>
              <a:rPr lang="en-US" sz="1250" dirty="0">
                <a:solidFill>
                  <a:srgbClr val="1F6F6B"/>
                </a:solidFill>
                <a:latin typeface="Calibri" pitchFamily="34" charset="0"/>
                <a:ea typeface="Calibri" pitchFamily="34" charset="-122"/>
                <a:cs typeface="Calibri" pitchFamily="34" charset="-120"/>
              </a:rPr>
              <a:t>Web application only</a:t>
            </a:r>
            <a:endParaRPr lang="en-US" sz="1250" dirty="0"/>
          </a:p>
        </p:txBody>
      </p:sp>
      <p:sp>
        <p:nvSpPr>
          <p:cNvPr id="31" name="Text 29"/>
          <p:cNvSpPr txBox="1"/>
          <p:nvPr/>
        </p:nvSpPr>
        <p:spPr>
          <a:xfrm>
            <a:off x="8229600" y="5285232"/>
            <a:ext cx="3200400" cy="292608"/>
          </a:xfrm>
          <a:prstGeom prst="rect">
            <a:avLst/>
          </a:prstGeom>
          <a:noFill/>
          <a:ln/>
        </p:spPr>
        <p:txBody>
          <a:bodyPr wrap="square" lIns="0" tIns="0" rIns="0" bIns="0" rtlCol="0" anchor="ctr"/>
          <a:lstStyle/>
          <a:p>
            <a:pPr indent="0" marL="0">
              <a:buNone/>
            </a:pPr>
            <a:r>
              <a:rPr lang="en-US" sz="1250" dirty="0">
                <a:solidFill>
                  <a:srgbClr val="6E7D73"/>
                </a:solidFill>
                <a:latin typeface="Calibri" pitchFamily="34" charset="0"/>
                <a:ea typeface="Calibri" pitchFamily="34" charset="-122"/>
                <a:cs typeface="Calibri" pitchFamily="34" charset="-120"/>
              </a:rPr>
              <a:t>Both applications and the backend</a:t>
            </a:r>
            <a:endParaRPr lang="en-US" sz="1250" dirty="0"/>
          </a:p>
        </p:txBody>
      </p:sp>
      <p:sp>
        <p:nvSpPr>
          <p:cNvPr id="32" name="Shape 30"/>
          <p:cNvSpPr/>
          <p:nvPr/>
        </p:nvSpPr>
        <p:spPr>
          <a:xfrm>
            <a:off x="640080" y="5724144"/>
            <a:ext cx="10899648" cy="512064"/>
          </a:xfrm>
          <a:prstGeom prst="roundRect">
            <a:avLst>
              <a:gd name="adj" fmla="val 16071"/>
            </a:avLst>
          </a:prstGeom>
          <a:solidFill>
            <a:srgbClr val="EFE7DC"/>
          </a:solidFill>
          <a:ln w="12700">
            <a:solidFill>
              <a:srgbClr val="EFE7DC"/>
            </a:solidFill>
            <a:prstDash val="solid"/>
          </a:ln>
        </p:spPr>
      </p:sp>
      <p:sp>
        <p:nvSpPr>
          <p:cNvPr id="33" name="Text 31"/>
          <p:cNvSpPr txBox="1"/>
          <p:nvPr/>
        </p:nvSpPr>
        <p:spPr>
          <a:xfrm>
            <a:off x="960120" y="5833872"/>
            <a:ext cx="3383280" cy="292608"/>
          </a:xfrm>
          <a:prstGeom prst="rect">
            <a:avLst/>
          </a:prstGeom>
          <a:noFill/>
          <a:ln/>
        </p:spPr>
        <p:txBody>
          <a:bodyPr wrap="square" lIns="0" tIns="0" rIns="0" bIns="0" rtlCol="0" anchor="ctr"/>
          <a:lstStyle/>
          <a:p>
            <a:pPr indent="0" marL="0">
              <a:buNone/>
            </a:pPr>
            <a:r>
              <a:rPr lang="en-US" sz="1300" b="1" dirty="0">
                <a:solidFill>
                  <a:srgbClr val="16241D"/>
                </a:solidFill>
                <a:latin typeface="Calibri" pitchFamily="34" charset="0"/>
                <a:ea typeface="Calibri" pitchFamily="34" charset="-122"/>
                <a:cs typeface="Calibri" pitchFamily="34" charset="-120"/>
              </a:rPr>
              <a:t>Users and roles</a:t>
            </a:r>
            <a:endParaRPr lang="en-US" sz="1300" dirty="0"/>
          </a:p>
        </p:txBody>
      </p:sp>
      <p:sp>
        <p:nvSpPr>
          <p:cNvPr id="34" name="Text 32"/>
          <p:cNvSpPr txBox="1"/>
          <p:nvPr/>
        </p:nvSpPr>
        <p:spPr>
          <a:xfrm>
            <a:off x="4572000" y="5833872"/>
            <a:ext cx="3474720" cy="292608"/>
          </a:xfrm>
          <a:prstGeom prst="rect">
            <a:avLst/>
          </a:prstGeom>
          <a:noFill/>
          <a:ln/>
        </p:spPr>
        <p:txBody>
          <a:bodyPr wrap="square" lIns="0" tIns="0" rIns="0" bIns="0" rtlCol="0" anchor="ctr"/>
          <a:lstStyle/>
          <a:p>
            <a:pPr indent="0" marL="0">
              <a:buNone/>
            </a:pPr>
            <a:r>
              <a:rPr lang="en-US" sz="1250" dirty="0">
                <a:solidFill>
                  <a:srgbClr val="1F6F6B"/>
                </a:solidFill>
                <a:latin typeface="Calibri" pitchFamily="34" charset="0"/>
                <a:ea typeface="Calibri" pitchFamily="34" charset="-122"/>
                <a:cs typeface="Calibri" pitchFamily="34" charset="-120"/>
              </a:rPr>
              <a:t>Web application only</a:t>
            </a:r>
            <a:endParaRPr lang="en-US" sz="1250" dirty="0"/>
          </a:p>
        </p:txBody>
      </p:sp>
      <p:sp>
        <p:nvSpPr>
          <p:cNvPr id="35" name="Text 33"/>
          <p:cNvSpPr txBox="1"/>
          <p:nvPr/>
        </p:nvSpPr>
        <p:spPr>
          <a:xfrm>
            <a:off x="8229600" y="5833872"/>
            <a:ext cx="3200400" cy="292608"/>
          </a:xfrm>
          <a:prstGeom prst="rect">
            <a:avLst/>
          </a:prstGeom>
          <a:noFill/>
          <a:ln/>
        </p:spPr>
        <p:txBody>
          <a:bodyPr wrap="square" lIns="0" tIns="0" rIns="0" bIns="0" rtlCol="0" anchor="ctr"/>
          <a:lstStyle/>
          <a:p>
            <a:pPr indent="0" marL="0">
              <a:buNone/>
            </a:pPr>
            <a:r>
              <a:rPr lang="en-US" sz="1250" dirty="0">
                <a:solidFill>
                  <a:srgbClr val="6E7D73"/>
                </a:solidFill>
                <a:latin typeface="Calibri" pitchFamily="34" charset="0"/>
                <a:ea typeface="Calibri" pitchFamily="34" charset="-122"/>
                <a:cs typeface="Calibri" pitchFamily="34" charset="-120"/>
              </a:rPr>
              <a:t>Backend access rules</a:t>
            </a:r>
            <a:endParaRPr lang="en-US" sz="1250" dirty="0"/>
          </a:p>
        </p:txBody>
      </p:sp>
      <p:sp>
        <p:nvSpPr>
          <p:cNvPr id="36" name="Text 34"/>
          <p:cNvSpPr txBox="1"/>
          <p:nvPr/>
        </p:nvSpPr>
        <p:spPr>
          <a:xfrm>
            <a:off x="640080" y="5989320"/>
            <a:ext cx="10881360" cy="274320"/>
          </a:xfrm>
          <a:prstGeom prst="rect">
            <a:avLst/>
          </a:prstGeom>
          <a:noFill/>
          <a:ln/>
        </p:spPr>
        <p:txBody>
          <a:bodyPr wrap="square" lIns="0" tIns="0" rIns="0" bIns="0" rtlCol="0" anchor="ctr"/>
          <a:lstStyle/>
          <a:p>
            <a:pPr indent="0" marL="0">
              <a:buNone/>
            </a:pPr>
            <a:r>
              <a:rPr lang="en-US" sz="1250" i="1" dirty="0">
                <a:solidFill>
                  <a:srgbClr val="16241D"/>
                </a:solidFill>
                <a:latin typeface="Calibri" pitchFamily="34" charset="0"/>
                <a:ea typeface="Calibri" pitchFamily="34" charset="-122"/>
                <a:cs typeface="Calibri" pitchFamily="34" charset="-120"/>
              </a:rPr>
              <a:t>The mobile application creates and modifies nothing. It reads.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ACCESS</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Nido Maphosa</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Two roles, confirmed by the stakeholder</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18</a:t>
            </a:r>
            <a:endParaRPr lang="en-US" sz="1000" dirty="0"/>
          </a:p>
        </p:txBody>
      </p:sp>
      <p:sp>
        <p:nvSpPr>
          <p:cNvPr id="7" name="Shape 5"/>
          <p:cNvSpPr/>
          <p:nvPr/>
        </p:nvSpPr>
        <p:spPr>
          <a:xfrm>
            <a:off x="640080" y="1737360"/>
            <a:ext cx="5394960" cy="3977640"/>
          </a:xfrm>
          <a:prstGeom prst="roundRect">
            <a:avLst>
              <a:gd name="adj" fmla="val 2069"/>
            </a:avLst>
          </a:prstGeom>
          <a:solidFill>
            <a:srgbClr val="EFE7DC"/>
          </a:solidFill>
          <a:ln w="12700">
            <a:solidFill>
              <a:srgbClr val="EFE7DC"/>
            </a:solidFill>
            <a:prstDash val="solid"/>
          </a:ln>
        </p:spPr>
      </p:sp>
      <p:sp>
        <p:nvSpPr>
          <p:cNvPr id="8" name="Shape 6"/>
          <p:cNvSpPr/>
          <p:nvPr/>
        </p:nvSpPr>
        <p:spPr>
          <a:xfrm>
            <a:off x="960120" y="2011680"/>
            <a:ext cx="548640" cy="548640"/>
          </a:xfrm>
          <a:prstGeom prst="ellipse">
            <a:avLst/>
          </a:prstGeom>
          <a:solidFill>
            <a:srgbClr val="1F6F6B"/>
          </a:solidFill>
          <a:ln w="12700">
            <a:solidFill>
              <a:srgbClr val="1F6F6B"/>
            </a:solidFill>
            <a:prstDash val="solid"/>
          </a:ln>
        </p:spPr>
      </p:sp>
      <p:sp>
        <p:nvSpPr>
          <p:cNvPr id="9" name="Text 7"/>
          <p:cNvSpPr txBox="1"/>
          <p:nvPr/>
        </p:nvSpPr>
        <p:spPr>
          <a:xfrm>
            <a:off x="960120" y="2130552"/>
            <a:ext cx="54864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a:t>
            </a:r>
            <a:endParaRPr lang="en-US" sz="1600" dirty="0"/>
          </a:p>
        </p:txBody>
      </p:sp>
      <p:sp>
        <p:nvSpPr>
          <p:cNvPr id="10" name="Text 8"/>
          <p:cNvSpPr txBox="1"/>
          <p:nvPr/>
        </p:nvSpPr>
        <p:spPr>
          <a:xfrm>
            <a:off x="1645920" y="2084832"/>
            <a:ext cx="3657600" cy="365760"/>
          </a:xfrm>
          <a:prstGeom prst="rect">
            <a:avLst/>
          </a:prstGeom>
          <a:noFill/>
          <a:ln/>
        </p:spPr>
        <p:txBody>
          <a:bodyPr wrap="square" lIns="0" tIns="0" rIns="0" bIns="0" rtlCol="0" anchor="ctr"/>
          <a:lstStyle/>
          <a:p>
            <a:pPr indent="0" marL="0">
              <a:buNone/>
            </a:pPr>
            <a:r>
              <a:rPr lang="en-US" sz="1900" b="1" dirty="0">
                <a:solidFill>
                  <a:srgbClr val="16241D"/>
                </a:solidFill>
                <a:latin typeface="Cambria" pitchFamily="34" charset="0"/>
                <a:ea typeface="Cambria" pitchFamily="34" charset="-122"/>
                <a:cs typeface="Cambria" pitchFamily="34" charset="-120"/>
              </a:rPr>
              <a:t>Administrator</a:t>
            </a:r>
            <a:endParaRPr lang="en-US" sz="1900" dirty="0"/>
          </a:p>
        </p:txBody>
      </p:sp>
      <p:sp>
        <p:nvSpPr>
          <p:cNvPr id="11" name="Text 9"/>
          <p:cNvSpPr txBox="1"/>
          <p:nvPr/>
        </p:nvSpPr>
        <p:spPr>
          <a:xfrm>
            <a:off x="960120" y="2724912"/>
            <a:ext cx="4754880" cy="310896"/>
          </a:xfrm>
          <a:prstGeom prst="rect">
            <a:avLst/>
          </a:prstGeom>
          <a:noFill/>
          <a:ln/>
        </p:spPr>
        <p:txBody>
          <a:bodyPr wrap="square" lIns="0" tIns="0" rIns="0" bIns="0" rtlCol="0" anchor="ctr"/>
          <a:lstStyle/>
          <a:p>
            <a:pPr indent="0" marL="0">
              <a:buNone/>
            </a:pPr>
            <a:r>
              <a:rPr lang="en-US" sz="1250" dirty="0">
                <a:solidFill>
                  <a:srgbClr val="6E7D73"/>
                </a:solidFill>
                <a:latin typeface="Calibri" pitchFamily="34" charset="0"/>
                <a:ea typeface="Calibri" pitchFamily="34" charset="-122"/>
                <a:cs typeface="Calibri" pitchFamily="34" charset="-120"/>
              </a:rPr>
              <a:t>Full access. Configures how the system behaves.</a:t>
            </a:r>
            <a:endParaRPr lang="en-US" sz="1250" dirty="0"/>
          </a:p>
        </p:txBody>
      </p:sp>
      <p:sp>
        <p:nvSpPr>
          <p:cNvPr id="12" name="Text 10"/>
          <p:cNvSpPr txBox="1"/>
          <p:nvPr/>
        </p:nvSpPr>
        <p:spPr>
          <a:xfrm>
            <a:off x="960120" y="3200400"/>
            <a:ext cx="4754880" cy="2286000"/>
          </a:xfrm>
          <a:prstGeom prst="rect">
            <a:avLst/>
          </a:prstGeom>
          <a:noFill/>
          <a:ln/>
        </p:spPr>
        <p:txBody>
          <a:bodyPr wrap="square" lIns="0" tIns="0" rIns="0" bIns="0" rtlCol="0" anchor="t"/>
          <a:lstStyle/>
          <a:p>
            <a:pPr marL="342900" indent="-342900">
              <a:lnSpc>
                <a:spcPts val="1900"/>
              </a:lnSpc>
              <a:spcAft>
                <a:spcPts val="800"/>
              </a:spcAft>
              <a:buSzPct val="100000"/>
              <a:buChar char="•"/>
            </a:pPr>
            <a:r>
              <a:rPr lang="en-US" sz="1300" dirty="0">
                <a:solidFill>
                  <a:srgbClr val="16241D"/>
                </a:solidFill>
                <a:latin typeface="Calibri" pitchFamily="34" charset="0"/>
                <a:ea typeface="Calibri" pitchFamily="34" charset="-122"/>
                <a:cs typeface="Calibri" pitchFamily="34" charset="-120"/>
              </a:rPr>
              <a:t>Manage user accounts and roles</a:t>
            </a:r>
            <a:endParaRPr lang="en-US" sz="1300" dirty="0"/>
          </a:p>
          <a:p>
            <a:pPr marL="342900" indent="-342900">
              <a:lnSpc>
                <a:spcPts val="1900"/>
              </a:lnSpc>
              <a:spcAft>
                <a:spcPts val="800"/>
              </a:spcAft>
              <a:buSzPct val="100000"/>
              <a:buChar char="•"/>
            </a:pPr>
            <a:r>
              <a:rPr lang="en-US" sz="1300" dirty="0">
                <a:solidFill>
                  <a:srgbClr val="16241D"/>
                </a:solidFill>
                <a:latin typeface="Calibri" pitchFamily="34" charset="0"/>
                <a:ea typeface="Calibri" pitchFamily="34" charset="-122"/>
                <a:cs typeface="Calibri" pitchFamily="34" charset="-120"/>
              </a:rPr>
              <a:t>Create and edit the three locations</a:t>
            </a:r>
            <a:endParaRPr lang="en-US" sz="1300" dirty="0"/>
          </a:p>
          <a:p>
            <a:pPr marL="342900" indent="-342900">
              <a:lnSpc>
                <a:spcPts val="1900"/>
              </a:lnSpc>
              <a:spcAft>
                <a:spcPts val="800"/>
              </a:spcAft>
              <a:buSzPct val="100000"/>
              <a:buChar char="•"/>
            </a:pPr>
            <a:r>
              <a:rPr lang="en-US" sz="1300" dirty="0">
                <a:solidFill>
                  <a:srgbClr val="16241D"/>
                </a:solidFill>
                <a:latin typeface="Calibri" pitchFamily="34" charset="0"/>
                <a:ea typeface="Calibri" pitchFamily="34" charset="-122"/>
                <a:cs typeface="Calibri" pitchFamily="34" charset="-120"/>
              </a:rPr>
              <a:t>Register and assign sensors</a:t>
            </a:r>
            <a:endParaRPr lang="en-US" sz="1300" dirty="0"/>
          </a:p>
          <a:p>
            <a:pPr marL="342900" indent="-342900">
              <a:lnSpc>
                <a:spcPts val="1900"/>
              </a:lnSpc>
              <a:spcAft>
                <a:spcPts val="800"/>
              </a:spcAft>
              <a:buSzPct val="100000"/>
              <a:buChar char="•"/>
            </a:pPr>
            <a:r>
              <a:rPr lang="en-US" sz="1300" dirty="0">
                <a:solidFill>
                  <a:srgbClr val="16241D"/>
                </a:solidFill>
                <a:latin typeface="Calibri" pitchFamily="34" charset="0"/>
                <a:ea typeface="Calibri" pitchFamily="34" charset="-122"/>
                <a:cs typeface="Calibri" pitchFamily="34" charset="-120"/>
              </a:rPr>
              <a:t>Set acceptable ranges per location</a:t>
            </a:r>
            <a:endParaRPr lang="en-US" sz="1300" dirty="0"/>
          </a:p>
          <a:p>
            <a:pPr marL="342900" indent="-342900">
              <a:lnSpc>
                <a:spcPts val="1900"/>
              </a:lnSpc>
              <a:spcAft>
                <a:spcPts val="800"/>
              </a:spcAft>
              <a:buSzPct val="100000"/>
              <a:buChar char="•"/>
            </a:pPr>
            <a:r>
              <a:rPr lang="en-US" sz="1300" dirty="0">
                <a:solidFill>
                  <a:srgbClr val="16241D"/>
                </a:solidFill>
                <a:latin typeface="Calibri" pitchFamily="34" charset="0"/>
                <a:ea typeface="Calibri" pitchFamily="34" charset="-122"/>
                <a:cs typeface="Calibri" pitchFamily="34" charset="-120"/>
              </a:rPr>
              <a:t>Generate and export reports</a:t>
            </a:r>
            <a:endParaRPr lang="en-US" sz="1300" dirty="0"/>
          </a:p>
        </p:txBody>
      </p:sp>
      <p:sp>
        <p:nvSpPr>
          <p:cNvPr id="13" name="Shape 11"/>
          <p:cNvSpPr/>
          <p:nvPr/>
        </p:nvSpPr>
        <p:spPr>
          <a:xfrm>
            <a:off x="6446520" y="1737360"/>
            <a:ext cx="5102352" cy="3977640"/>
          </a:xfrm>
          <a:prstGeom prst="roundRect">
            <a:avLst>
              <a:gd name="adj" fmla="val 2069"/>
            </a:avLst>
          </a:prstGeom>
          <a:solidFill>
            <a:srgbClr val="FFFFFF"/>
          </a:solidFill>
          <a:ln w="12700">
            <a:solidFill>
              <a:srgbClr val="E0E7E1"/>
            </a:solidFill>
            <a:prstDash val="solid"/>
          </a:ln>
        </p:spPr>
      </p:sp>
      <p:sp>
        <p:nvSpPr>
          <p:cNvPr id="14" name="Shape 12"/>
          <p:cNvSpPr/>
          <p:nvPr/>
        </p:nvSpPr>
        <p:spPr>
          <a:xfrm>
            <a:off x="6766560" y="2011680"/>
            <a:ext cx="548640" cy="548640"/>
          </a:xfrm>
          <a:prstGeom prst="ellipse">
            <a:avLst/>
          </a:prstGeom>
          <a:solidFill>
            <a:srgbClr val="2F5D3A"/>
          </a:solidFill>
          <a:ln w="12700">
            <a:solidFill>
              <a:srgbClr val="2F5D3A"/>
            </a:solidFill>
            <a:prstDash val="solid"/>
          </a:ln>
        </p:spPr>
      </p:sp>
      <p:sp>
        <p:nvSpPr>
          <p:cNvPr id="15" name="Text 13"/>
          <p:cNvSpPr txBox="1"/>
          <p:nvPr/>
        </p:nvSpPr>
        <p:spPr>
          <a:xfrm>
            <a:off x="6766560" y="2130552"/>
            <a:ext cx="54864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a:t>
            </a:r>
            <a:endParaRPr lang="en-US" sz="1600" dirty="0"/>
          </a:p>
        </p:txBody>
      </p:sp>
      <p:sp>
        <p:nvSpPr>
          <p:cNvPr id="16" name="Text 14"/>
          <p:cNvSpPr txBox="1"/>
          <p:nvPr/>
        </p:nvSpPr>
        <p:spPr>
          <a:xfrm>
            <a:off x="7452360" y="2084832"/>
            <a:ext cx="3657600" cy="365760"/>
          </a:xfrm>
          <a:prstGeom prst="rect">
            <a:avLst/>
          </a:prstGeom>
          <a:noFill/>
          <a:ln/>
        </p:spPr>
        <p:txBody>
          <a:bodyPr wrap="square" lIns="0" tIns="0" rIns="0" bIns="0" rtlCol="0" anchor="ctr"/>
          <a:lstStyle/>
          <a:p>
            <a:pPr indent="0" marL="0">
              <a:buNone/>
            </a:pPr>
            <a:r>
              <a:rPr lang="en-US" sz="1900" b="1" dirty="0">
                <a:solidFill>
                  <a:srgbClr val="16241D"/>
                </a:solidFill>
                <a:latin typeface="Cambria" pitchFamily="34" charset="0"/>
                <a:ea typeface="Cambria" pitchFamily="34" charset="-122"/>
                <a:cs typeface="Cambria" pitchFamily="34" charset="-120"/>
              </a:rPr>
              <a:t>Standard User</a:t>
            </a:r>
            <a:endParaRPr lang="en-US" sz="1900" dirty="0"/>
          </a:p>
        </p:txBody>
      </p:sp>
      <p:sp>
        <p:nvSpPr>
          <p:cNvPr id="17" name="Text 15"/>
          <p:cNvSpPr txBox="1"/>
          <p:nvPr/>
        </p:nvSpPr>
        <p:spPr>
          <a:xfrm>
            <a:off x="6766560" y="2724912"/>
            <a:ext cx="4572000" cy="310896"/>
          </a:xfrm>
          <a:prstGeom prst="rect">
            <a:avLst/>
          </a:prstGeom>
          <a:noFill/>
          <a:ln/>
        </p:spPr>
        <p:txBody>
          <a:bodyPr wrap="square" lIns="0" tIns="0" rIns="0" bIns="0" rtlCol="0" anchor="ctr"/>
          <a:lstStyle/>
          <a:p>
            <a:pPr indent="0" marL="0">
              <a:buNone/>
            </a:pPr>
            <a:r>
              <a:rPr lang="en-US" sz="1250" dirty="0">
                <a:solidFill>
                  <a:srgbClr val="6E7D73"/>
                </a:solidFill>
                <a:latin typeface="Calibri" pitchFamily="34" charset="0"/>
                <a:ea typeface="Calibri" pitchFamily="34" charset="-122"/>
                <a:cs typeface="Calibri" pitchFamily="34" charset="-120"/>
              </a:rPr>
              <a:t>Read only. Changes nothing.</a:t>
            </a:r>
            <a:endParaRPr lang="en-US" sz="1250" dirty="0"/>
          </a:p>
        </p:txBody>
      </p:sp>
      <p:sp>
        <p:nvSpPr>
          <p:cNvPr id="18" name="Text 16"/>
          <p:cNvSpPr txBox="1"/>
          <p:nvPr/>
        </p:nvSpPr>
        <p:spPr>
          <a:xfrm>
            <a:off x="6766560" y="3200400"/>
            <a:ext cx="4572000" cy="2286000"/>
          </a:xfrm>
          <a:prstGeom prst="rect">
            <a:avLst/>
          </a:prstGeom>
          <a:noFill/>
          <a:ln/>
        </p:spPr>
        <p:txBody>
          <a:bodyPr wrap="square" lIns="0" tIns="0" rIns="0" bIns="0" rtlCol="0" anchor="t"/>
          <a:lstStyle/>
          <a:p>
            <a:pPr marL="342900" indent="-342900">
              <a:lnSpc>
                <a:spcPts val="1900"/>
              </a:lnSpc>
              <a:spcAft>
                <a:spcPts val="800"/>
              </a:spcAft>
              <a:buSzPct val="100000"/>
              <a:buChar char="•"/>
            </a:pPr>
            <a:r>
              <a:rPr lang="en-US" sz="1300" dirty="0">
                <a:solidFill>
                  <a:srgbClr val="16241D"/>
                </a:solidFill>
                <a:latin typeface="Calibri" pitchFamily="34" charset="0"/>
                <a:ea typeface="Calibri" pitchFamily="34" charset="-122"/>
                <a:cs typeface="Calibri" pitchFamily="34" charset="-120"/>
              </a:rPr>
              <a:t>View the dashboard and all three locations</a:t>
            </a:r>
            <a:endParaRPr lang="en-US" sz="1300" dirty="0"/>
          </a:p>
          <a:p>
            <a:pPr marL="342900" indent="-342900">
              <a:lnSpc>
                <a:spcPts val="1900"/>
              </a:lnSpc>
              <a:spcAft>
                <a:spcPts val="800"/>
              </a:spcAft>
              <a:buSzPct val="100000"/>
              <a:buChar char="•"/>
            </a:pPr>
            <a:r>
              <a:rPr lang="en-US" sz="1300" dirty="0">
                <a:solidFill>
                  <a:srgbClr val="16241D"/>
                </a:solidFill>
                <a:latin typeface="Calibri" pitchFamily="34" charset="0"/>
                <a:ea typeface="Calibri" pitchFamily="34" charset="-122"/>
                <a:cs typeface="Calibri" pitchFamily="34" charset="-120"/>
              </a:rPr>
              <a:t>View readings for any sensor</a:t>
            </a:r>
            <a:endParaRPr lang="en-US" sz="1300" dirty="0"/>
          </a:p>
          <a:p>
            <a:pPr marL="342900" indent="-342900">
              <a:lnSpc>
                <a:spcPts val="1900"/>
              </a:lnSpc>
              <a:spcAft>
                <a:spcPts val="800"/>
              </a:spcAft>
              <a:buSzPct val="100000"/>
              <a:buChar char="•"/>
            </a:pPr>
            <a:r>
              <a:rPr lang="en-US" sz="1300" dirty="0">
                <a:solidFill>
                  <a:srgbClr val="16241D"/>
                </a:solidFill>
                <a:latin typeface="Calibri" pitchFamily="34" charset="0"/>
                <a:ea typeface="Calibri" pitchFamily="34" charset="-122"/>
                <a:cs typeface="Calibri" pitchFamily="34" charset="-120"/>
              </a:rPr>
              <a:t>View battery and equipment status</a:t>
            </a:r>
            <a:endParaRPr lang="en-US" sz="1300" dirty="0"/>
          </a:p>
          <a:p>
            <a:pPr marL="342900" indent="-342900">
              <a:lnSpc>
                <a:spcPts val="1900"/>
              </a:lnSpc>
              <a:spcAft>
                <a:spcPts val="800"/>
              </a:spcAft>
              <a:buSzPct val="100000"/>
              <a:buChar char="•"/>
            </a:pPr>
            <a:r>
              <a:rPr lang="en-US" sz="1300" dirty="0">
                <a:solidFill>
                  <a:srgbClr val="16241D"/>
                </a:solidFill>
                <a:latin typeface="Calibri" pitchFamily="34" charset="0"/>
                <a:ea typeface="Calibri" pitchFamily="34" charset="-122"/>
                <a:cs typeface="Calibri" pitchFamily="34" charset="-120"/>
              </a:rPr>
              <a:t>View history and compare locations</a:t>
            </a:r>
            <a:endParaRPr lang="en-US" sz="1300" dirty="0"/>
          </a:p>
          <a:p>
            <a:pPr marL="342900" indent="-342900">
              <a:lnSpc>
                <a:spcPts val="1900"/>
              </a:lnSpc>
              <a:spcAft>
                <a:spcPts val="800"/>
              </a:spcAft>
              <a:buSzPct val="100000"/>
              <a:buChar char="•"/>
            </a:pPr>
            <a:r>
              <a:rPr lang="en-US" sz="1300" dirty="0">
                <a:solidFill>
                  <a:srgbClr val="16241D"/>
                </a:solidFill>
                <a:latin typeface="Calibri" pitchFamily="34" charset="0"/>
                <a:ea typeface="Calibri" pitchFamily="34" charset="-122"/>
                <a:cs typeface="Calibri" pitchFamily="34" charset="-120"/>
              </a:rPr>
              <a:t>View alerts</a:t>
            </a:r>
            <a:endParaRPr lang="en-US" sz="1300" dirty="0"/>
          </a:p>
        </p:txBody>
      </p:sp>
      <p:sp>
        <p:nvSpPr>
          <p:cNvPr id="19" name="Text 17"/>
          <p:cNvSpPr txBox="1"/>
          <p:nvPr/>
        </p:nvSpPr>
        <p:spPr>
          <a:xfrm>
            <a:off x="640080" y="5870448"/>
            <a:ext cx="10881360" cy="329184"/>
          </a:xfrm>
          <a:prstGeom prst="rect">
            <a:avLst/>
          </a:prstGeom>
          <a:noFill/>
          <a:ln/>
        </p:spPr>
        <p:txBody>
          <a:bodyPr wrap="square" lIns="0" tIns="0" rIns="0" bIns="0" rtlCol="0" anchor="ctr"/>
          <a:lstStyle/>
          <a:p>
            <a:pPr indent="0" marL="0">
              <a:buNone/>
            </a:pPr>
            <a:r>
              <a:rPr lang="en-US" sz="1250" i="1" dirty="0">
                <a:solidFill>
                  <a:srgbClr val="6E7D73"/>
                </a:solidFill>
                <a:latin typeface="Calibri" pitchFamily="34" charset="0"/>
                <a:ea typeface="Calibri" pitchFamily="34" charset="-122"/>
                <a:cs typeface="Calibri" pitchFamily="34" charset="-120"/>
              </a:rPr>
              <a:t>Site managers, agricultural staff, field workers and researchers all fit within these two roles. More can be added later if the organisation needs them.</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DATA APPROACH</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Nido Maphosa</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The decision that changed our architecture</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19</a:t>
            </a:r>
            <a:endParaRPr lang="en-US" sz="1000" dirty="0"/>
          </a:p>
        </p:txBody>
      </p:sp>
      <p:sp>
        <p:nvSpPr>
          <p:cNvPr id="7" name="Shape 5"/>
          <p:cNvSpPr/>
          <p:nvPr/>
        </p:nvSpPr>
        <p:spPr>
          <a:xfrm>
            <a:off x="640080" y="1737360"/>
            <a:ext cx="10899648" cy="1371600"/>
          </a:xfrm>
          <a:prstGeom prst="roundRect">
            <a:avLst>
              <a:gd name="adj" fmla="val 6000"/>
            </a:avLst>
          </a:prstGeom>
          <a:solidFill>
            <a:srgbClr val="EFE7DC"/>
          </a:solidFill>
          <a:ln w="12700">
            <a:solidFill>
              <a:srgbClr val="EFE7DC"/>
            </a:solidFill>
            <a:prstDash val="solid"/>
          </a:ln>
        </p:spPr>
      </p:sp>
      <p:sp>
        <p:nvSpPr>
          <p:cNvPr id="8" name="Text 6"/>
          <p:cNvSpPr txBox="1"/>
          <p:nvPr/>
        </p:nvSpPr>
        <p:spPr>
          <a:xfrm>
            <a:off x="1051560" y="1975104"/>
            <a:ext cx="8778240" cy="822960"/>
          </a:xfrm>
          <a:prstGeom prst="rect">
            <a:avLst/>
          </a:prstGeom>
          <a:noFill/>
          <a:ln/>
        </p:spPr>
        <p:txBody>
          <a:bodyPr wrap="square" lIns="0" tIns="0" rIns="0" bIns="0" rtlCol="0" anchor="t"/>
          <a:lstStyle/>
          <a:p>
            <a:pPr indent="0" marL="0">
              <a:lnSpc>
                <a:spcPts val="2600"/>
              </a:lnSpc>
              <a:buNone/>
            </a:pPr>
            <a:r>
              <a:rPr lang="en-US" sz="1700" i="1" dirty="0">
                <a:solidFill>
                  <a:srgbClr val="16241D"/>
                </a:solidFill>
                <a:latin typeface="Cambria" pitchFamily="34" charset="0"/>
                <a:ea typeface="Cambria" pitchFamily="34" charset="-122"/>
                <a:cs typeface="Cambria" pitchFamily="34" charset="-120"/>
              </a:rPr>
              <a:t>“For the current prototype, you may use realistic dummy sensor data. Firebase integration is not required at this stage.”</a:t>
            </a:r>
            <a:endParaRPr lang="en-US" sz="1700" dirty="0"/>
          </a:p>
        </p:txBody>
      </p:sp>
      <p:sp>
        <p:nvSpPr>
          <p:cNvPr id="9" name="Text 7"/>
          <p:cNvSpPr txBox="1"/>
          <p:nvPr/>
        </p:nvSpPr>
        <p:spPr>
          <a:xfrm>
            <a:off x="1051560" y="2724912"/>
            <a:ext cx="4572000" cy="274320"/>
          </a:xfrm>
          <a:prstGeom prst="rect">
            <a:avLst/>
          </a:prstGeom>
          <a:noFill/>
          <a:ln/>
        </p:spPr>
        <p:txBody>
          <a:bodyPr wrap="square" lIns="0" tIns="0" rIns="0" bIns="0" rtlCol="0" anchor="ctr"/>
          <a:lstStyle/>
          <a:p>
            <a:pPr indent="0" marL="0">
              <a:buNone/>
            </a:pPr>
            <a:r>
              <a:rPr lang="en-US" sz="1150" dirty="0">
                <a:solidFill>
                  <a:srgbClr val="1F6F6B"/>
                </a:solidFill>
                <a:latin typeface="Calibri" pitchFamily="34" charset="0"/>
                <a:ea typeface="Calibri" pitchFamily="34" charset="-122"/>
                <a:cs typeface="Calibri" pitchFamily="34" charset="-120"/>
              </a:rPr>
              <a:t>— the stakeholder, in writing, 27 August</a:t>
            </a:r>
            <a:endParaRPr lang="en-US" sz="1150" dirty="0"/>
          </a:p>
        </p:txBody>
      </p:sp>
      <p:sp>
        <p:nvSpPr>
          <p:cNvPr id="10" name="Shape 8"/>
          <p:cNvSpPr/>
          <p:nvPr/>
        </p:nvSpPr>
        <p:spPr>
          <a:xfrm>
            <a:off x="640080" y="3310128"/>
            <a:ext cx="3456432" cy="1965960"/>
          </a:xfrm>
          <a:prstGeom prst="roundRect">
            <a:avLst>
              <a:gd name="adj" fmla="val 4186"/>
            </a:avLst>
          </a:prstGeom>
          <a:solidFill>
            <a:srgbClr val="FFFFFF"/>
          </a:solidFill>
          <a:ln w="12700">
            <a:solidFill>
              <a:srgbClr val="E0E7E1"/>
            </a:solidFill>
            <a:prstDash val="solid"/>
          </a:ln>
        </p:spPr>
      </p:sp>
      <p:sp>
        <p:nvSpPr>
          <p:cNvPr id="11" name="Text 9"/>
          <p:cNvSpPr txBox="1"/>
          <p:nvPr/>
        </p:nvSpPr>
        <p:spPr>
          <a:xfrm>
            <a:off x="914400" y="3547872"/>
            <a:ext cx="2926080" cy="310896"/>
          </a:xfrm>
          <a:prstGeom prst="rect">
            <a:avLst/>
          </a:prstGeom>
          <a:noFill/>
          <a:ln/>
        </p:spPr>
        <p:txBody>
          <a:bodyPr wrap="square" lIns="0" tIns="0" rIns="0" bIns="0" rtlCol="0" anchor="ctr"/>
          <a:lstStyle/>
          <a:p>
            <a:pPr indent="0" marL="0">
              <a:buNone/>
            </a:pPr>
            <a:r>
              <a:rPr lang="en-US" sz="1400" b="1" dirty="0">
                <a:solidFill>
                  <a:srgbClr val="AE5C34"/>
                </a:solidFill>
                <a:latin typeface="Calibri" pitchFamily="34" charset="0"/>
                <a:ea typeface="Calibri" pitchFamily="34" charset="-122"/>
                <a:cs typeface="Calibri" pitchFamily="34" charset="-120"/>
              </a:rPr>
              <a:t>What it removed</a:t>
            </a:r>
            <a:endParaRPr lang="en-US" sz="1400" dirty="0"/>
          </a:p>
        </p:txBody>
      </p:sp>
      <p:sp>
        <p:nvSpPr>
          <p:cNvPr id="12" name="Text 10"/>
          <p:cNvSpPr txBox="1"/>
          <p:nvPr/>
        </p:nvSpPr>
        <p:spPr>
          <a:xfrm>
            <a:off x="914400" y="3931920"/>
            <a:ext cx="2926080" cy="1188720"/>
          </a:xfrm>
          <a:prstGeom prst="rect">
            <a:avLst/>
          </a:prstGeom>
          <a:noFill/>
          <a:ln/>
        </p:spPr>
        <p:txBody>
          <a:bodyPr wrap="square" lIns="0" tIns="0" rIns="0" bIns="0" rtlCol="0" anchor="t"/>
          <a:lstStyle/>
          <a:p>
            <a:pPr indent="0" marL="0">
              <a:lnSpc>
                <a:spcPts val="1700"/>
              </a:lnSpc>
              <a:buNone/>
            </a:pPr>
            <a:r>
              <a:rPr lang="en-US" sz="1250" dirty="0">
                <a:solidFill>
                  <a:srgbClr val="16241D"/>
                </a:solidFill>
                <a:latin typeface="Calibri" pitchFamily="34" charset="0"/>
                <a:ea typeface="Calibri" pitchFamily="34" charset="-122"/>
                <a:cs typeface="Calibri" pitchFamily="34" charset="-120"/>
              </a:rPr>
              <a:t>The live integration with the sensor operator's data store, and with it the one component we could not design until we knew the published format.</a:t>
            </a:r>
            <a:endParaRPr lang="en-US" sz="1250" dirty="0"/>
          </a:p>
        </p:txBody>
      </p:sp>
      <p:sp>
        <p:nvSpPr>
          <p:cNvPr id="13" name="Shape 11"/>
          <p:cNvSpPr/>
          <p:nvPr/>
        </p:nvSpPr>
        <p:spPr>
          <a:xfrm>
            <a:off x="4325112" y="3310128"/>
            <a:ext cx="3456432" cy="1965960"/>
          </a:xfrm>
          <a:prstGeom prst="roundRect">
            <a:avLst>
              <a:gd name="adj" fmla="val 4186"/>
            </a:avLst>
          </a:prstGeom>
          <a:solidFill>
            <a:srgbClr val="FFFFFF"/>
          </a:solidFill>
          <a:ln w="12700">
            <a:solidFill>
              <a:srgbClr val="E0E7E1"/>
            </a:solidFill>
            <a:prstDash val="solid"/>
          </a:ln>
        </p:spPr>
      </p:sp>
      <p:sp>
        <p:nvSpPr>
          <p:cNvPr id="14" name="Text 12"/>
          <p:cNvSpPr txBox="1"/>
          <p:nvPr/>
        </p:nvSpPr>
        <p:spPr>
          <a:xfrm>
            <a:off x="4599432" y="3547872"/>
            <a:ext cx="2926080" cy="310896"/>
          </a:xfrm>
          <a:prstGeom prst="rect">
            <a:avLst/>
          </a:prstGeom>
          <a:noFill/>
          <a:ln/>
        </p:spPr>
        <p:txBody>
          <a:bodyPr wrap="square" lIns="0" tIns="0" rIns="0" bIns="0" rtlCol="0" anchor="ctr"/>
          <a:lstStyle/>
          <a:p>
            <a:pPr indent="0" marL="0">
              <a:buNone/>
            </a:pPr>
            <a:r>
              <a:rPr lang="en-US" sz="1400" b="1" dirty="0">
                <a:solidFill>
                  <a:srgbClr val="1F6F6B"/>
                </a:solidFill>
                <a:latin typeface="Calibri" pitchFamily="34" charset="0"/>
                <a:ea typeface="Calibri" pitchFamily="34" charset="-122"/>
                <a:cs typeface="Calibri" pitchFamily="34" charset="-120"/>
              </a:rPr>
              <a:t>What we do instead</a:t>
            </a:r>
            <a:endParaRPr lang="en-US" sz="1400" dirty="0"/>
          </a:p>
        </p:txBody>
      </p:sp>
      <p:sp>
        <p:nvSpPr>
          <p:cNvPr id="15" name="Text 13"/>
          <p:cNvSpPr txBox="1"/>
          <p:nvPr/>
        </p:nvSpPr>
        <p:spPr>
          <a:xfrm>
            <a:off x="4599432" y="3931920"/>
            <a:ext cx="2926080" cy="1188720"/>
          </a:xfrm>
          <a:prstGeom prst="rect">
            <a:avLst/>
          </a:prstGeom>
          <a:noFill/>
          <a:ln/>
        </p:spPr>
        <p:txBody>
          <a:bodyPr wrap="square" lIns="0" tIns="0" rIns="0" bIns="0" rtlCol="0" anchor="t"/>
          <a:lstStyle/>
          <a:p>
            <a:pPr indent="0" marL="0">
              <a:lnSpc>
                <a:spcPts val="1700"/>
              </a:lnSpc>
              <a:buNone/>
            </a:pPr>
            <a:r>
              <a:rPr lang="en-US" sz="1250" dirty="0">
                <a:solidFill>
                  <a:srgbClr val="16241D"/>
                </a:solidFill>
                <a:latin typeface="Calibri" pitchFamily="34" charset="0"/>
                <a:ea typeface="Calibri" pitchFamily="34" charset="-122"/>
                <a:cs typeface="Calibri" pitchFamily="34" charset="-120"/>
              </a:rPr>
              <a:t>A single provisioning component stores realistic readings for all fifteen sensors at the same thirty-minute interval.</a:t>
            </a:r>
            <a:endParaRPr lang="en-US" sz="1250" dirty="0"/>
          </a:p>
        </p:txBody>
      </p:sp>
      <p:sp>
        <p:nvSpPr>
          <p:cNvPr id="16" name="Shape 14"/>
          <p:cNvSpPr/>
          <p:nvPr/>
        </p:nvSpPr>
        <p:spPr>
          <a:xfrm>
            <a:off x="8010144" y="3310128"/>
            <a:ext cx="3456432" cy="1965960"/>
          </a:xfrm>
          <a:prstGeom prst="roundRect">
            <a:avLst>
              <a:gd name="adj" fmla="val 4186"/>
            </a:avLst>
          </a:prstGeom>
          <a:solidFill>
            <a:srgbClr val="FFFFFF"/>
          </a:solidFill>
          <a:ln w="12700">
            <a:solidFill>
              <a:srgbClr val="E0E7E1"/>
            </a:solidFill>
            <a:prstDash val="solid"/>
          </a:ln>
        </p:spPr>
      </p:sp>
      <p:sp>
        <p:nvSpPr>
          <p:cNvPr id="17" name="Text 15"/>
          <p:cNvSpPr txBox="1"/>
          <p:nvPr/>
        </p:nvSpPr>
        <p:spPr>
          <a:xfrm>
            <a:off x="8284464" y="3547872"/>
            <a:ext cx="2926080" cy="310896"/>
          </a:xfrm>
          <a:prstGeom prst="rect">
            <a:avLst/>
          </a:prstGeom>
          <a:noFill/>
          <a:ln/>
        </p:spPr>
        <p:txBody>
          <a:bodyPr wrap="square" lIns="0" tIns="0" rIns="0" bIns="0" rtlCol="0" anchor="ctr"/>
          <a:lstStyle/>
          <a:p>
            <a:pPr indent="0" marL="0">
              <a:buNone/>
            </a:pPr>
            <a:r>
              <a:rPr lang="en-US" sz="1400" b="1" dirty="0">
                <a:solidFill>
                  <a:srgbClr val="2F5D3A"/>
                </a:solidFill>
                <a:latin typeface="Calibri" pitchFamily="34" charset="0"/>
                <a:ea typeface="Calibri" pitchFamily="34" charset="-122"/>
                <a:cs typeface="Calibri" pitchFamily="34" charset="-120"/>
              </a:rPr>
              <a:t>Why it is safe</a:t>
            </a:r>
            <a:endParaRPr lang="en-US" sz="1400" dirty="0"/>
          </a:p>
        </p:txBody>
      </p:sp>
      <p:sp>
        <p:nvSpPr>
          <p:cNvPr id="18" name="Text 16"/>
          <p:cNvSpPr txBox="1"/>
          <p:nvPr/>
        </p:nvSpPr>
        <p:spPr>
          <a:xfrm>
            <a:off x="8284464" y="3931920"/>
            <a:ext cx="2926080" cy="1188720"/>
          </a:xfrm>
          <a:prstGeom prst="rect">
            <a:avLst/>
          </a:prstGeom>
          <a:noFill/>
          <a:ln/>
        </p:spPr>
        <p:txBody>
          <a:bodyPr wrap="square" lIns="0" tIns="0" rIns="0" bIns="0" rtlCol="0" anchor="t"/>
          <a:lstStyle/>
          <a:p>
            <a:pPr indent="0" marL="0">
              <a:lnSpc>
                <a:spcPts val="1700"/>
              </a:lnSpc>
              <a:buNone/>
            </a:pPr>
            <a:r>
              <a:rPr lang="en-US" sz="1250" dirty="0">
                <a:solidFill>
                  <a:srgbClr val="16241D"/>
                </a:solidFill>
                <a:latin typeface="Calibri" pitchFamily="34" charset="0"/>
                <a:ea typeface="Calibri" pitchFamily="34" charset="-122"/>
                <a:cs typeface="Calibri" pitchFamily="34" charset="-120"/>
              </a:rPr>
              <a:t>That component is the only writer of readings. Replacing it with a live feed later changes nothing else in the system.</a:t>
            </a:r>
            <a:endParaRPr lang="en-US" sz="1250" dirty="0"/>
          </a:p>
        </p:txBody>
      </p:sp>
      <p:sp>
        <p:nvSpPr>
          <p:cNvPr id="19" name="Text 17"/>
          <p:cNvSpPr txBox="1"/>
          <p:nvPr/>
        </p:nvSpPr>
        <p:spPr>
          <a:xfrm>
            <a:off x="640080" y="5486400"/>
            <a:ext cx="10881360" cy="365760"/>
          </a:xfrm>
          <a:prstGeom prst="rect">
            <a:avLst/>
          </a:prstGeom>
          <a:noFill/>
          <a:ln/>
        </p:spPr>
        <p:txBody>
          <a:bodyPr wrap="square" lIns="0" tIns="0" rIns="0" bIns="0" rtlCol="0" anchor="ctr"/>
          <a:lstStyle/>
          <a:p>
            <a:pPr indent="0" marL="0">
              <a:buNone/>
            </a:pPr>
            <a:r>
              <a:rPr lang="en-US" sz="1250" i="1" dirty="0">
                <a:solidFill>
                  <a:srgbClr val="6E7D73"/>
                </a:solidFill>
                <a:latin typeface="Calibri" pitchFamily="34" charset="0"/>
                <a:ea typeface="Calibri" pitchFamily="34" charset="-122"/>
                <a:cs typeface="Calibri" pitchFamily="34" charset="-120"/>
              </a:rPr>
              <a:t>Recorded as entries C01 and C02 in the requirements change log, with her written waiver held as evidence.</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241D"/>
        </a:solidFill>
      </p:bgPr>
    </p:bg>
    <p:spTree>
      <p:nvGrpSpPr>
        <p:cNvPr id="1" name=""/>
        <p:cNvGrpSpPr/>
        <p:nvPr/>
      </p:nvGrpSpPr>
      <p:grpSpPr>
        <a:xfrm>
          <a:off x="0" y="0"/>
          <a:ext cx="0" cy="0"/>
          <a:chOff x="0" y="0"/>
          <a:chExt cx="0" cy="0"/>
        </a:xfrm>
      </p:grpSpPr>
      <p:sp>
        <p:nvSpPr>
          <p:cNvPr id="2" name="Text 0"/>
          <p:cNvSpPr txBox="1"/>
          <p:nvPr/>
        </p:nvSpPr>
        <p:spPr>
          <a:xfrm>
            <a:off x="822960" y="1828800"/>
            <a:ext cx="2011680" cy="1371600"/>
          </a:xfrm>
          <a:prstGeom prst="rect">
            <a:avLst/>
          </a:prstGeom>
          <a:noFill/>
          <a:ln/>
        </p:spPr>
        <p:txBody>
          <a:bodyPr wrap="square" lIns="0" tIns="0" rIns="0" bIns="0" rtlCol="0" anchor="ctr"/>
          <a:lstStyle/>
          <a:p>
            <a:pPr indent="0" marL="0">
              <a:buNone/>
            </a:pPr>
            <a:r>
              <a:rPr lang="en-US" sz="9600" b="1" dirty="0">
                <a:solidFill>
                  <a:srgbClr val="1F6F6B"/>
                </a:solidFill>
                <a:latin typeface="Cambria" pitchFamily="34" charset="0"/>
                <a:ea typeface="Cambria" pitchFamily="34" charset="-122"/>
                <a:cs typeface="Cambria" pitchFamily="34" charset="-120"/>
              </a:rPr>
              <a:t>05</a:t>
            </a:r>
            <a:endParaRPr lang="en-US" sz="9600" dirty="0"/>
          </a:p>
        </p:txBody>
      </p:sp>
      <p:sp>
        <p:nvSpPr>
          <p:cNvPr id="3" name="Text 1"/>
          <p:cNvSpPr txBox="1"/>
          <p:nvPr/>
        </p:nvSpPr>
        <p:spPr>
          <a:xfrm>
            <a:off x="2926080" y="2148840"/>
            <a:ext cx="841248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The requirements</a:t>
            </a:r>
            <a:endParaRPr lang="en-US" sz="4000" dirty="0"/>
          </a:p>
        </p:txBody>
      </p:sp>
      <p:sp>
        <p:nvSpPr>
          <p:cNvPr id="4" name="Text 2"/>
          <p:cNvSpPr txBox="1"/>
          <p:nvPr/>
        </p:nvSpPr>
        <p:spPr>
          <a:xfrm>
            <a:off x="2926080" y="3063240"/>
            <a:ext cx="7680960" cy="822960"/>
          </a:xfrm>
          <a:prstGeom prst="rect">
            <a:avLst/>
          </a:prstGeom>
          <a:noFill/>
          <a:ln/>
        </p:spPr>
        <p:txBody>
          <a:bodyPr wrap="square" lIns="0" tIns="0" rIns="0" bIns="0" rtlCol="0" anchor="t"/>
          <a:lstStyle/>
          <a:p>
            <a:pPr indent="0" marL="0">
              <a:lnSpc>
                <a:spcPts val="2400"/>
              </a:lnSpc>
              <a:buNone/>
            </a:pPr>
            <a:r>
              <a:rPr lang="en-US" sz="1500" dirty="0">
                <a:solidFill>
                  <a:srgbClr val="A9BCAF"/>
                </a:solidFill>
                <a:latin typeface="Calibri" pitchFamily="34" charset="0"/>
                <a:ea typeface="Calibri" pitchFamily="34" charset="-122"/>
                <a:cs typeface="Calibri" pitchFamily="34" charset="-120"/>
              </a:rPr>
              <a:t>One hundred and thirteen requirements, every one traceable to something the stakeholder wrote.</a:t>
            </a:r>
            <a:endParaRPr lang="en-US" sz="1500" dirty="0"/>
          </a:p>
        </p:txBody>
      </p:sp>
      <p:sp>
        <p:nvSpPr>
          <p:cNvPr id="5" name="Shape 3"/>
          <p:cNvSpPr/>
          <p:nvPr/>
        </p:nvSpPr>
        <p:spPr>
          <a:xfrm>
            <a:off x="2926080" y="4114800"/>
            <a:ext cx="1005840" cy="32004"/>
          </a:xfrm>
          <a:prstGeom prst="rect">
            <a:avLst/>
          </a:prstGeom>
          <a:solidFill>
            <a:srgbClr val="D9A92C"/>
          </a:solidFill>
          <a:ln w="12700">
            <a:solidFill>
              <a:srgbClr val="D9A92C"/>
            </a:solidFill>
            <a:prstDash val="solid"/>
          </a:ln>
        </p:spPr>
      </p:sp>
      <p:sp>
        <p:nvSpPr>
          <p:cNvPr id="6" name="Text 4"/>
          <p:cNvSpPr txBox="1"/>
          <p:nvPr/>
        </p:nvSpPr>
        <p:spPr>
          <a:xfrm>
            <a:off x="2926080" y="4370832"/>
            <a:ext cx="5486400" cy="310896"/>
          </a:xfrm>
          <a:prstGeom prst="rect">
            <a:avLst/>
          </a:prstGeom>
          <a:noFill/>
          <a:ln/>
        </p:spPr>
        <p:txBody>
          <a:bodyPr wrap="square" lIns="0" tIns="0" rIns="0" bIns="0" rtlCol="0" anchor="ctr"/>
          <a:lstStyle/>
          <a:p>
            <a:pPr indent="0" marL="0">
              <a:buNone/>
            </a:pPr>
            <a:r>
              <a:rPr lang="en-US" sz="1500" b="1" dirty="0">
                <a:solidFill>
                  <a:srgbClr val="D9A92C"/>
                </a:solidFill>
                <a:latin typeface="Calibri" pitchFamily="34" charset="0"/>
                <a:ea typeface="Calibri" pitchFamily="34" charset="-122"/>
                <a:cs typeface="Calibri" pitchFamily="34" charset="-120"/>
              </a:rPr>
              <a:t>Thobani Mjiyakho</a:t>
            </a:r>
            <a:endParaRPr lang="en-US" sz="1500" dirty="0"/>
          </a:p>
        </p:txBody>
      </p:sp>
      <p:sp>
        <p:nvSpPr>
          <p:cNvPr id="7" name="Text 5"/>
          <p:cNvSpPr txBox="1"/>
          <p:nvPr/>
        </p:nvSpPr>
        <p:spPr>
          <a:xfrm>
            <a:off x="2926080" y="4718304"/>
            <a:ext cx="5486400" cy="274320"/>
          </a:xfrm>
          <a:prstGeom prst="rect">
            <a:avLst/>
          </a:prstGeom>
          <a:noFill/>
          <a:ln/>
        </p:spPr>
        <p:txBody>
          <a:bodyPr wrap="square" lIns="0" tIns="0" rIns="0" bIns="0" rtlCol="0" anchor="ctr"/>
          <a:lstStyle/>
          <a:p>
            <a:pPr indent="0" marL="0">
              <a:buNone/>
            </a:pPr>
            <a:r>
              <a:rPr lang="en-US" sz="1200" dirty="0">
                <a:solidFill>
                  <a:srgbClr val="A9BCAF"/>
                </a:solidFill>
                <a:latin typeface="Calibri" pitchFamily="34" charset="0"/>
                <a:ea typeface="Calibri" pitchFamily="34" charset="-122"/>
                <a:cs typeface="Calibri" pitchFamily="34" charset="-120"/>
              </a:rPr>
              <a:t>5 minutes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REQUIREMENTS</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Thobani Mjiyakho</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113 requirements across four types</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21</a:t>
            </a:r>
            <a:endParaRPr lang="en-US" sz="1000" dirty="0"/>
          </a:p>
        </p:txBody>
      </p:sp>
      <p:graphicFrame>
        <p:nvGraphicFramePr>
          <p:cNvPr id="7" name="Chart 0" descr=""/>
          <p:cNvGraphicFramePr/>
          <p:nvPr/>
        </p:nvGraphicFramePr>
        <p:xfrm>
          <a:off x="640080" y="1783080"/>
          <a:ext cx="6766560" cy="39319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772400" y="1783080"/>
            <a:ext cx="3767328" cy="3931920"/>
          </a:xfrm>
          <a:prstGeom prst="roundRect">
            <a:avLst>
              <a:gd name="adj" fmla="val 2184"/>
            </a:avLst>
          </a:prstGeom>
          <a:solidFill>
            <a:srgbClr val="EFE7DC"/>
          </a:solidFill>
          <a:ln w="12700">
            <a:solidFill>
              <a:srgbClr val="EFE7DC"/>
            </a:solidFill>
            <a:prstDash val="solid"/>
          </a:ln>
        </p:spPr>
      </p:sp>
      <p:sp>
        <p:nvSpPr>
          <p:cNvPr id="9" name="Text 6"/>
          <p:cNvSpPr txBox="1"/>
          <p:nvPr/>
        </p:nvSpPr>
        <p:spPr>
          <a:xfrm>
            <a:off x="8092440" y="2029968"/>
            <a:ext cx="3200400" cy="310896"/>
          </a:xfrm>
          <a:prstGeom prst="rect">
            <a:avLst/>
          </a:prstGeom>
          <a:noFill/>
          <a:ln/>
        </p:spPr>
        <p:txBody>
          <a:bodyPr wrap="square" lIns="0" tIns="0" rIns="0" bIns="0" rtlCol="0" anchor="ctr"/>
          <a:lstStyle/>
          <a:p>
            <a:pPr indent="0" marL="0">
              <a:buNone/>
            </a:pPr>
            <a:r>
              <a:rPr lang="en-US" sz="1400" b="1" dirty="0">
                <a:solidFill>
                  <a:srgbClr val="16241D"/>
                </a:solidFill>
                <a:latin typeface="Calibri" pitchFamily="34" charset="0"/>
                <a:ea typeface="Calibri" pitchFamily="34" charset="-122"/>
                <a:cs typeface="Calibri" pitchFamily="34" charset="-120"/>
              </a:rPr>
              <a:t>What the four types mean</a:t>
            </a:r>
            <a:endParaRPr lang="en-US" sz="1400" dirty="0"/>
          </a:p>
        </p:txBody>
      </p:sp>
      <p:sp>
        <p:nvSpPr>
          <p:cNvPr id="10" name="Text 7"/>
          <p:cNvSpPr txBox="1"/>
          <p:nvPr/>
        </p:nvSpPr>
        <p:spPr>
          <a:xfrm>
            <a:off x="8092440" y="2505456"/>
            <a:ext cx="3108960" cy="274320"/>
          </a:xfrm>
          <a:prstGeom prst="rect">
            <a:avLst/>
          </a:prstGeom>
          <a:noFill/>
          <a:ln/>
        </p:spPr>
        <p:txBody>
          <a:bodyPr wrap="square" lIns="0" tIns="0" rIns="0" bIns="0" rtlCol="0" anchor="ctr"/>
          <a:lstStyle/>
          <a:p>
            <a:pPr indent="0" marL="0">
              <a:buNone/>
            </a:pPr>
            <a:r>
              <a:rPr lang="en-US" sz="1300" b="1" dirty="0">
                <a:solidFill>
                  <a:srgbClr val="1F6F6B"/>
                </a:solidFill>
                <a:latin typeface="Calibri" pitchFamily="34" charset="0"/>
                <a:ea typeface="Calibri" pitchFamily="34" charset="-122"/>
                <a:cs typeface="Calibri" pitchFamily="34" charset="-120"/>
              </a:rPr>
              <a:t>Functional</a:t>
            </a:r>
            <a:endParaRPr lang="en-US" sz="1300" dirty="0"/>
          </a:p>
        </p:txBody>
      </p:sp>
      <p:sp>
        <p:nvSpPr>
          <p:cNvPr id="11" name="Text 8"/>
          <p:cNvSpPr txBox="1"/>
          <p:nvPr/>
        </p:nvSpPr>
        <p:spPr>
          <a:xfrm>
            <a:off x="8092440" y="2761488"/>
            <a:ext cx="3108960" cy="365760"/>
          </a:xfrm>
          <a:prstGeom prst="rect">
            <a:avLst/>
          </a:prstGeom>
          <a:noFill/>
          <a:ln/>
        </p:spPr>
        <p:txBody>
          <a:bodyPr wrap="square" lIns="0" tIns="0" rIns="0" bIns="0" rtlCol="0" anchor="t"/>
          <a:lstStyle/>
          <a:p>
            <a:pPr indent="0" marL="0">
              <a:lnSpc>
                <a:spcPts val="1600"/>
              </a:lnSpc>
              <a:buNone/>
            </a:pPr>
            <a:r>
              <a:rPr lang="en-US" sz="1200" dirty="0">
                <a:solidFill>
                  <a:srgbClr val="6E7D73"/>
                </a:solidFill>
                <a:latin typeface="Calibri" pitchFamily="34" charset="0"/>
                <a:ea typeface="Calibri" pitchFamily="34" charset="-122"/>
                <a:cs typeface="Calibri" pitchFamily="34" charset="-120"/>
              </a:rPr>
              <a:t>what the system must do</a:t>
            </a:r>
            <a:endParaRPr lang="en-US" sz="1200" dirty="0"/>
          </a:p>
        </p:txBody>
      </p:sp>
      <p:sp>
        <p:nvSpPr>
          <p:cNvPr id="12" name="Text 9"/>
          <p:cNvSpPr txBox="1"/>
          <p:nvPr/>
        </p:nvSpPr>
        <p:spPr>
          <a:xfrm>
            <a:off x="8092440" y="3200400"/>
            <a:ext cx="3108960" cy="274320"/>
          </a:xfrm>
          <a:prstGeom prst="rect">
            <a:avLst/>
          </a:prstGeom>
          <a:noFill/>
          <a:ln/>
        </p:spPr>
        <p:txBody>
          <a:bodyPr wrap="square" lIns="0" tIns="0" rIns="0" bIns="0" rtlCol="0" anchor="ctr"/>
          <a:lstStyle/>
          <a:p>
            <a:pPr indent="0" marL="0">
              <a:buNone/>
            </a:pPr>
            <a:r>
              <a:rPr lang="en-US" sz="1300" b="1" dirty="0">
                <a:solidFill>
                  <a:srgbClr val="1F6F6B"/>
                </a:solidFill>
                <a:latin typeface="Calibri" pitchFamily="34" charset="0"/>
                <a:ea typeface="Calibri" pitchFamily="34" charset="-122"/>
                <a:cs typeface="Calibri" pitchFamily="34" charset="-120"/>
              </a:rPr>
              <a:t>Non-functional</a:t>
            </a:r>
            <a:endParaRPr lang="en-US" sz="1300" dirty="0"/>
          </a:p>
        </p:txBody>
      </p:sp>
      <p:sp>
        <p:nvSpPr>
          <p:cNvPr id="13" name="Text 10"/>
          <p:cNvSpPr txBox="1"/>
          <p:nvPr/>
        </p:nvSpPr>
        <p:spPr>
          <a:xfrm>
            <a:off x="8092440" y="3456432"/>
            <a:ext cx="3108960" cy="365760"/>
          </a:xfrm>
          <a:prstGeom prst="rect">
            <a:avLst/>
          </a:prstGeom>
          <a:noFill/>
          <a:ln/>
        </p:spPr>
        <p:txBody>
          <a:bodyPr wrap="square" lIns="0" tIns="0" rIns="0" bIns="0" rtlCol="0" anchor="t"/>
          <a:lstStyle/>
          <a:p>
            <a:pPr indent="0" marL="0">
              <a:lnSpc>
                <a:spcPts val="1600"/>
              </a:lnSpc>
              <a:buNone/>
            </a:pPr>
            <a:r>
              <a:rPr lang="en-US" sz="1200" dirty="0">
                <a:solidFill>
                  <a:srgbClr val="6E7D73"/>
                </a:solidFill>
                <a:latin typeface="Calibri" pitchFamily="34" charset="0"/>
                <a:ea typeface="Calibri" pitchFamily="34" charset="-122"/>
                <a:cs typeface="Calibri" pitchFamily="34" charset="-120"/>
              </a:rPr>
              <a:t>rules and conditions it works under</a:t>
            </a:r>
            <a:endParaRPr lang="en-US" sz="1200" dirty="0"/>
          </a:p>
        </p:txBody>
      </p:sp>
      <p:sp>
        <p:nvSpPr>
          <p:cNvPr id="14" name="Text 11"/>
          <p:cNvSpPr txBox="1"/>
          <p:nvPr/>
        </p:nvSpPr>
        <p:spPr>
          <a:xfrm>
            <a:off x="8092440" y="3895344"/>
            <a:ext cx="3108960" cy="274320"/>
          </a:xfrm>
          <a:prstGeom prst="rect">
            <a:avLst/>
          </a:prstGeom>
          <a:noFill/>
          <a:ln/>
        </p:spPr>
        <p:txBody>
          <a:bodyPr wrap="square" lIns="0" tIns="0" rIns="0" bIns="0" rtlCol="0" anchor="ctr"/>
          <a:lstStyle/>
          <a:p>
            <a:pPr indent="0" marL="0">
              <a:buNone/>
            </a:pPr>
            <a:r>
              <a:rPr lang="en-US" sz="1300" b="1" dirty="0">
                <a:solidFill>
                  <a:srgbClr val="1F6F6B"/>
                </a:solidFill>
                <a:latin typeface="Calibri" pitchFamily="34" charset="0"/>
                <a:ea typeface="Calibri" pitchFamily="34" charset="-122"/>
                <a:cs typeface="Calibri" pitchFamily="34" charset="-120"/>
              </a:rPr>
              <a:t>System</a:t>
            </a:r>
            <a:endParaRPr lang="en-US" sz="1300" dirty="0"/>
          </a:p>
        </p:txBody>
      </p:sp>
      <p:sp>
        <p:nvSpPr>
          <p:cNvPr id="15" name="Text 12"/>
          <p:cNvSpPr txBox="1"/>
          <p:nvPr/>
        </p:nvSpPr>
        <p:spPr>
          <a:xfrm>
            <a:off x="8092440" y="4151376"/>
            <a:ext cx="3108960" cy="365760"/>
          </a:xfrm>
          <a:prstGeom prst="rect">
            <a:avLst/>
          </a:prstGeom>
          <a:noFill/>
          <a:ln/>
        </p:spPr>
        <p:txBody>
          <a:bodyPr wrap="square" lIns="0" tIns="0" rIns="0" bIns="0" rtlCol="0" anchor="t"/>
          <a:lstStyle/>
          <a:p>
            <a:pPr indent="0" marL="0">
              <a:lnSpc>
                <a:spcPts val="1600"/>
              </a:lnSpc>
              <a:buNone/>
            </a:pPr>
            <a:r>
              <a:rPr lang="en-US" sz="1200" dirty="0">
                <a:solidFill>
                  <a:srgbClr val="6E7D73"/>
                </a:solidFill>
                <a:latin typeface="Calibri" pitchFamily="34" charset="0"/>
                <a:ea typeface="Calibri" pitchFamily="34" charset="-122"/>
                <a:cs typeface="Calibri" pitchFamily="34" charset="-120"/>
              </a:rPr>
              <a:t>what it must be built with</a:t>
            </a:r>
            <a:endParaRPr lang="en-US" sz="1200" dirty="0"/>
          </a:p>
        </p:txBody>
      </p:sp>
      <p:sp>
        <p:nvSpPr>
          <p:cNvPr id="16" name="Text 13"/>
          <p:cNvSpPr txBox="1"/>
          <p:nvPr/>
        </p:nvSpPr>
        <p:spPr>
          <a:xfrm>
            <a:off x="8092440" y="4590288"/>
            <a:ext cx="3108960" cy="274320"/>
          </a:xfrm>
          <a:prstGeom prst="rect">
            <a:avLst/>
          </a:prstGeom>
          <a:noFill/>
          <a:ln/>
        </p:spPr>
        <p:txBody>
          <a:bodyPr wrap="square" lIns="0" tIns="0" rIns="0" bIns="0" rtlCol="0" anchor="ctr"/>
          <a:lstStyle/>
          <a:p>
            <a:pPr indent="0" marL="0">
              <a:buNone/>
            </a:pPr>
            <a:r>
              <a:rPr lang="en-US" sz="1300" b="1" dirty="0">
                <a:solidFill>
                  <a:srgbClr val="1F6F6B"/>
                </a:solidFill>
                <a:latin typeface="Calibri" pitchFamily="34" charset="0"/>
                <a:ea typeface="Calibri" pitchFamily="34" charset="-122"/>
                <a:cs typeface="Calibri" pitchFamily="34" charset="-120"/>
              </a:rPr>
              <a:t>Integration</a:t>
            </a:r>
            <a:endParaRPr lang="en-US" sz="1300" dirty="0"/>
          </a:p>
        </p:txBody>
      </p:sp>
      <p:sp>
        <p:nvSpPr>
          <p:cNvPr id="17" name="Text 14"/>
          <p:cNvSpPr txBox="1"/>
          <p:nvPr/>
        </p:nvSpPr>
        <p:spPr>
          <a:xfrm>
            <a:off x="8092440" y="4846320"/>
            <a:ext cx="3108960" cy="365760"/>
          </a:xfrm>
          <a:prstGeom prst="rect">
            <a:avLst/>
          </a:prstGeom>
          <a:noFill/>
          <a:ln/>
        </p:spPr>
        <p:txBody>
          <a:bodyPr wrap="square" lIns="0" tIns="0" rIns="0" bIns="0" rtlCol="0" anchor="t"/>
          <a:lstStyle/>
          <a:p>
            <a:pPr indent="0" marL="0">
              <a:lnSpc>
                <a:spcPts val="1600"/>
              </a:lnSpc>
              <a:buNone/>
            </a:pPr>
            <a:r>
              <a:rPr lang="en-US" sz="1200" dirty="0">
                <a:solidFill>
                  <a:srgbClr val="6E7D73"/>
                </a:solidFill>
                <a:latin typeface="Calibri" pitchFamily="34" charset="0"/>
                <a:ea typeface="Calibri" pitchFamily="34" charset="-122"/>
                <a:cs typeface="Calibri" pitchFamily="34" charset="-120"/>
              </a:rPr>
              <a:t>how the parts join together</a:t>
            </a:r>
            <a:endParaRPr lang="en-US" sz="1200" dirty="0"/>
          </a:p>
        </p:txBody>
      </p:sp>
      <p:sp>
        <p:nvSpPr>
          <p:cNvPr id="18" name="Text 15"/>
          <p:cNvSpPr txBox="1"/>
          <p:nvPr/>
        </p:nvSpPr>
        <p:spPr>
          <a:xfrm>
            <a:off x="8092440" y="5358384"/>
            <a:ext cx="3108960" cy="274320"/>
          </a:xfrm>
          <a:prstGeom prst="rect">
            <a:avLst/>
          </a:prstGeom>
          <a:noFill/>
          <a:ln/>
        </p:spPr>
        <p:txBody>
          <a:bodyPr wrap="square" lIns="0" tIns="0" rIns="0" bIns="0" rtlCol="0" anchor="ctr"/>
          <a:lstStyle/>
          <a:p>
            <a:pPr indent="0" marL="0">
              <a:buNone/>
            </a:pPr>
            <a:r>
              <a:rPr lang="en-US" sz="1250" i="1" dirty="0">
                <a:solidFill>
                  <a:srgbClr val="16241D"/>
                </a:solidFill>
                <a:latin typeface="Calibri" pitchFamily="34" charset="0"/>
                <a:ea typeface="Calibri" pitchFamily="34" charset="-122"/>
                <a:cs typeface="Calibri" pitchFamily="34" charset="-120"/>
              </a:rPr>
              <a:t>Ninety-two are Must Have.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TRACEABILITY</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Thobani Mjiyakho</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From what she wrote to what we build</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22</a:t>
            </a:r>
            <a:endParaRPr lang="en-US" sz="1000" dirty="0"/>
          </a:p>
        </p:txBody>
      </p:sp>
      <p:sp>
        <p:nvSpPr>
          <p:cNvPr id="7" name="Shape 5"/>
          <p:cNvSpPr/>
          <p:nvPr/>
        </p:nvSpPr>
        <p:spPr>
          <a:xfrm>
            <a:off x="640080" y="1783080"/>
            <a:ext cx="10899648" cy="896112"/>
          </a:xfrm>
          <a:prstGeom prst="roundRect">
            <a:avLst>
              <a:gd name="adj" fmla="val 9184"/>
            </a:avLst>
          </a:prstGeom>
          <a:solidFill>
            <a:srgbClr val="EFE7DC"/>
          </a:solidFill>
          <a:ln w="12700">
            <a:solidFill>
              <a:srgbClr val="EFE7DC"/>
            </a:solidFill>
            <a:prstDash val="solid"/>
          </a:ln>
        </p:spPr>
      </p:sp>
      <p:sp>
        <p:nvSpPr>
          <p:cNvPr id="8" name="Shape 6"/>
          <p:cNvSpPr/>
          <p:nvPr/>
        </p:nvSpPr>
        <p:spPr>
          <a:xfrm>
            <a:off x="932688" y="2048256"/>
            <a:ext cx="365760" cy="365760"/>
          </a:xfrm>
          <a:prstGeom prst="ellipse">
            <a:avLst/>
          </a:prstGeom>
          <a:solidFill>
            <a:srgbClr val="1F6F6B"/>
          </a:solidFill>
          <a:ln w="12700">
            <a:solidFill>
              <a:srgbClr val="1F6F6B"/>
            </a:solidFill>
            <a:prstDash val="solid"/>
          </a:ln>
        </p:spPr>
      </p:sp>
      <p:sp>
        <p:nvSpPr>
          <p:cNvPr id="9" name="Text 7"/>
          <p:cNvSpPr txBox="1"/>
          <p:nvPr/>
        </p:nvSpPr>
        <p:spPr>
          <a:xfrm>
            <a:off x="932688" y="2107692"/>
            <a:ext cx="365760" cy="23774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0" name="Text 8"/>
          <p:cNvSpPr txBox="1"/>
          <p:nvPr/>
        </p:nvSpPr>
        <p:spPr>
          <a:xfrm>
            <a:off x="1481328" y="2066544"/>
            <a:ext cx="2286000" cy="329184"/>
          </a:xfrm>
          <a:prstGeom prst="rect">
            <a:avLst/>
          </a:prstGeom>
          <a:noFill/>
          <a:ln/>
        </p:spPr>
        <p:txBody>
          <a:bodyPr wrap="square" lIns="0" tIns="0" rIns="0" bIns="0" rtlCol="0" anchor="ctr"/>
          <a:lstStyle/>
          <a:p>
            <a:pPr indent="0" marL="0">
              <a:buNone/>
            </a:pPr>
            <a:r>
              <a:rPr lang="en-US" sz="1350" b="1" dirty="0">
                <a:solidFill>
                  <a:srgbClr val="1F6F6B"/>
                </a:solidFill>
                <a:latin typeface="Calibri" pitchFamily="34" charset="0"/>
                <a:ea typeface="Calibri" pitchFamily="34" charset="-122"/>
                <a:cs typeface="Calibri" pitchFamily="34" charset="-120"/>
              </a:rPr>
              <a:t>What she wrote</a:t>
            </a:r>
            <a:endParaRPr lang="en-US" sz="1350" dirty="0"/>
          </a:p>
        </p:txBody>
      </p:sp>
      <p:sp>
        <p:nvSpPr>
          <p:cNvPr id="11" name="Text 9"/>
          <p:cNvSpPr txBox="1"/>
          <p:nvPr/>
        </p:nvSpPr>
        <p:spPr>
          <a:xfrm>
            <a:off x="3931920" y="1929384"/>
            <a:ext cx="7406640" cy="640080"/>
          </a:xfrm>
          <a:prstGeom prst="rect">
            <a:avLst/>
          </a:prstGeom>
          <a:noFill/>
          <a:ln/>
        </p:spPr>
        <p:txBody>
          <a:bodyPr wrap="square" lIns="0" tIns="0" rIns="0" bIns="0" rtlCol="0" anchor="t"/>
          <a:lstStyle/>
          <a:p>
            <a:pPr indent="0" marL="0">
              <a:lnSpc>
                <a:spcPts val="1700"/>
              </a:lnSpc>
              <a:buNone/>
            </a:pPr>
            <a:r>
              <a:rPr lang="en-US" sz="1250" dirty="0">
                <a:solidFill>
                  <a:srgbClr val="16241D"/>
                </a:solidFill>
                <a:latin typeface="Calibri" pitchFamily="34" charset="0"/>
                <a:ea typeface="Calibri" pitchFamily="34" charset="-122"/>
                <a:cs typeface="Calibri" pitchFamily="34" charset="-120"/>
              </a:rPr>
              <a:t>“Alerts for abnormal conditions and inactive sensors.”</a:t>
            </a:r>
            <a:endParaRPr lang="en-US" sz="1250" dirty="0"/>
          </a:p>
        </p:txBody>
      </p:sp>
      <p:sp>
        <p:nvSpPr>
          <p:cNvPr id="12" name="Shape 10"/>
          <p:cNvSpPr/>
          <p:nvPr/>
        </p:nvSpPr>
        <p:spPr>
          <a:xfrm>
            <a:off x="640080" y="2816352"/>
            <a:ext cx="10899648" cy="896112"/>
          </a:xfrm>
          <a:prstGeom prst="roundRect">
            <a:avLst>
              <a:gd name="adj" fmla="val 9184"/>
            </a:avLst>
          </a:prstGeom>
          <a:solidFill>
            <a:srgbClr val="FFFFFF"/>
          </a:solidFill>
          <a:ln w="12700">
            <a:solidFill>
              <a:srgbClr val="E0E7E1"/>
            </a:solidFill>
            <a:prstDash val="solid"/>
          </a:ln>
        </p:spPr>
      </p:sp>
      <p:sp>
        <p:nvSpPr>
          <p:cNvPr id="13" name="Shape 11"/>
          <p:cNvSpPr/>
          <p:nvPr/>
        </p:nvSpPr>
        <p:spPr>
          <a:xfrm>
            <a:off x="932688" y="3081528"/>
            <a:ext cx="365760" cy="365760"/>
          </a:xfrm>
          <a:prstGeom prst="ellipse">
            <a:avLst/>
          </a:prstGeom>
          <a:solidFill>
            <a:srgbClr val="1F6F6B"/>
          </a:solidFill>
          <a:ln w="12700">
            <a:solidFill>
              <a:srgbClr val="1F6F6B"/>
            </a:solidFill>
            <a:prstDash val="solid"/>
          </a:ln>
        </p:spPr>
      </p:sp>
      <p:sp>
        <p:nvSpPr>
          <p:cNvPr id="14" name="Text 12"/>
          <p:cNvSpPr txBox="1"/>
          <p:nvPr/>
        </p:nvSpPr>
        <p:spPr>
          <a:xfrm>
            <a:off x="932688" y="3140964"/>
            <a:ext cx="365760" cy="23774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5" name="Text 13"/>
          <p:cNvSpPr txBox="1"/>
          <p:nvPr/>
        </p:nvSpPr>
        <p:spPr>
          <a:xfrm>
            <a:off x="1481328" y="3099816"/>
            <a:ext cx="2286000" cy="329184"/>
          </a:xfrm>
          <a:prstGeom prst="rect">
            <a:avLst/>
          </a:prstGeom>
          <a:noFill/>
          <a:ln/>
        </p:spPr>
        <p:txBody>
          <a:bodyPr wrap="square" lIns="0" tIns="0" rIns="0" bIns="0" rtlCol="0" anchor="ctr"/>
          <a:lstStyle/>
          <a:p>
            <a:pPr indent="0" marL="0">
              <a:buNone/>
            </a:pPr>
            <a:r>
              <a:rPr lang="en-US" sz="1350" b="1" dirty="0">
                <a:solidFill>
                  <a:srgbClr val="1F6F6B"/>
                </a:solidFill>
                <a:latin typeface="Calibri" pitchFamily="34" charset="0"/>
                <a:ea typeface="Calibri" pitchFamily="34" charset="-122"/>
                <a:cs typeface="Calibri" pitchFamily="34" charset="-120"/>
              </a:rPr>
              <a:t>What we understood</a:t>
            </a:r>
            <a:endParaRPr lang="en-US" sz="1350" dirty="0"/>
          </a:p>
        </p:txBody>
      </p:sp>
      <p:sp>
        <p:nvSpPr>
          <p:cNvPr id="16" name="Text 14"/>
          <p:cNvSpPr txBox="1"/>
          <p:nvPr/>
        </p:nvSpPr>
        <p:spPr>
          <a:xfrm>
            <a:off x="3931920" y="2962656"/>
            <a:ext cx="7406640" cy="640080"/>
          </a:xfrm>
          <a:prstGeom prst="rect">
            <a:avLst/>
          </a:prstGeom>
          <a:noFill/>
          <a:ln/>
        </p:spPr>
        <p:txBody>
          <a:bodyPr wrap="square" lIns="0" tIns="0" rIns="0" bIns="0" rtlCol="0" anchor="t"/>
          <a:lstStyle/>
          <a:p>
            <a:pPr indent="0" marL="0">
              <a:lnSpc>
                <a:spcPts val="1700"/>
              </a:lnSpc>
              <a:buNone/>
            </a:pPr>
            <a:r>
              <a:rPr lang="en-US" sz="1250" dirty="0">
                <a:solidFill>
                  <a:srgbClr val="16241D"/>
                </a:solidFill>
                <a:latin typeface="Calibri" pitchFamily="34" charset="0"/>
                <a:ea typeface="Calibri" pitchFamily="34" charset="-122"/>
                <a:cs typeface="Calibri" pitchFamily="34" charset="-120"/>
              </a:rPr>
              <a:t>Two kinds of alert: a reading outside its range, and a sensor that has stopped reporting.</a:t>
            </a:r>
            <a:endParaRPr lang="en-US" sz="1250" dirty="0"/>
          </a:p>
        </p:txBody>
      </p:sp>
      <p:sp>
        <p:nvSpPr>
          <p:cNvPr id="17" name="Shape 15"/>
          <p:cNvSpPr/>
          <p:nvPr/>
        </p:nvSpPr>
        <p:spPr>
          <a:xfrm>
            <a:off x="640080" y="3849624"/>
            <a:ext cx="10899648" cy="896112"/>
          </a:xfrm>
          <a:prstGeom prst="roundRect">
            <a:avLst>
              <a:gd name="adj" fmla="val 9184"/>
            </a:avLst>
          </a:prstGeom>
          <a:solidFill>
            <a:srgbClr val="FFFFFF"/>
          </a:solidFill>
          <a:ln w="12700">
            <a:solidFill>
              <a:srgbClr val="E0E7E1"/>
            </a:solidFill>
            <a:prstDash val="solid"/>
          </a:ln>
        </p:spPr>
      </p:sp>
      <p:sp>
        <p:nvSpPr>
          <p:cNvPr id="18" name="Shape 16"/>
          <p:cNvSpPr/>
          <p:nvPr/>
        </p:nvSpPr>
        <p:spPr>
          <a:xfrm>
            <a:off x="932688" y="4114800"/>
            <a:ext cx="365760" cy="365760"/>
          </a:xfrm>
          <a:prstGeom prst="ellipse">
            <a:avLst/>
          </a:prstGeom>
          <a:solidFill>
            <a:srgbClr val="1F6F6B"/>
          </a:solidFill>
          <a:ln w="12700">
            <a:solidFill>
              <a:srgbClr val="1F6F6B"/>
            </a:solidFill>
            <a:prstDash val="solid"/>
          </a:ln>
        </p:spPr>
      </p:sp>
      <p:sp>
        <p:nvSpPr>
          <p:cNvPr id="19" name="Text 17"/>
          <p:cNvSpPr txBox="1"/>
          <p:nvPr/>
        </p:nvSpPr>
        <p:spPr>
          <a:xfrm>
            <a:off x="932688" y="4174236"/>
            <a:ext cx="365760" cy="23774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0" name="Text 18"/>
          <p:cNvSpPr txBox="1"/>
          <p:nvPr/>
        </p:nvSpPr>
        <p:spPr>
          <a:xfrm>
            <a:off x="1481328" y="4133088"/>
            <a:ext cx="2286000" cy="329184"/>
          </a:xfrm>
          <a:prstGeom prst="rect">
            <a:avLst/>
          </a:prstGeom>
          <a:noFill/>
          <a:ln/>
        </p:spPr>
        <p:txBody>
          <a:bodyPr wrap="square" lIns="0" tIns="0" rIns="0" bIns="0" rtlCol="0" anchor="ctr"/>
          <a:lstStyle/>
          <a:p>
            <a:pPr indent="0" marL="0">
              <a:buNone/>
            </a:pPr>
            <a:r>
              <a:rPr lang="en-US" sz="1350" b="1" dirty="0">
                <a:solidFill>
                  <a:srgbClr val="1F6F6B"/>
                </a:solidFill>
                <a:latin typeface="Calibri" pitchFamily="34" charset="0"/>
                <a:ea typeface="Calibri" pitchFamily="34" charset="-122"/>
                <a:cs typeface="Calibri" pitchFamily="34" charset="-120"/>
              </a:rPr>
              <a:t>What we specified</a:t>
            </a:r>
            <a:endParaRPr lang="en-US" sz="1350" dirty="0"/>
          </a:p>
        </p:txBody>
      </p:sp>
      <p:sp>
        <p:nvSpPr>
          <p:cNvPr id="21" name="Text 19"/>
          <p:cNvSpPr txBox="1"/>
          <p:nvPr/>
        </p:nvSpPr>
        <p:spPr>
          <a:xfrm>
            <a:off x="3931920" y="3995928"/>
            <a:ext cx="7406640" cy="640080"/>
          </a:xfrm>
          <a:prstGeom prst="rect">
            <a:avLst/>
          </a:prstGeom>
          <a:noFill/>
          <a:ln/>
        </p:spPr>
        <p:txBody>
          <a:bodyPr wrap="square" lIns="0" tIns="0" rIns="0" bIns="0" rtlCol="0" anchor="t"/>
          <a:lstStyle/>
          <a:p>
            <a:pPr indent="0" marL="0">
              <a:lnSpc>
                <a:spcPts val="1700"/>
              </a:lnSpc>
              <a:buNone/>
            </a:pPr>
            <a:r>
              <a:rPr lang="en-US" sz="1250" dirty="0">
                <a:solidFill>
                  <a:srgbClr val="16241D"/>
                </a:solidFill>
                <a:latin typeface="Calibri" pitchFamily="34" charset="0"/>
                <a:ea typeface="Calibri" pitchFamily="34" charset="-122"/>
                <a:cs typeface="Calibri" pitchFamily="34" charset="-120"/>
              </a:rPr>
              <a:t>FR51 — generate an alert when a reading falls outside its configured range.</a:t>
            </a:r>
            <a:endParaRPr lang="en-US" sz="1250" dirty="0"/>
          </a:p>
          <a:p>
            <a:pPr indent="0" marL="0">
              <a:lnSpc>
                <a:spcPts val="1700"/>
              </a:lnSpc>
              <a:buNone/>
            </a:pPr>
            <a:r>
              <a:rPr lang="en-US" sz="1250" dirty="0">
                <a:solidFill>
                  <a:srgbClr val="16241D"/>
                </a:solidFill>
                <a:latin typeface="Calibri" pitchFamily="34" charset="0"/>
                <a:ea typeface="Calibri" pitchFamily="34" charset="-122"/>
                <a:cs typeface="Calibri" pitchFamily="34" charset="-120"/>
              </a:rPr>
              <a:t>FR52 — generate an alert when a sensor becomes inactive.</a:t>
            </a:r>
            <a:endParaRPr lang="en-US" sz="1250" dirty="0"/>
          </a:p>
        </p:txBody>
      </p:sp>
      <p:sp>
        <p:nvSpPr>
          <p:cNvPr id="22" name="Shape 20"/>
          <p:cNvSpPr/>
          <p:nvPr/>
        </p:nvSpPr>
        <p:spPr>
          <a:xfrm>
            <a:off x="640080" y="4882896"/>
            <a:ext cx="10899648" cy="896112"/>
          </a:xfrm>
          <a:prstGeom prst="roundRect">
            <a:avLst>
              <a:gd name="adj" fmla="val 9184"/>
            </a:avLst>
          </a:prstGeom>
          <a:solidFill>
            <a:srgbClr val="E7EFE7"/>
          </a:solidFill>
          <a:ln w="12700">
            <a:solidFill>
              <a:srgbClr val="E7EFE7"/>
            </a:solidFill>
            <a:prstDash val="solid"/>
          </a:ln>
        </p:spPr>
      </p:sp>
      <p:sp>
        <p:nvSpPr>
          <p:cNvPr id="23" name="Shape 21"/>
          <p:cNvSpPr/>
          <p:nvPr/>
        </p:nvSpPr>
        <p:spPr>
          <a:xfrm>
            <a:off x="932688" y="5148072"/>
            <a:ext cx="365760" cy="365760"/>
          </a:xfrm>
          <a:prstGeom prst="ellipse">
            <a:avLst/>
          </a:prstGeom>
          <a:solidFill>
            <a:srgbClr val="1F6F6B"/>
          </a:solidFill>
          <a:ln w="12700">
            <a:solidFill>
              <a:srgbClr val="1F6F6B"/>
            </a:solidFill>
            <a:prstDash val="solid"/>
          </a:ln>
        </p:spPr>
      </p:sp>
      <p:sp>
        <p:nvSpPr>
          <p:cNvPr id="24" name="Text 22"/>
          <p:cNvSpPr txBox="1"/>
          <p:nvPr/>
        </p:nvSpPr>
        <p:spPr>
          <a:xfrm>
            <a:off x="932688" y="5207508"/>
            <a:ext cx="365760" cy="23774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5" name="Text 23"/>
          <p:cNvSpPr txBox="1"/>
          <p:nvPr/>
        </p:nvSpPr>
        <p:spPr>
          <a:xfrm>
            <a:off x="1481328" y="5166360"/>
            <a:ext cx="2286000" cy="329184"/>
          </a:xfrm>
          <a:prstGeom prst="rect">
            <a:avLst/>
          </a:prstGeom>
          <a:noFill/>
          <a:ln/>
        </p:spPr>
        <p:txBody>
          <a:bodyPr wrap="square" lIns="0" tIns="0" rIns="0" bIns="0" rtlCol="0" anchor="ctr"/>
          <a:lstStyle/>
          <a:p>
            <a:pPr indent="0" marL="0">
              <a:buNone/>
            </a:pPr>
            <a:r>
              <a:rPr lang="en-US" sz="1350" b="1" dirty="0">
                <a:solidFill>
                  <a:srgbClr val="1F6F6B"/>
                </a:solidFill>
                <a:latin typeface="Calibri" pitchFamily="34" charset="0"/>
                <a:ea typeface="Calibri" pitchFamily="34" charset="-122"/>
                <a:cs typeface="Calibri" pitchFamily="34" charset="-120"/>
              </a:rPr>
              <a:t>How it will be tested</a:t>
            </a:r>
            <a:endParaRPr lang="en-US" sz="1350" dirty="0"/>
          </a:p>
        </p:txBody>
      </p:sp>
      <p:sp>
        <p:nvSpPr>
          <p:cNvPr id="26" name="Text 24"/>
          <p:cNvSpPr txBox="1"/>
          <p:nvPr/>
        </p:nvSpPr>
        <p:spPr>
          <a:xfrm>
            <a:off x="3931920" y="5029200"/>
            <a:ext cx="7406640" cy="640080"/>
          </a:xfrm>
          <a:prstGeom prst="rect">
            <a:avLst/>
          </a:prstGeom>
          <a:noFill/>
          <a:ln/>
        </p:spPr>
        <p:txBody>
          <a:bodyPr wrap="square" lIns="0" tIns="0" rIns="0" bIns="0" rtlCol="0" anchor="t"/>
          <a:lstStyle/>
          <a:p>
            <a:pPr indent="0" marL="0">
              <a:lnSpc>
                <a:spcPts val="1700"/>
              </a:lnSpc>
              <a:buNone/>
            </a:pPr>
            <a:r>
              <a:rPr lang="en-US" sz="1250" dirty="0">
                <a:solidFill>
                  <a:srgbClr val="16241D"/>
                </a:solidFill>
                <a:latin typeface="Calibri" pitchFamily="34" charset="0"/>
                <a:ea typeface="Calibri" pitchFamily="34" charset="-122"/>
                <a:cs typeface="Calibri" pitchFamily="34" charset="-120"/>
              </a:rPr>
              <a:t>AC7 — a value outside its threshold raises an alert visible in both applications.</a:t>
            </a:r>
            <a:endParaRPr lang="en-US" sz="1250" dirty="0"/>
          </a:p>
          <a:p>
            <a:pPr indent="0" marL="0">
              <a:lnSpc>
                <a:spcPts val="1700"/>
              </a:lnSpc>
              <a:buNone/>
            </a:pPr>
            <a:r>
              <a:rPr lang="en-US" sz="1250" dirty="0">
                <a:solidFill>
                  <a:srgbClr val="16241D"/>
                </a:solidFill>
                <a:latin typeface="Calibri" pitchFamily="34" charset="0"/>
                <a:ea typeface="Calibri" pitchFamily="34" charset="-122"/>
                <a:cs typeface="Calibri" pitchFamily="34" charset="-120"/>
              </a:rPr>
              <a:t>AC8 — a sensor silent beyond the configured period is reported and raises an alert.</a:t>
            </a:r>
            <a:endParaRPr lang="en-US" sz="1250" dirty="0"/>
          </a:p>
        </p:txBody>
      </p:sp>
      <p:sp>
        <p:nvSpPr>
          <p:cNvPr id="27" name="Text 25"/>
          <p:cNvSpPr txBox="1"/>
          <p:nvPr/>
        </p:nvSpPr>
        <p:spPr>
          <a:xfrm>
            <a:off x="640080" y="5989320"/>
            <a:ext cx="10881360" cy="365760"/>
          </a:xfrm>
          <a:prstGeom prst="rect">
            <a:avLst/>
          </a:prstGeom>
          <a:noFill/>
          <a:ln/>
        </p:spPr>
        <p:txBody>
          <a:bodyPr wrap="square" lIns="0" tIns="0" rIns="0" bIns="0" rtlCol="0" anchor="ctr"/>
          <a:lstStyle/>
          <a:p>
            <a:pPr indent="0" marL="0">
              <a:buNone/>
            </a:pPr>
            <a:r>
              <a:rPr lang="en-US" sz="1250" i="1" dirty="0">
                <a:solidFill>
                  <a:srgbClr val="6E7D73"/>
                </a:solidFill>
                <a:latin typeface="Calibri" pitchFamily="34" charset="0"/>
                <a:ea typeface="Calibri" pitchFamily="34" charset="-122"/>
                <a:cs typeface="Calibri" pitchFamily="34" charset="-120"/>
              </a:rPr>
              <a:t>Every requirement carries a related stakeholder need. A requirement with nothing in that column would be one we invented.</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PRIORITY</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Thobani Mjiyakho</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The build order came from her, not from us</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23</a:t>
            </a:r>
            <a:endParaRPr lang="en-US" sz="1000" dirty="0"/>
          </a:p>
        </p:txBody>
      </p:sp>
      <p:sp>
        <p:nvSpPr>
          <p:cNvPr id="7" name="Text 5"/>
          <p:cNvSpPr txBox="1"/>
          <p:nvPr/>
        </p:nvSpPr>
        <p:spPr>
          <a:xfrm>
            <a:off x="640080" y="1481328"/>
            <a:ext cx="10881360" cy="329184"/>
          </a:xfrm>
          <a:prstGeom prst="rect">
            <a:avLst/>
          </a:prstGeom>
          <a:noFill/>
          <a:ln/>
        </p:spPr>
        <p:txBody>
          <a:bodyPr wrap="square" lIns="0" tIns="0" rIns="0" bIns="0" rtlCol="0" anchor="ctr"/>
          <a:lstStyle/>
          <a:p>
            <a:pPr indent="0" marL="0">
              <a:buNone/>
            </a:pPr>
            <a:r>
              <a:rPr lang="en-US" sz="1500" dirty="0">
                <a:solidFill>
                  <a:srgbClr val="6E7D73"/>
                </a:solidFill>
                <a:latin typeface="Calibri" pitchFamily="34" charset="0"/>
                <a:ea typeface="Calibri" pitchFamily="34" charset="-122"/>
                <a:cs typeface="Calibri" pitchFamily="34" charset="-120"/>
              </a:rPr>
              <a:t>We asked which functions matter most if development time runs short. This is the answer, and it is now our development sequence.</a:t>
            </a:r>
            <a:endParaRPr lang="en-US" sz="1500" dirty="0"/>
          </a:p>
        </p:txBody>
      </p:sp>
      <p:sp>
        <p:nvSpPr>
          <p:cNvPr id="8" name="Shape 6"/>
          <p:cNvSpPr/>
          <p:nvPr/>
        </p:nvSpPr>
        <p:spPr>
          <a:xfrm>
            <a:off x="640080" y="2148840"/>
            <a:ext cx="5285232" cy="822960"/>
          </a:xfrm>
          <a:prstGeom prst="roundRect">
            <a:avLst>
              <a:gd name="adj" fmla="val 10000"/>
            </a:avLst>
          </a:prstGeom>
          <a:solidFill>
            <a:srgbClr val="E7EFE7"/>
          </a:solidFill>
          <a:ln w="12700">
            <a:solidFill>
              <a:srgbClr val="E7EFE7"/>
            </a:solidFill>
            <a:prstDash val="solid"/>
          </a:ln>
        </p:spPr>
      </p:sp>
      <p:sp>
        <p:nvSpPr>
          <p:cNvPr id="9" name="Text 7"/>
          <p:cNvSpPr txBox="1"/>
          <p:nvPr/>
        </p:nvSpPr>
        <p:spPr>
          <a:xfrm>
            <a:off x="914400" y="2368296"/>
            <a:ext cx="457200" cy="384048"/>
          </a:xfrm>
          <a:prstGeom prst="rect">
            <a:avLst/>
          </a:prstGeom>
          <a:noFill/>
          <a:ln/>
        </p:spPr>
        <p:txBody>
          <a:bodyPr wrap="square" lIns="0" tIns="0" rIns="0" bIns="0" rtlCol="0" anchor="ctr"/>
          <a:lstStyle/>
          <a:p>
            <a:pPr indent="0" marL="0">
              <a:buNone/>
            </a:pPr>
            <a:r>
              <a:rPr lang="en-US" sz="1900" b="1" dirty="0">
                <a:solidFill>
                  <a:srgbClr val="2F5D3A"/>
                </a:solidFill>
                <a:latin typeface="Cambria" pitchFamily="34" charset="0"/>
                <a:ea typeface="Cambria" pitchFamily="34" charset="-122"/>
                <a:cs typeface="Cambria" pitchFamily="34" charset="-120"/>
              </a:rPr>
              <a:t>1</a:t>
            </a:r>
            <a:endParaRPr lang="en-US" sz="1900" dirty="0"/>
          </a:p>
        </p:txBody>
      </p:sp>
      <p:sp>
        <p:nvSpPr>
          <p:cNvPr id="10" name="Text 8"/>
          <p:cNvSpPr txBox="1"/>
          <p:nvPr/>
        </p:nvSpPr>
        <p:spPr>
          <a:xfrm>
            <a:off x="1554480" y="2414016"/>
            <a:ext cx="4114800" cy="329184"/>
          </a:xfrm>
          <a:prstGeom prst="rect">
            <a:avLst/>
          </a:prstGeom>
          <a:noFill/>
          <a:ln/>
        </p:spPr>
        <p:txBody>
          <a:bodyPr wrap="square" lIns="0" tIns="0" rIns="0" bIns="0" rtlCol="0" anchor="ctr"/>
          <a:lstStyle/>
          <a:p>
            <a:pPr indent="0" marL="0">
              <a:buNone/>
            </a:pPr>
            <a:r>
              <a:rPr lang="en-US" sz="1500" dirty="0">
                <a:solidFill>
                  <a:srgbClr val="16241D"/>
                </a:solidFill>
                <a:latin typeface="Calibri" pitchFamily="34" charset="0"/>
                <a:ea typeface="Calibri" pitchFamily="34" charset="-122"/>
                <a:cs typeface="Calibri" pitchFamily="34" charset="-120"/>
              </a:rPr>
              <a:t>Sign in and access control</a:t>
            </a:r>
            <a:endParaRPr lang="en-US" sz="1500" dirty="0"/>
          </a:p>
        </p:txBody>
      </p:sp>
      <p:sp>
        <p:nvSpPr>
          <p:cNvPr id="11" name="Shape 9"/>
          <p:cNvSpPr/>
          <p:nvPr/>
        </p:nvSpPr>
        <p:spPr>
          <a:xfrm>
            <a:off x="6172200" y="2148840"/>
            <a:ext cx="5285232" cy="822960"/>
          </a:xfrm>
          <a:prstGeom prst="roundRect">
            <a:avLst>
              <a:gd name="adj" fmla="val 10000"/>
            </a:avLst>
          </a:prstGeom>
          <a:solidFill>
            <a:srgbClr val="E7EFE7"/>
          </a:solidFill>
          <a:ln w="12700">
            <a:solidFill>
              <a:srgbClr val="E7EFE7"/>
            </a:solidFill>
            <a:prstDash val="solid"/>
          </a:ln>
        </p:spPr>
      </p:sp>
      <p:sp>
        <p:nvSpPr>
          <p:cNvPr id="12" name="Text 10"/>
          <p:cNvSpPr txBox="1"/>
          <p:nvPr/>
        </p:nvSpPr>
        <p:spPr>
          <a:xfrm>
            <a:off x="6446520" y="2368296"/>
            <a:ext cx="457200" cy="384048"/>
          </a:xfrm>
          <a:prstGeom prst="rect">
            <a:avLst/>
          </a:prstGeom>
          <a:noFill/>
          <a:ln/>
        </p:spPr>
        <p:txBody>
          <a:bodyPr wrap="square" lIns="0" tIns="0" rIns="0" bIns="0" rtlCol="0" anchor="ctr"/>
          <a:lstStyle/>
          <a:p>
            <a:pPr indent="0" marL="0">
              <a:buNone/>
            </a:pPr>
            <a:r>
              <a:rPr lang="en-US" sz="1900" b="1" dirty="0">
                <a:solidFill>
                  <a:srgbClr val="2F5D3A"/>
                </a:solidFill>
                <a:latin typeface="Cambria" pitchFamily="34" charset="0"/>
                <a:ea typeface="Cambria" pitchFamily="34" charset="-122"/>
                <a:cs typeface="Cambria" pitchFamily="34" charset="-120"/>
              </a:rPr>
              <a:t>2</a:t>
            </a:r>
            <a:endParaRPr lang="en-US" sz="1900" dirty="0"/>
          </a:p>
        </p:txBody>
      </p:sp>
      <p:sp>
        <p:nvSpPr>
          <p:cNvPr id="13" name="Text 11"/>
          <p:cNvSpPr txBox="1"/>
          <p:nvPr/>
        </p:nvSpPr>
        <p:spPr>
          <a:xfrm>
            <a:off x="7086600" y="2414016"/>
            <a:ext cx="4114800" cy="329184"/>
          </a:xfrm>
          <a:prstGeom prst="rect">
            <a:avLst/>
          </a:prstGeom>
          <a:noFill/>
          <a:ln/>
        </p:spPr>
        <p:txBody>
          <a:bodyPr wrap="square" lIns="0" tIns="0" rIns="0" bIns="0" rtlCol="0" anchor="ctr"/>
          <a:lstStyle/>
          <a:p>
            <a:pPr indent="0" marL="0">
              <a:buNone/>
            </a:pPr>
            <a:r>
              <a:rPr lang="en-US" sz="1500" dirty="0">
                <a:solidFill>
                  <a:srgbClr val="16241D"/>
                </a:solidFill>
                <a:latin typeface="Calibri" pitchFamily="34" charset="0"/>
                <a:ea typeface="Calibri" pitchFamily="34" charset="-122"/>
                <a:cs typeface="Calibri" pitchFamily="34" charset="-120"/>
              </a:rPr>
              <a:t>The three locations</a:t>
            </a:r>
            <a:endParaRPr lang="en-US" sz="1500" dirty="0"/>
          </a:p>
        </p:txBody>
      </p:sp>
      <p:sp>
        <p:nvSpPr>
          <p:cNvPr id="14" name="Shape 12"/>
          <p:cNvSpPr/>
          <p:nvPr/>
        </p:nvSpPr>
        <p:spPr>
          <a:xfrm>
            <a:off x="640080" y="3118104"/>
            <a:ext cx="5285232" cy="822960"/>
          </a:xfrm>
          <a:prstGeom prst="roundRect">
            <a:avLst>
              <a:gd name="adj" fmla="val 10000"/>
            </a:avLst>
          </a:prstGeom>
          <a:solidFill>
            <a:srgbClr val="E7EFE7"/>
          </a:solidFill>
          <a:ln w="12700">
            <a:solidFill>
              <a:srgbClr val="E7EFE7"/>
            </a:solidFill>
            <a:prstDash val="solid"/>
          </a:ln>
        </p:spPr>
      </p:sp>
      <p:sp>
        <p:nvSpPr>
          <p:cNvPr id="15" name="Text 13"/>
          <p:cNvSpPr txBox="1"/>
          <p:nvPr/>
        </p:nvSpPr>
        <p:spPr>
          <a:xfrm>
            <a:off x="914400" y="3337560"/>
            <a:ext cx="457200" cy="384048"/>
          </a:xfrm>
          <a:prstGeom prst="rect">
            <a:avLst/>
          </a:prstGeom>
          <a:noFill/>
          <a:ln/>
        </p:spPr>
        <p:txBody>
          <a:bodyPr wrap="square" lIns="0" tIns="0" rIns="0" bIns="0" rtlCol="0" anchor="ctr"/>
          <a:lstStyle/>
          <a:p>
            <a:pPr indent="0" marL="0">
              <a:buNone/>
            </a:pPr>
            <a:r>
              <a:rPr lang="en-US" sz="1900" b="1" dirty="0">
                <a:solidFill>
                  <a:srgbClr val="2F5D3A"/>
                </a:solidFill>
                <a:latin typeface="Cambria" pitchFamily="34" charset="0"/>
                <a:ea typeface="Cambria" pitchFamily="34" charset="-122"/>
                <a:cs typeface="Cambria" pitchFamily="34" charset="-120"/>
              </a:rPr>
              <a:t>3</a:t>
            </a:r>
            <a:endParaRPr lang="en-US" sz="1900" dirty="0"/>
          </a:p>
        </p:txBody>
      </p:sp>
      <p:sp>
        <p:nvSpPr>
          <p:cNvPr id="16" name="Text 14"/>
          <p:cNvSpPr txBox="1"/>
          <p:nvPr/>
        </p:nvSpPr>
        <p:spPr>
          <a:xfrm>
            <a:off x="1554480" y="3383280"/>
            <a:ext cx="4114800" cy="329184"/>
          </a:xfrm>
          <a:prstGeom prst="rect">
            <a:avLst/>
          </a:prstGeom>
          <a:noFill/>
          <a:ln/>
        </p:spPr>
        <p:txBody>
          <a:bodyPr wrap="square" lIns="0" tIns="0" rIns="0" bIns="0" rtlCol="0" anchor="ctr"/>
          <a:lstStyle/>
          <a:p>
            <a:pPr indent="0" marL="0">
              <a:buNone/>
            </a:pPr>
            <a:r>
              <a:rPr lang="en-US" sz="1500" dirty="0">
                <a:solidFill>
                  <a:srgbClr val="16241D"/>
                </a:solidFill>
                <a:latin typeface="Calibri" pitchFamily="34" charset="0"/>
                <a:ea typeface="Calibri" pitchFamily="34" charset="-122"/>
                <a:cs typeface="Calibri" pitchFamily="34" charset="-120"/>
              </a:rPr>
              <a:t>All fifteen sensors</a:t>
            </a:r>
            <a:endParaRPr lang="en-US" sz="1500" dirty="0"/>
          </a:p>
        </p:txBody>
      </p:sp>
      <p:sp>
        <p:nvSpPr>
          <p:cNvPr id="17" name="Shape 15"/>
          <p:cNvSpPr/>
          <p:nvPr/>
        </p:nvSpPr>
        <p:spPr>
          <a:xfrm>
            <a:off x="6172200" y="3118104"/>
            <a:ext cx="5285232" cy="822960"/>
          </a:xfrm>
          <a:prstGeom prst="roundRect">
            <a:avLst>
              <a:gd name="adj" fmla="val 10000"/>
            </a:avLst>
          </a:prstGeom>
          <a:solidFill>
            <a:srgbClr val="E7EFE7"/>
          </a:solidFill>
          <a:ln w="12700">
            <a:solidFill>
              <a:srgbClr val="E7EFE7"/>
            </a:solidFill>
            <a:prstDash val="solid"/>
          </a:ln>
        </p:spPr>
      </p:sp>
      <p:sp>
        <p:nvSpPr>
          <p:cNvPr id="18" name="Text 16"/>
          <p:cNvSpPr txBox="1"/>
          <p:nvPr/>
        </p:nvSpPr>
        <p:spPr>
          <a:xfrm>
            <a:off x="6446520" y="3337560"/>
            <a:ext cx="457200" cy="384048"/>
          </a:xfrm>
          <a:prstGeom prst="rect">
            <a:avLst/>
          </a:prstGeom>
          <a:noFill/>
          <a:ln/>
        </p:spPr>
        <p:txBody>
          <a:bodyPr wrap="square" lIns="0" tIns="0" rIns="0" bIns="0" rtlCol="0" anchor="ctr"/>
          <a:lstStyle/>
          <a:p>
            <a:pPr indent="0" marL="0">
              <a:buNone/>
            </a:pPr>
            <a:r>
              <a:rPr lang="en-US" sz="1900" b="1" dirty="0">
                <a:solidFill>
                  <a:srgbClr val="2F5D3A"/>
                </a:solidFill>
                <a:latin typeface="Cambria" pitchFamily="34" charset="0"/>
                <a:ea typeface="Cambria" pitchFamily="34" charset="-122"/>
                <a:cs typeface="Cambria" pitchFamily="34" charset="-120"/>
              </a:rPr>
              <a:t>4</a:t>
            </a:r>
            <a:endParaRPr lang="en-US" sz="1900" dirty="0"/>
          </a:p>
        </p:txBody>
      </p:sp>
      <p:sp>
        <p:nvSpPr>
          <p:cNvPr id="19" name="Text 17"/>
          <p:cNvSpPr txBox="1"/>
          <p:nvPr/>
        </p:nvSpPr>
        <p:spPr>
          <a:xfrm>
            <a:off x="7086600" y="3383280"/>
            <a:ext cx="4114800" cy="329184"/>
          </a:xfrm>
          <a:prstGeom prst="rect">
            <a:avLst/>
          </a:prstGeom>
          <a:noFill/>
          <a:ln/>
        </p:spPr>
        <p:txBody>
          <a:bodyPr wrap="square" lIns="0" tIns="0" rIns="0" bIns="0" rtlCol="0" anchor="ctr"/>
          <a:lstStyle/>
          <a:p>
            <a:pPr indent="0" marL="0">
              <a:buNone/>
            </a:pPr>
            <a:r>
              <a:rPr lang="en-US" sz="1500" dirty="0">
                <a:solidFill>
                  <a:srgbClr val="16241D"/>
                </a:solidFill>
                <a:latin typeface="Calibri" pitchFamily="34" charset="0"/>
                <a:ea typeface="Calibri" pitchFamily="34" charset="-122"/>
                <a:cs typeface="Calibri" pitchFamily="34" charset="-120"/>
              </a:rPr>
              <a:t>Current readings</a:t>
            </a:r>
            <a:endParaRPr lang="en-US" sz="1500" dirty="0"/>
          </a:p>
        </p:txBody>
      </p:sp>
      <p:sp>
        <p:nvSpPr>
          <p:cNvPr id="20" name="Shape 18"/>
          <p:cNvSpPr/>
          <p:nvPr/>
        </p:nvSpPr>
        <p:spPr>
          <a:xfrm>
            <a:off x="640080" y="4087368"/>
            <a:ext cx="5285232" cy="822960"/>
          </a:xfrm>
          <a:prstGeom prst="roundRect">
            <a:avLst>
              <a:gd name="adj" fmla="val 10000"/>
            </a:avLst>
          </a:prstGeom>
          <a:solidFill>
            <a:srgbClr val="FFFFFF"/>
          </a:solidFill>
          <a:ln w="12700">
            <a:solidFill>
              <a:srgbClr val="E0E7E1"/>
            </a:solidFill>
            <a:prstDash val="solid"/>
          </a:ln>
        </p:spPr>
      </p:sp>
      <p:sp>
        <p:nvSpPr>
          <p:cNvPr id="21" name="Text 19"/>
          <p:cNvSpPr txBox="1"/>
          <p:nvPr/>
        </p:nvSpPr>
        <p:spPr>
          <a:xfrm>
            <a:off x="914400" y="4306824"/>
            <a:ext cx="457200" cy="384048"/>
          </a:xfrm>
          <a:prstGeom prst="rect">
            <a:avLst/>
          </a:prstGeom>
          <a:noFill/>
          <a:ln/>
        </p:spPr>
        <p:txBody>
          <a:bodyPr wrap="square" lIns="0" tIns="0" rIns="0" bIns="0" rtlCol="0" anchor="ctr"/>
          <a:lstStyle/>
          <a:p>
            <a:pPr indent="0" marL="0">
              <a:buNone/>
            </a:pPr>
            <a:r>
              <a:rPr lang="en-US" sz="1900" b="1" dirty="0">
                <a:solidFill>
                  <a:srgbClr val="6E7D73"/>
                </a:solidFill>
                <a:latin typeface="Cambria" pitchFamily="34" charset="0"/>
                <a:ea typeface="Cambria" pitchFamily="34" charset="-122"/>
                <a:cs typeface="Cambria" pitchFamily="34" charset="-120"/>
              </a:rPr>
              <a:t>5</a:t>
            </a:r>
            <a:endParaRPr lang="en-US" sz="1900" dirty="0"/>
          </a:p>
        </p:txBody>
      </p:sp>
      <p:sp>
        <p:nvSpPr>
          <p:cNvPr id="22" name="Text 20"/>
          <p:cNvSpPr txBox="1"/>
          <p:nvPr/>
        </p:nvSpPr>
        <p:spPr>
          <a:xfrm>
            <a:off x="1554480" y="4352544"/>
            <a:ext cx="4114800" cy="329184"/>
          </a:xfrm>
          <a:prstGeom prst="rect">
            <a:avLst/>
          </a:prstGeom>
          <a:noFill/>
          <a:ln/>
        </p:spPr>
        <p:txBody>
          <a:bodyPr wrap="square" lIns="0" tIns="0" rIns="0" bIns="0" rtlCol="0" anchor="ctr"/>
          <a:lstStyle/>
          <a:p>
            <a:pPr indent="0" marL="0">
              <a:buNone/>
            </a:pPr>
            <a:r>
              <a:rPr lang="en-US" sz="1500" dirty="0">
                <a:solidFill>
                  <a:srgbClr val="16241D"/>
                </a:solidFill>
                <a:latin typeface="Calibri" pitchFamily="34" charset="0"/>
                <a:ea typeface="Calibri" pitchFamily="34" charset="-122"/>
                <a:cs typeface="Calibri" pitchFamily="34" charset="-120"/>
              </a:rPr>
              <a:t>Battery and sensor status</a:t>
            </a:r>
            <a:endParaRPr lang="en-US" sz="1500" dirty="0"/>
          </a:p>
        </p:txBody>
      </p:sp>
      <p:sp>
        <p:nvSpPr>
          <p:cNvPr id="23" name="Shape 21"/>
          <p:cNvSpPr/>
          <p:nvPr/>
        </p:nvSpPr>
        <p:spPr>
          <a:xfrm>
            <a:off x="6172200" y="4087368"/>
            <a:ext cx="5285232" cy="822960"/>
          </a:xfrm>
          <a:prstGeom prst="roundRect">
            <a:avLst>
              <a:gd name="adj" fmla="val 10000"/>
            </a:avLst>
          </a:prstGeom>
          <a:solidFill>
            <a:srgbClr val="FFFFFF"/>
          </a:solidFill>
          <a:ln w="12700">
            <a:solidFill>
              <a:srgbClr val="E0E7E1"/>
            </a:solidFill>
            <a:prstDash val="solid"/>
          </a:ln>
        </p:spPr>
      </p:sp>
      <p:sp>
        <p:nvSpPr>
          <p:cNvPr id="24" name="Text 22"/>
          <p:cNvSpPr txBox="1"/>
          <p:nvPr/>
        </p:nvSpPr>
        <p:spPr>
          <a:xfrm>
            <a:off x="6446520" y="4306824"/>
            <a:ext cx="457200" cy="384048"/>
          </a:xfrm>
          <a:prstGeom prst="rect">
            <a:avLst/>
          </a:prstGeom>
          <a:noFill/>
          <a:ln/>
        </p:spPr>
        <p:txBody>
          <a:bodyPr wrap="square" lIns="0" tIns="0" rIns="0" bIns="0" rtlCol="0" anchor="ctr"/>
          <a:lstStyle/>
          <a:p>
            <a:pPr indent="0" marL="0">
              <a:buNone/>
            </a:pPr>
            <a:r>
              <a:rPr lang="en-US" sz="1900" b="1" dirty="0">
                <a:solidFill>
                  <a:srgbClr val="6E7D73"/>
                </a:solidFill>
                <a:latin typeface="Cambria" pitchFamily="34" charset="0"/>
                <a:ea typeface="Cambria" pitchFamily="34" charset="-122"/>
                <a:cs typeface="Cambria" pitchFamily="34" charset="-120"/>
              </a:rPr>
              <a:t>6</a:t>
            </a:r>
            <a:endParaRPr lang="en-US" sz="1900" dirty="0"/>
          </a:p>
        </p:txBody>
      </p:sp>
      <p:sp>
        <p:nvSpPr>
          <p:cNvPr id="25" name="Text 23"/>
          <p:cNvSpPr txBox="1"/>
          <p:nvPr/>
        </p:nvSpPr>
        <p:spPr>
          <a:xfrm>
            <a:off x="7086600" y="4352544"/>
            <a:ext cx="4114800" cy="329184"/>
          </a:xfrm>
          <a:prstGeom prst="rect">
            <a:avLst/>
          </a:prstGeom>
          <a:noFill/>
          <a:ln/>
        </p:spPr>
        <p:txBody>
          <a:bodyPr wrap="square" lIns="0" tIns="0" rIns="0" bIns="0" rtlCol="0" anchor="ctr"/>
          <a:lstStyle/>
          <a:p>
            <a:pPr indent="0" marL="0">
              <a:buNone/>
            </a:pPr>
            <a:r>
              <a:rPr lang="en-US" sz="1500" dirty="0">
                <a:solidFill>
                  <a:srgbClr val="16241D"/>
                </a:solidFill>
                <a:latin typeface="Calibri" pitchFamily="34" charset="0"/>
                <a:ea typeface="Calibri" pitchFamily="34" charset="-122"/>
                <a:cs typeface="Calibri" pitchFamily="34" charset="-120"/>
              </a:rPr>
              <a:t>Historical readings</a:t>
            </a:r>
            <a:endParaRPr lang="en-US" sz="1500" dirty="0"/>
          </a:p>
        </p:txBody>
      </p:sp>
      <p:sp>
        <p:nvSpPr>
          <p:cNvPr id="26" name="Shape 24"/>
          <p:cNvSpPr/>
          <p:nvPr/>
        </p:nvSpPr>
        <p:spPr>
          <a:xfrm>
            <a:off x="640080" y="5056632"/>
            <a:ext cx="5285232" cy="822960"/>
          </a:xfrm>
          <a:prstGeom prst="roundRect">
            <a:avLst>
              <a:gd name="adj" fmla="val 10000"/>
            </a:avLst>
          </a:prstGeom>
          <a:solidFill>
            <a:srgbClr val="FFFFFF"/>
          </a:solidFill>
          <a:ln w="12700">
            <a:solidFill>
              <a:srgbClr val="E0E7E1"/>
            </a:solidFill>
            <a:prstDash val="solid"/>
          </a:ln>
        </p:spPr>
      </p:sp>
      <p:sp>
        <p:nvSpPr>
          <p:cNvPr id="27" name="Text 25"/>
          <p:cNvSpPr txBox="1"/>
          <p:nvPr/>
        </p:nvSpPr>
        <p:spPr>
          <a:xfrm>
            <a:off x="914400" y="5276088"/>
            <a:ext cx="457200" cy="384048"/>
          </a:xfrm>
          <a:prstGeom prst="rect">
            <a:avLst/>
          </a:prstGeom>
          <a:noFill/>
          <a:ln/>
        </p:spPr>
        <p:txBody>
          <a:bodyPr wrap="square" lIns="0" tIns="0" rIns="0" bIns="0" rtlCol="0" anchor="ctr"/>
          <a:lstStyle/>
          <a:p>
            <a:pPr indent="0" marL="0">
              <a:buNone/>
            </a:pPr>
            <a:r>
              <a:rPr lang="en-US" sz="1900" b="1" dirty="0">
                <a:solidFill>
                  <a:srgbClr val="6E7D73"/>
                </a:solidFill>
                <a:latin typeface="Cambria" pitchFamily="34" charset="0"/>
                <a:ea typeface="Cambria" pitchFamily="34" charset="-122"/>
                <a:cs typeface="Cambria" pitchFamily="34" charset="-120"/>
              </a:rPr>
              <a:t>7</a:t>
            </a:r>
            <a:endParaRPr lang="en-US" sz="1900" dirty="0"/>
          </a:p>
        </p:txBody>
      </p:sp>
      <p:sp>
        <p:nvSpPr>
          <p:cNvPr id="28" name="Text 26"/>
          <p:cNvSpPr txBox="1"/>
          <p:nvPr/>
        </p:nvSpPr>
        <p:spPr>
          <a:xfrm>
            <a:off x="1554480" y="5321808"/>
            <a:ext cx="4114800" cy="329184"/>
          </a:xfrm>
          <a:prstGeom prst="rect">
            <a:avLst/>
          </a:prstGeom>
          <a:noFill/>
          <a:ln/>
        </p:spPr>
        <p:txBody>
          <a:bodyPr wrap="square" lIns="0" tIns="0" rIns="0" bIns="0" rtlCol="0" anchor="ctr"/>
          <a:lstStyle/>
          <a:p>
            <a:pPr indent="0" marL="0">
              <a:buNone/>
            </a:pPr>
            <a:r>
              <a:rPr lang="en-US" sz="1500" dirty="0">
                <a:solidFill>
                  <a:srgbClr val="16241D"/>
                </a:solidFill>
                <a:latin typeface="Calibri" pitchFamily="34" charset="0"/>
                <a:ea typeface="Calibri" pitchFamily="34" charset="-122"/>
                <a:cs typeface="Calibri" pitchFamily="34" charset="-120"/>
              </a:rPr>
              <a:t>Alerts</a:t>
            </a:r>
            <a:endParaRPr lang="en-US" sz="1500" dirty="0"/>
          </a:p>
        </p:txBody>
      </p:sp>
      <p:sp>
        <p:nvSpPr>
          <p:cNvPr id="29" name="Shape 27"/>
          <p:cNvSpPr/>
          <p:nvPr/>
        </p:nvSpPr>
        <p:spPr>
          <a:xfrm>
            <a:off x="6172200" y="5056632"/>
            <a:ext cx="5285232" cy="822960"/>
          </a:xfrm>
          <a:prstGeom prst="roundRect">
            <a:avLst>
              <a:gd name="adj" fmla="val 10000"/>
            </a:avLst>
          </a:prstGeom>
          <a:solidFill>
            <a:srgbClr val="FFFFFF"/>
          </a:solidFill>
          <a:ln w="12700">
            <a:solidFill>
              <a:srgbClr val="E0E7E1"/>
            </a:solidFill>
            <a:prstDash val="solid"/>
          </a:ln>
        </p:spPr>
      </p:sp>
      <p:sp>
        <p:nvSpPr>
          <p:cNvPr id="30" name="Text 28"/>
          <p:cNvSpPr txBox="1"/>
          <p:nvPr/>
        </p:nvSpPr>
        <p:spPr>
          <a:xfrm>
            <a:off x="6446520" y="5276088"/>
            <a:ext cx="457200" cy="384048"/>
          </a:xfrm>
          <a:prstGeom prst="rect">
            <a:avLst/>
          </a:prstGeom>
          <a:noFill/>
          <a:ln/>
        </p:spPr>
        <p:txBody>
          <a:bodyPr wrap="square" lIns="0" tIns="0" rIns="0" bIns="0" rtlCol="0" anchor="ctr"/>
          <a:lstStyle/>
          <a:p>
            <a:pPr indent="0" marL="0">
              <a:buNone/>
            </a:pPr>
            <a:r>
              <a:rPr lang="en-US" sz="1900" b="1" dirty="0">
                <a:solidFill>
                  <a:srgbClr val="6E7D73"/>
                </a:solidFill>
                <a:latin typeface="Cambria" pitchFamily="34" charset="0"/>
                <a:ea typeface="Cambria" pitchFamily="34" charset="-122"/>
                <a:cs typeface="Cambria" pitchFamily="34" charset="-120"/>
              </a:rPr>
              <a:t>8</a:t>
            </a:r>
            <a:endParaRPr lang="en-US" sz="1900" dirty="0"/>
          </a:p>
        </p:txBody>
      </p:sp>
      <p:sp>
        <p:nvSpPr>
          <p:cNvPr id="31" name="Text 29"/>
          <p:cNvSpPr txBox="1"/>
          <p:nvPr/>
        </p:nvSpPr>
        <p:spPr>
          <a:xfrm>
            <a:off x="7086600" y="5321808"/>
            <a:ext cx="4114800" cy="329184"/>
          </a:xfrm>
          <a:prstGeom prst="rect">
            <a:avLst/>
          </a:prstGeom>
          <a:noFill/>
          <a:ln/>
        </p:spPr>
        <p:txBody>
          <a:bodyPr wrap="square" lIns="0" tIns="0" rIns="0" bIns="0" rtlCol="0" anchor="ctr"/>
          <a:lstStyle/>
          <a:p>
            <a:pPr indent="0" marL="0">
              <a:buNone/>
            </a:pPr>
            <a:r>
              <a:rPr lang="en-US" sz="1500" dirty="0">
                <a:solidFill>
                  <a:srgbClr val="16241D"/>
                </a:solidFill>
                <a:latin typeface="Calibri" pitchFamily="34" charset="0"/>
                <a:ea typeface="Calibri" pitchFamily="34" charset="-122"/>
                <a:cs typeface="Calibri" pitchFamily="34" charset="-120"/>
              </a:rPr>
              <a:t>A dashboard per location</a:t>
            </a:r>
            <a:endParaRPr lang="en-US" sz="1500" dirty="0"/>
          </a:p>
        </p:txBody>
      </p:sp>
      <p:sp>
        <p:nvSpPr>
          <p:cNvPr id="32" name="Text 30"/>
          <p:cNvSpPr txBox="1"/>
          <p:nvPr/>
        </p:nvSpPr>
        <p:spPr>
          <a:xfrm>
            <a:off x="640080" y="6053328"/>
            <a:ext cx="10881360" cy="329184"/>
          </a:xfrm>
          <a:prstGeom prst="rect">
            <a:avLst/>
          </a:prstGeom>
          <a:noFill/>
          <a:ln/>
        </p:spPr>
        <p:txBody>
          <a:bodyPr wrap="square" lIns="0" tIns="0" rIns="0" bIns="0" rtlCol="0" anchor="ctr"/>
          <a:lstStyle/>
          <a:p>
            <a:pPr indent="0" marL="0">
              <a:buNone/>
            </a:pPr>
            <a:r>
              <a:rPr lang="en-US" sz="1250" i="1" dirty="0">
                <a:solidFill>
                  <a:srgbClr val="6E7D73"/>
                </a:solidFill>
                <a:latin typeface="Calibri" pitchFamily="34" charset="0"/>
                <a:ea typeface="Calibri" pitchFamily="34" charset="-122"/>
                <a:cs typeface="Calibri" pitchFamily="34" charset="-120"/>
              </a:rPr>
              <a:t>The first four are what a person standing in a field needs before anything else. Reporting and analysis follow.</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ACCEPTANCE</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Thobani Mjiyakho</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Fourteen things the system must demonstrate</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24</a:t>
            </a:r>
            <a:endParaRPr lang="en-US" sz="1000" dirty="0"/>
          </a:p>
        </p:txBody>
      </p:sp>
      <p:sp>
        <p:nvSpPr>
          <p:cNvPr id="7" name="Shape 5"/>
          <p:cNvSpPr/>
          <p:nvPr/>
        </p:nvSpPr>
        <p:spPr>
          <a:xfrm>
            <a:off x="640080" y="1682496"/>
            <a:ext cx="5285232" cy="566928"/>
          </a:xfrm>
          <a:prstGeom prst="roundRect">
            <a:avLst>
              <a:gd name="adj" fmla="val 14516"/>
            </a:avLst>
          </a:prstGeom>
          <a:solidFill>
            <a:srgbClr val="EFE7DC"/>
          </a:solidFill>
          <a:ln w="12700">
            <a:solidFill>
              <a:srgbClr val="EFE7DC"/>
            </a:solidFill>
            <a:prstDash val="solid"/>
          </a:ln>
        </p:spPr>
      </p:sp>
      <p:sp>
        <p:nvSpPr>
          <p:cNvPr id="8" name="Text 6"/>
          <p:cNvSpPr txBox="1"/>
          <p:nvPr/>
        </p:nvSpPr>
        <p:spPr>
          <a:xfrm>
            <a:off x="841248" y="1837944"/>
            <a:ext cx="640080" cy="274320"/>
          </a:xfrm>
          <a:prstGeom prst="rect">
            <a:avLst/>
          </a:prstGeom>
          <a:noFill/>
          <a:ln/>
        </p:spPr>
        <p:txBody>
          <a:bodyPr wrap="square" lIns="0" tIns="0" rIns="0" bIns="0" rtlCol="0" anchor="ctr"/>
          <a:lstStyle/>
          <a:p>
            <a:pPr indent="0" marL="0">
              <a:buNone/>
            </a:pPr>
            <a:r>
              <a:rPr lang="en-US" sz="1100" b="1" dirty="0">
                <a:solidFill>
                  <a:srgbClr val="1F6F6B"/>
                </a:solidFill>
                <a:latin typeface="Calibri" pitchFamily="34" charset="0"/>
                <a:ea typeface="Calibri" pitchFamily="34" charset="-122"/>
                <a:cs typeface="Calibri" pitchFamily="34" charset="-120"/>
              </a:rPr>
              <a:t>AC1</a:t>
            </a:r>
            <a:endParaRPr lang="en-US" sz="1100" dirty="0"/>
          </a:p>
        </p:txBody>
      </p:sp>
      <p:sp>
        <p:nvSpPr>
          <p:cNvPr id="9" name="Text 7"/>
          <p:cNvSpPr txBox="1"/>
          <p:nvPr/>
        </p:nvSpPr>
        <p:spPr>
          <a:xfrm>
            <a:off x="1554480" y="1764792"/>
            <a:ext cx="4206240" cy="457200"/>
          </a:xfrm>
          <a:prstGeom prst="rect">
            <a:avLst/>
          </a:prstGeom>
          <a:noFill/>
          <a:ln/>
        </p:spPr>
        <p:txBody>
          <a:bodyPr wrap="square" lIns="0" tIns="0" rIns="0" bIns="0" rtlCol="0" anchor="t"/>
          <a:lstStyle/>
          <a:p>
            <a:pPr indent="0" marL="0">
              <a:lnSpc>
                <a:spcPts val="1500"/>
              </a:lnSpc>
              <a:buNone/>
            </a:pPr>
            <a:r>
              <a:rPr lang="en-US" sz="1150" dirty="0">
                <a:solidFill>
                  <a:srgbClr val="16241D"/>
                </a:solidFill>
                <a:latin typeface="Calibri" pitchFamily="34" charset="0"/>
                <a:ea typeface="Calibri" pitchFamily="34" charset="-122"/>
                <a:cs typeface="Calibri" pitchFamily="34" charset="-120"/>
              </a:rPr>
              <a:t>An authorised user can sign in; an unauthorised user cannot</a:t>
            </a:r>
            <a:endParaRPr lang="en-US" sz="1150" dirty="0"/>
          </a:p>
        </p:txBody>
      </p:sp>
      <p:sp>
        <p:nvSpPr>
          <p:cNvPr id="10" name="Shape 8"/>
          <p:cNvSpPr/>
          <p:nvPr/>
        </p:nvSpPr>
        <p:spPr>
          <a:xfrm>
            <a:off x="6172200" y="1682496"/>
            <a:ext cx="5285232" cy="566928"/>
          </a:xfrm>
          <a:prstGeom prst="roundRect">
            <a:avLst>
              <a:gd name="adj" fmla="val 14516"/>
            </a:avLst>
          </a:prstGeom>
          <a:solidFill>
            <a:srgbClr val="EFE7DC"/>
          </a:solidFill>
          <a:ln w="12700">
            <a:solidFill>
              <a:srgbClr val="EFE7DC"/>
            </a:solidFill>
            <a:prstDash val="solid"/>
          </a:ln>
        </p:spPr>
      </p:sp>
      <p:sp>
        <p:nvSpPr>
          <p:cNvPr id="11" name="Text 9"/>
          <p:cNvSpPr txBox="1"/>
          <p:nvPr/>
        </p:nvSpPr>
        <p:spPr>
          <a:xfrm>
            <a:off x="6373368" y="1837944"/>
            <a:ext cx="640080" cy="274320"/>
          </a:xfrm>
          <a:prstGeom prst="rect">
            <a:avLst/>
          </a:prstGeom>
          <a:noFill/>
          <a:ln/>
        </p:spPr>
        <p:txBody>
          <a:bodyPr wrap="square" lIns="0" tIns="0" rIns="0" bIns="0" rtlCol="0" anchor="ctr"/>
          <a:lstStyle/>
          <a:p>
            <a:pPr indent="0" marL="0">
              <a:buNone/>
            </a:pPr>
            <a:r>
              <a:rPr lang="en-US" sz="1100" b="1" dirty="0">
                <a:solidFill>
                  <a:srgbClr val="1F6F6B"/>
                </a:solidFill>
                <a:latin typeface="Calibri" pitchFamily="34" charset="0"/>
                <a:ea typeface="Calibri" pitchFamily="34" charset="-122"/>
                <a:cs typeface="Calibri" pitchFamily="34" charset="-120"/>
              </a:rPr>
              <a:t>AC2</a:t>
            </a:r>
            <a:endParaRPr lang="en-US" sz="1100" dirty="0"/>
          </a:p>
        </p:txBody>
      </p:sp>
      <p:sp>
        <p:nvSpPr>
          <p:cNvPr id="12" name="Text 10"/>
          <p:cNvSpPr txBox="1"/>
          <p:nvPr/>
        </p:nvSpPr>
        <p:spPr>
          <a:xfrm>
            <a:off x="7086600" y="1764792"/>
            <a:ext cx="4206240" cy="457200"/>
          </a:xfrm>
          <a:prstGeom prst="rect">
            <a:avLst/>
          </a:prstGeom>
          <a:noFill/>
          <a:ln/>
        </p:spPr>
        <p:txBody>
          <a:bodyPr wrap="square" lIns="0" tIns="0" rIns="0" bIns="0" rtlCol="0" anchor="t"/>
          <a:lstStyle/>
          <a:p>
            <a:pPr indent="0" marL="0">
              <a:lnSpc>
                <a:spcPts val="1500"/>
              </a:lnSpc>
              <a:buNone/>
            </a:pPr>
            <a:r>
              <a:rPr lang="en-US" sz="1150" dirty="0">
                <a:solidFill>
                  <a:srgbClr val="16241D"/>
                </a:solidFill>
                <a:latin typeface="Calibri" pitchFamily="34" charset="0"/>
                <a:ea typeface="Calibri" pitchFamily="34" charset="-122"/>
                <a:cs typeface="Calibri" pitchFamily="34" charset="-120"/>
              </a:rPr>
              <a:t>The dashboard shows locations, sensors, active, inactive and open alerts</a:t>
            </a:r>
            <a:endParaRPr lang="en-US" sz="1150" dirty="0"/>
          </a:p>
        </p:txBody>
      </p:sp>
      <p:sp>
        <p:nvSpPr>
          <p:cNvPr id="13" name="Text 11"/>
          <p:cNvSpPr txBox="1"/>
          <p:nvPr/>
        </p:nvSpPr>
        <p:spPr>
          <a:xfrm>
            <a:off x="841248" y="2459736"/>
            <a:ext cx="640080" cy="274320"/>
          </a:xfrm>
          <a:prstGeom prst="rect">
            <a:avLst/>
          </a:prstGeom>
          <a:noFill/>
          <a:ln/>
        </p:spPr>
        <p:txBody>
          <a:bodyPr wrap="square" lIns="0" tIns="0" rIns="0" bIns="0" rtlCol="0" anchor="ctr"/>
          <a:lstStyle/>
          <a:p>
            <a:pPr indent="0" marL="0">
              <a:buNone/>
            </a:pPr>
            <a:r>
              <a:rPr lang="en-US" sz="1100" b="1" dirty="0">
                <a:solidFill>
                  <a:srgbClr val="1F6F6B"/>
                </a:solidFill>
                <a:latin typeface="Calibri" pitchFamily="34" charset="0"/>
                <a:ea typeface="Calibri" pitchFamily="34" charset="-122"/>
                <a:cs typeface="Calibri" pitchFamily="34" charset="-120"/>
              </a:rPr>
              <a:t>AC3</a:t>
            </a:r>
            <a:endParaRPr lang="en-US" sz="1100" dirty="0"/>
          </a:p>
        </p:txBody>
      </p:sp>
      <p:sp>
        <p:nvSpPr>
          <p:cNvPr id="14" name="Text 12"/>
          <p:cNvSpPr txBox="1"/>
          <p:nvPr/>
        </p:nvSpPr>
        <p:spPr>
          <a:xfrm>
            <a:off x="1554480" y="2386584"/>
            <a:ext cx="4206240" cy="457200"/>
          </a:xfrm>
          <a:prstGeom prst="rect">
            <a:avLst/>
          </a:prstGeom>
          <a:noFill/>
          <a:ln/>
        </p:spPr>
        <p:txBody>
          <a:bodyPr wrap="square" lIns="0" tIns="0" rIns="0" bIns="0" rtlCol="0" anchor="t"/>
          <a:lstStyle/>
          <a:p>
            <a:pPr indent="0" marL="0">
              <a:lnSpc>
                <a:spcPts val="1500"/>
              </a:lnSpc>
              <a:buNone/>
            </a:pPr>
            <a:r>
              <a:rPr lang="en-US" sz="1150" dirty="0">
                <a:solidFill>
                  <a:srgbClr val="16241D"/>
                </a:solidFill>
                <a:latin typeface="Calibri" pitchFamily="34" charset="0"/>
                <a:ea typeface="Calibri" pitchFamily="34" charset="-122"/>
                <a:cs typeface="Calibri" pitchFamily="34" charset="-120"/>
              </a:rPr>
              <a:t>All three locations are listed and their sensors reachable</a:t>
            </a:r>
            <a:endParaRPr lang="en-US" sz="1150" dirty="0"/>
          </a:p>
        </p:txBody>
      </p:sp>
      <p:sp>
        <p:nvSpPr>
          <p:cNvPr id="15" name="Text 13"/>
          <p:cNvSpPr txBox="1"/>
          <p:nvPr/>
        </p:nvSpPr>
        <p:spPr>
          <a:xfrm>
            <a:off x="6373368" y="2459736"/>
            <a:ext cx="640080" cy="274320"/>
          </a:xfrm>
          <a:prstGeom prst="rect">
            <a:avLst/>
          </a:prstGeom>
          <a:noFill/>
          <a:ln/>
        </p:spPr>
        <p:txBody>
          <a:bodyPr wrap="square" lIns="0" tIns="0" rIns="0" bIns="0" rtlCol="0" anchor="ctr"/>
          <a:lstStyle/>
          <a:p>
            <a:pPr indent="0" marL="0">
              <a:buNone/>
            </a:pPr>
            <a:r>
              <a:rPr lang="en-US" sz="1100" b="1" dirty="0">
                <a:solidFill>
                  <a:srgbClr val="1F6F6B"/>
                </a:solidFill>
                <a:latin typeface="Calibri" pitchFamily="34" charset="0"/>
                <a:ea typeface="Calibri" pitchFamily="34" charset="-122"/>
                <a:cs typeface="Calibri" pitchFamily="34" charset="-120"/>
              </a:rPr>
              <a:t>AC4</a:t>
            </a:r>
            <a:endParaRPr lang="en-US" sz="1100" dirty="0"/>
          </a:p>
        </p:txBody>
      </p:sp>
      <p:sp>
        <p:nvSpPr>
          <p:cNvPr id="16" name="Text 14"/>
          <p:cNvSpPr txBox="1"/>
          <p:nvPr/>
        </p:nvSpPr>
        <p:spPr>
          <a:xfrm>
            <a:off x="7086600" y="2386584"/>
            <a:ext cx="4206240" cy="457200"/>
          </a:xfrm>
          <a:prstGeom prst="rect">
            <a:avLst/>
          </a:prstGeom>
          <a:noFill/>
          <a:ln/>
        </p:spPr>
        <p:txBody>
          <a:bodyPr wrap="square" lIns="0" tIns="0" rIns="0" bIns="0" rtlCol="0" anchor="t"/>
          <a:lstStyle/>
          <a:p>
            <a:pPr indent="0" marL="0">
              <a:lnSpc>
                <a:spcPts val="1500"/>
              </a:lnSpc>
              <a:buNone/>
            </a:pPr>
            <a:r>
              <a:rPr lang="en-US" sz="1150" dirty="0">
                <a:solidFill>
                  <a:srgbClr val="16241D"/>
                </a:solidFill>
                <a:latin typeface="Calibri" pitchFamily="34" charset="0"/>
                <a:ea typeface="Calibri" pitchFamily="34" charset="-122"/>
                <a:cs typeface="Calibri" pitchFamily="34" charset="-120"/>
              </a:rPr>
              <a:t>All fifteen sensors are registered and individually identifiable</a:t>
            </a:r>
            <a:endParaRPr lang="en-US" sz="1150" dirty="0"/>
          </a:p>
        </p:txBody>
      </p:sp>
      <p:sp>
        <p:nvSpPr>
          <p:cNvPr id="17" name="Shape 15"/>
          <p:cNvSpPr/>
          <p:nvPr/>
        </p:nvSpPr>
        <p:spPr>
          <a:xfrm>
            <a:off x="640080" y="2926080"/>
            <a:ext cx="5285232" cy="566928"/>
          </a:xfrm>
          <a:prstGeom prst="roundRect">
            <a:avLst>
              <a:gd name="adj" fmla="val 14516"/>
            </a:avLst>
          </a:prstGeom>
          <a:solidFill>
            <a:srgbClr val="EFE7DC"/>
          </a:solidFill>
          <a:ln w="12700">
            <a:solidFill>
              <a:srgbClr val="EFE7DC"/>
            </a:solidFill>
            <a:prstDash val="solid"/>
          </a:ln>
        </p:spPr>
      </p:sp>
      <p:sp>
        <p:nvSpPr>
          <p:cNvPr id="18" name="Text 16"/>
          <p:cNvSpPr txBox="1"/>
          <p:nvPr/>
        </p:nvSpPr>
        <p:spPr>
          <a:xfrm>
            <a:off x="841248" y="3081528"/>
            <a:ext cx="640080" cy="274320"/>
          </a:xfrm>
          <a:prstGeom prst="rect">
            <a:avLst/>
          </a:prstGeom>
          <a:noFill/>
          <a:ln/>
        </p:spPr>
        <p:txBody>
          <a:bodyPr wrap="square" lIns="0" tIns="0" rIns="0" bIns="0" rtlCol="0" anchor="ctr"/>
          <a:lstStyle/>
          <a:p>
            <a:pPr indent="0" marL="0">
              <a:buNone/>
            </a:pPr>
            <a:r>
              <a:rPr lang="en-US" sz="1100" b="1" dirty="0">
                <a:solidFill>
                  <a:srgbClr val="1F6F6B"/>
                </a:solidFill>
                <a:latin typeface="Calibri" pitchFamily="34" charset="0"/>
                <a:ea typeface="Calibri" pitchFamily="34" charset="-122"/>
                <a:cs typeface="Calibri" pitchFamily="34" charset="-120"/>
              </a:rPr>
              <a:t>AC5</a:t>
            </a:r>
            <a:endParaRPr lang="en-US" sz="1100" dirty="0"/>
          </a:p>
        </p:txBody>
      </p:sp>
      <p:sp>
        <p:nvSpPr>
          <p:cNvPr id="19" name="Text 17"/>
          <p:cNvSpPr txBox="1"/>
          <p:nvPr/>
        </p:nvSpPr>
        <p:spPr>
          <a:xfrm>
            <a:off x="1554480" y="3008376"/>
            <a:ext cx="4206240" cy="457200"/>
          </a:xfrm>
          <a:prstGeom prst="rect">
            <a:avLst/>
          </a:prstGeom>
          <a:noFill/>
          <a:ln/>
        </p:spPr>
        <p:txBody>
          <a:bodyPr wrap="square" lIns="0" tIns="0" rIns="0" bIns="0" rtlCol="0" anchor="t"/>
          <a:lstStyle/>
          <a:p>
            <a:pPr indent="0" marL="0">
              <a:lnSpc>
                <a:spcPts val="1500"/>
              </a:lnSpc>
              <a:buNone/>
            </a:pPr>
            <a:r>
              <a:rPr lang="en-US" sz="1150" dirty="0">
                <a:solidFill>
                  <a:srgbClr val="16241D"/>
                </a:solidFill>
                <a:latin typeface="Calibri" pitchFamily="34" charset="0"/>
                <a:ea typeface="Calibri" pitchFamily="34" charset="-122"/>
                <a:cs typeface="Calibri" pitchFamily="34" charset="-120"/>
              </a:rPr>
              <a:t>All seven parameters display for a selected sensor, with the reading time</a:t>
            </a:r>
            <a:endParaRPr lang="en-US" sz="1150" dirty="0"/>
          </a:p>
        </p:txBody>
      </p:sp>
      <p:sp>
        <p:nvSpPr>
          <p:cNvPr id="20" name="Shape 18"/>
          <p:cNvSpPr/>
          <p:nvPr/>
        </p:nvSpPr>
        <p:spPr>
          <a:xfrm>
            <a:off x="6172200" y="2926080"/>
            <a:ext cx="5285232" cy="566928"/>
          </a:xfrm>
          <a:prstGeom prst="roundRect">
            <a:avLst>
              <a:gd name="adj" fmla="val 14516"/>
            </a:avLst>
          </a:prstGeom>
          <a:solidFill>
            <a:srgbClr val="EFE7DC"/>
          </a:solidFill>
          <a:ln w="12700">
            <a:solidFill>
              <a:srgbClr val="EFE7DC"/>
            </a:solidFill>
            <a:prstDash val="solid"/>
          </a:ln>
        </p:spPr>
      </p:sp>
      <p:sp>
        <p:nvSpPr>
          <p:cNvPr id="21" name="Text 19"/>
          <p:cNvSpPr txBox="1"/>
          <p:nvPr/>
        </p:nvSpPr>
        <p:spPr>
          <a:xfrm>
            <a:off x="6373368" y="3081528"/>
            <a:ext cx="640080" cy="274320"/>
          </a:xfrm>
          <a:prstGeom prst="rect">
            <a:avLst/>
          </a:prstGeom>
          <a:noFill/>
          <a:ln/>
        </p:spPr>
        <p:txBody>
          <a:bodyPr wrap="square" lIns="0" tIns="0" rIns="0" bIns="0" rtlCol="0" anchor="ctr"/>
          <a:lstStyle/>
          <a:p>
            <a:pPr indent="0" marL="0">
              <a:buNone/>
            </a:pPr>
            <a:r>
              <a:rPr lang="en-US" sz="1100" b="1" dirty="0">
                <a:solidFill>
                  <a:srgbClr val="1F6F6B"/>
                </a:solidFill>
                <a:latin typeface="Calibri" pitchFamily="34" charset="0"/>
                <a:ea typeface="Calibri" pitchFamily="34" charset="-122"/>
                <a:cs typeface="Calibri" pitchFamily="34" charset="-120"/>
              </a:rPr>
              <a:t>AC6</a:t>
            </a:r>
            <a:endParaRPr lang="en-US" sz="1100" dirty="0"/>
          </a:p>
        </p:txBody>
      </p:sp>
      <p:sp>
        <p:nvSpPr>
          <p:cNvPr id="22" name="Text 20"/>
          <p:cNvSpPr txBox="1"/>
          <p:nvPr/>
        </p:nvSpPr>
        <p:spPr>
          <a:xfrm>
            <a:off x="7086600" y="3008376"/>
            <a:ext cx="4206240" cy="457200"/>
          </a:xfrm>
          <a:prstGeom prst="rect">
            <a:avLst/>
          </a:prstGeom>
          <a:noFill/>
          <a:ln/>
        </p:spPr>
        <p:txBody>
          <a:bodyPr wrap="square" lIns="0" tIns="0" rIns="0" bIns="0" rtlCol="0" anchor="t"/>
          <a:lstStyle/>
          <a:p>
            <a:pPr indent="0" marL="0">
              <a:lnSpc>
                <a:spcPts val="1500"/>
              </a:lnSpc>
              <a:buNone/>
            </a:pPr>
            <a:r>
              <a:rPr lang="en-US" sz="1150" dirty="0">
                <a:solidFill>
                  <a:srgbClr val="16241D"/>
                </a:solidFill>
                <a:latin typeface="Calibri" pitchFamily="34" charset="0"/>
                <a:ea typeface="Calibri" pitchFamily="34" charset="-122"/>
                <a:cs typeface="Calibri" pitchFamily="34" charset="-120"/>
              </a:rPr>
              <a:t>Battery, sensor status and last communication display for each sensor</a:t>
            </a:r>
            <a:endParaRPr lang="en-US" sz="1150" dirty="0"/>
          </a:p>
        </p:txBody>
      </p:sp>
      <p:sp>
        <p:nvSpPr>
          <p:cNvPr id="23" name="Text 21"/>
          <p:cNvSpPr txBox="1"/>
          <p:nvPr/>
        </p:nvSpPr>
        <p:spPr>
          <a:xfrm>
            <a:off x="841248" y="3703320"/>
            <a:ext cx="640080" cy="274320"/>
          </a:xfrm>
          <a:prstGeom prst="rect">
            <a:avLst/>
          </a:prstGeom>
          <a:noFill/>
          <a:ln/>
        </p:spPr>
        <p:txBody>
          <a:bodyPr wrap="square" lIns="0" tIns="0" rIns="0" bIns="0" rtlCol="0" anchor="ctr"/>
          <a:lstStyle/>
          <a:p>
            <a:pPr indent="0" marL="0">
              <a:buNone/>
            </a:pPr>
            <a:r>
              <a:rPr lang="en-US" sz="1100" b="1" dirty="0">
                <a:solidFill>
                  <a:srgbClr val="1F6F6B"/>
                </a:solidFill>
                <a:latin typeface="Calibri" pitchFamily="34" charset="0"/>
                <a:ea typeface="Calibri" pitchFamily="34" charset="-122"/>
                <a:cs typeface="Calibri" pitchFamily="34" charset="-120"/>
              </a:rPr>
              <a:t>AC7</a:t>
            </a:r>
            <a:endParaRPr lang="en-US" sz="1100" dirty="0"/>
          </a:p>
        </p:txBody>
      </p:sp>
      <p:sp>
        <p:nvSpPr>
          <p:cNvPr id="24" name="Text 22"/>
          <p:cNvSpPr txBox="1"/>
          <p:nvPr/>
        </p:nvSpPr>
        <p:spPr>
          <a:xfrm>
            <a:off x="1554480" y="3630168"/>
            <a:ext cx="4206240" cy="457200"/>
          </a:xfrm>
          <a:prstGeom prst="rect">
            <a:avLst/>
          </a:prstGeom>
          <a:noFill/>
          <a:ln/>
        </p:spPr>
        <p:txBody>
          <a:bodyPr wrap="square" lIns="0" tIns="0" rIns="0" bIns="0" rtlCol="0" anchor="t"/>
          <a:lstStyle/>
          <a:p>
            <a:pPr indent="0" marL="0">
              <a:lnSpc>
                <a:spcPts val="1500"/>
              </a:lnSpc>
              <a:buNone/>
            </a:pPr>
            <a:r>
              <a:rPr lang="en-US" sz="1150" dirty="0">
                <a:solidFill>
                  <a:srgbClr val="16241D"/>
                </a:solidFill>
                <a:latin typeface="Calibri" pitchFamily="34" charset="0"/>
                <a:ea typeface="Calibri" pitchFamily="34" charset="-122"/>
                <a:cs typeface="Calibri" pitchFamily="34" charset="-120"/>
              </a:rPr>
              <a:t>A reading outside its range raises an alert visible in both applications</a:t>
            </a:r>
            <a:endParaRPr lang="en-US" sz="1150" dirty="0"/>
          </a:p>
        </p:txBody>
      </p:sp>
      <p:sp>
        <p:nvSpPr>
          <p:cNvPr id="25" name="Text 23"/>
          <p:cNvSpPr txBox="1"/>
          <p:nvPr/>
        </p:nvSpPr>
        <p:spPr>
          <a:xfrm>
            <a:off x="6373368" y="3703320"/>
            <a:ext cx="640080" cy="274320"/>
          </a:xfrm>
          <a:prstGeom prst="rect">
            <a:avLst/>
          </a:prstGeom>
          <a:noFill/>
          <a:ln/>
        </p:spPr>
        <p:txBody>
          <a:bodyPr wrap="square" lIns="0" tIns="0" rIns="0" bIns="0" rtlCol="0" anchor="ctr"/>
          <a:lstStyle/>
          <a:p>
            <a:pPr indent="0" marL="0">
              <a:buNone/>
            </a:pPr>
            <a:r>
              <a:rPr lang="en-US" sz="1100" b="1" dirty="0">
                <a:solidFill>
                  <a:srgbClr val="1F6F6B"/>
                </a:solidFill>
                <a:latin typeface="Calibri" pitchFamily="34" charset="0"/>
                <a:ea typeface="Calibri" pitchFamily="34" charset="-122"/>
                <a:cs typeface="Calibri" pitchFamily="34" charset="-120"/>
              </a:rPr>
              <a:t>AC8</a:t>
            </a:r>
            <a:endParaRPr lang="en-US" sz="1100" dirty="0"/>
          </a:p>
        </p:txBody>
      </p:sp>
      <p:sp>
        <p:nvSpPr>
          <p:cNvPr id="26" name="Text 24"/>
          <p:cNvSpPr txBox="1"/>
          <p:nvPr/>
        </p:nvSpPr>
        <p:spPr>
          <a:xfrm>
            <a:off x="7086600" y="3630168"/>
            <a:ext cx="4206240" cy="457200"/>
          </a:xfrm>
          <a:prstGeom prst="rect">
            <a:avLst/>
          </a:prstGeom>
          <a:noFill/>
          <a:ln/>
        </p:spPr>
        <p:txBody>
          <a:bodyPr wrap="square" lIns="0" tIns="0" rIns="0" bIns="0" rtlCol="0" anchor="t"/>
          <a:lstStyle/>
          <a:p>
            <a:pPr indent="0" marL="0">
              <a:lnSpc>
                <a:spcPts val="1500"/>
              </a:lnSpc>
              <a:buNone/>
            </a:pPr>
            <a:r>
              <a:rPr lang="en-US" sz="1150" dirty="0">
                <a:solidFill>
                  <a:srgbClr val="16241D"/>
                </a:solidFill>
                <a:latin typeface="Calibri" pitchFamily="34" charset="0"/>
                <a:ea typeface="Calibri" pitchFamily="34" charset="-122"/>
                <a:cs typeface="Calibri" pitchFamily="34" charset="-120"/>
              </a:rPr>
              <a:t>A sensor silent beyond the configured period is reported and raises an alert</a:t>
            </a:r>
            <a:endParaRPr lang="en-US" sz="1150" dirty="0"/>
          </a:p>
        </p:txBody>
      </p:sp>
      <p:sp>
        <p:nvSpPr>
          <p:cNvPr id="27" name="Shape 25"/>
          <p:cNvSpPr/>
          <p:nvPr/>
        </p:nvSpPr>
        <p:spPr>
          <a:xfrm>
            <a:off x="640080" y="4169664"/>
            <a:ext cx="5285232" cy="566928"/>
          </a:xfrm>
          <a:prstGeom prst="roundRect">
            <a:avLst>
              <a:gd name="adj" fmla="val 14516"/>
            </a:avLst>
          </a:prstGeom>
          <a:solidFill>
            <a:srgbClr val="EFE7DC"/>
          </a:solidFill>
          <a:ln w="12700">
            <a:solidFill>
              <a:srgbClr val="EFE7DC"/>
            </a:solidFill>
            <a:prstDash val="solid"/>
          </a:ln>
        </p:spPr>
      </p:sp>
      <p:sp>
        <p:nvSpPr>
          <p:cNvPr id="28" name="Text 26"/>
          <p:cNvSpPr txBox="1"/>
          <p:nvPr/>
        </p:nvSpPr>
        <p:spPr>
          <a:xfrm>
            <a:off x="841248" y="4325112"/>
            <a:ext cx="640080" cy="274320"/>
          </a:xfrm>
          <a:prstGeom prst="rect">
            <a:avLst/>
          </a:prstGeom>
          <a:noFill/>
          <a:ln/>
        </p:spPr>
        <p:txBody>
          <a:bodyPr wrap="square" lIns="0" tIns="0" rIns="0" bIns="0" rtlCol="0" anchor="ctr"/>
          <a:lstStyle/>
          <a:p>
            <a:pPr indent="0" marL="0">
              <a:buNone/>
            </a:pPr>
            <a:r>
              <a:rPr lang="en-US" sz="1100" b="1" dirty="0">
                <a:solidFill>
                  <a:srgbClr val="1F6F6B"/>
                </a:solidFill>
                <a:latin typeface="Calibri" pitchFamily="34" charset="0"/>
                <a:ea typeface="Calibri" pitchFamily="34" charset="-122"/>
                <a:cs typeface="Calibri" pitchFamily="34" charset="-120"/>
              </a:rPr>
              <a:t>AC9</a:t>
            </a:r>
            <a:endParaRPr lang="en-US" sz="1100" dirty="0"/>
          </a:p>
        </p:txBody>
      </p:sp>
      <p:sp>
        <p:nvSpPr>
          <p:cNvPr id="29" name="Text 27"/>
          <p:cNvSpPr txBox="1"/>
          <p:nvPr/>
        </p:nvSpPr>
        <p:spPr>
          <a:xfrm>
            <a:off x="1554480" y="4251960"/>
            <a:ext cx="4206240" cy="457200"/>
          </a:xfrm>
          <a:prstGeom prst="rect">
            <a:avLst/>
          </a:prstGeom>
          <a:noFill/>
          <a:ln/>
        </p:spPr>
        <p:txBody>
          <a:bodyPr wrap="square" lIns="0" tIns="0" rIns="0" bIns="0" rtlCol="0" anchor="t"/>
          <a:lstStyle/>
          <a:p>
            <a:pPr indent="0" marL="0">
              <a:lnSpc>
                <a:spcPts val="1500"/>
              </a:lnSpc>
              <a:buNone/>
            </a:pPr>
            <a:r>
              <a:rPr lang="en-US" sz="1150" dirty="0">
                <a:solidFill>
                  <a:srgbClr val="16241D"/>
                </a:solidFill>
                <a:latin typeface="Calibri" pitchFamily="34" charset="0"/>
                <a:ea typeface="Calibri" pitchFamily="34" charset="-122"/>
                <a:cs typeface="Calibri" pitchFamily="34" charset="-120"/>
              </a:rPr>
              <a:t>Readings for a selected sensor and period display as a graph</a:t>
            </a:r>
            <a:endParaRPr lang="en-US" sz="1150" dirty="0"/>
          </a:p>
        </p:txBody>
      </p:sp>
      <p:sp>
        <p:nvSpPr>
          <p:cNvPr id="30" name="Shape 28"/>
          <p:cNvSpPr/>
          <p:nvPr/>
        </p:nvSpPr>
        <p:spPr>
          <a:xfrm>
            <a:off x="6172200" y="4169664"/>
            <a:ext cx="5285232" cy="566928"/>
          </a:xfrm>
          <a:prstGeom prst="roundRect">
            <a:avLst>
              <a:gd name="adj" fmla="val 14516"/>
            </a:avLst>
          </a:prstGeom>
          <a:solidFill>
            <a:srgbClr val="EFE7DC"/>
          </a:solidFill>
          <a:ln w="12700">
            <a:solidFill>
              <a:srgbClr val="EFE7DC"/>
            </a:solidFill>
            <a:prstDash val="solid"/>
          </a:ln>
        </p:spPr>
      </p:sp>
      <p:sp>
        <p:nvSpPr>
          <p:cNvPr id="31" name="Text 29"/>
          <p:cNvSpPr txBox="1"/>
          <p:nvPr/>
        </p:nvSpPr>
        <p:spPr>
          <a:xfrm>
            <a:off x="6373368" y="4325112"/>
            <a:ext cx="640080" cy="274320"/>
          </a:xfrm>
          <a:prstGeom prst="rect">
            <a:avLst/>
          </a:prstGeom>
          <a:noFill/>
          <a:ln/>
        </p:spPr>
        <p:txBody>
          <a:bodyPr wrap="square" lIns="0" tIns="0" rIns="0" bIns="0" rtlCol="0" anchor="ctr"/>
          <a:lstStyle/>
          <a:p>
            <a:pPr indent="0" marL="0">
              <a:buNone/>
            </a:pPr>
            <a:r>
              <a:rPr lang="en-US" sz="1100" b="1" dirty="0">
                <a:solidFill>
                  <a:srgbClr val="1F6F6B"/>
                </a:solidFill>
                <a:latin typeface="Calibri" pitchFamily="34" charset="0"/>
                <a:ea typeface="Calibri" pitchFamily="34" charset="-122"/>
                <a:cs typeface="Calibri" pitchFamily="34" charset="-120"/>
              </a:rPr>
              <a:t>AC10</a:t>
            </a:r>
            <a:endParaRPr lang="en-US" sz="1100" dirty="0"/>
          </a:p>
        </p:txBody>
      </p:sp>
      <p:sp>
        <p:nvSpPr>
          <p:cNvPr id="32" name="Text 30"/>
          <p:cNvSpPr txBox="1"/>
          <p:nvPr/>
        </p:nvSpPr>
        <p:spPr>
          <a:xfrm>
            <a:off x="7086600" y="4251960"/>
            <a:ext cx="4206240" cy="457200"/>
          </a:xfrm>
          <a:prstGeom prst="rect">
            <a:avLst/>
          </a:prstGeom>
          <a:noFill/>
          <a:ln/>
        </p:spPr>
        <p:txBody>
          <a:bodyPr wrap="square" lIns="0" tIns="0" rIns="0" bIns="0" rtlCol="0" anchor="t"/>
          <a:lstStyle/>
          <a:p>
            <a:pPr indent="0" marL="0">
              <a:lnSpc>
                <a:spcPts val="1500"/>
              </a:lnSpc>
              <a:buNone/>
            </a:pPr>
            <a:r>
              <a:rPr lang="en-US" sz="1150" dirty="0">
                <a:solidFill>
                  <a:srgbClr val="16241D"/>
                </a:solidFill>
                <a:latin typeface="Calibri" pitchFamily="34" charset="0"/>
                <a:ea typeface="Calibri" pitchFamily="34" charset="-122"/>
                <a:cs typeface="Calibri" pitchFamily="34" charset="-120"/>
              </a:rPr>
              <a:t>An administrator can manage locations, sensors, ranges and users</a:t>
            </a:r>
            <a:endParaRPr lang="en-US" sz="1150" dirty="0"/>
          </a:p>
        </p:txBody>
      </p:sp>
      <p:sp>
        <p:nvSpPr>
          <p:cNvPr id="33" name="Text 31"/>
          <p:cNvSpPr txBox="1"/>
          <p:nvPr/>
        </p:nvSpPr>
        <p:spPr>
          <a:xfrm>
            <a:off x="841248" y="4946904"/>
            <a:ext cx="640080" cy="274320"/>
          </a:xfrm>
          <a:prstGeom prst="rect">
            <a:avLst/>
          </a:prstGeom>
          <a:noFill/>
          <a:ln/>
        </p:spPr>
        <p:txBody>
          <a:bodyPr wrap="square" lIns="0" tIns="0" rIns="0" bIns="0" rtlCol="0" anchor="ctr"/>
          <a:lstStyle/>
          <a:p>
            <a:pPr indent="0" marL="0">
              <a:buNone/>
            </a:pPr>
            <a:r>
              <a:rPr lang="en-US" sz="1100" b="1" dirty="0">
                <a:solidFill>
                  <a:srgbClr val="1F6F6B"/>
                </a:solidFill>
                <a:latin typeface="Calibri" pitchFamily="34" charset="0"/>
                <a:ea typeface="Calibri" pitchFamily="34" charset="-122"/>
                <a:cs typeface="Calibri" pitchFamily="34" charset="-120"/>
              </a:rPr>
              <a:t>AC11</a:t>
            </a:r>
            <a:endParaRPr lang="en-US" sz="1100" dirty="0"/>
          </a:p>
        </p:txBody>
      </p:sp>
      <p:sp>
        <p:nvSpPr>
          <p:cNvPr id="34" name="Text 32"/>
          <p:cNvSpPr txBox="1"/>
          <p:nvPr/>
        </p:nvSpPr>
        <p:spPr>
          <a:xfrm>
            <a:off x="1554480" y="4873752"/>
            <a:ext cx="4206240" cy="457200"/>
          </a:xfrm>
          <a:prstGeom prst="rect">
            <a:avLst/>
          </a:prstGeom>
          <a:noFill/>
          <a:ln/>
        </p:spPr>
        <p:txBody>
          <a:bodyPr wrap="square" lIns="0" tIns="0" rIns="0" bIns="0" rtlCol="0" anchor="t"/>
          <a:lstStyle/>
          <a:p>
            <a:pPr indent="0" marL="0">
              <a:lnSpc>
                <a:spcPts val="1500"/>
              </a:lnSpc>
              <a:buNone/>
            </a:pPr>
            <a:r>
              <a:rPr lang="en-US" sz="1150" dirty="0">
                <a:solidFill>
                  <a:srgbClr val="16241D"/>
                </a:solidFill>
                <a:latin typeface="Calibri" pitchFamily="34" charset="0"/>
                <a:ea typeface="Calibri" pitchFamily="34" charset="-122"/>
                <a:cs typeface="Calibri" pitchFamily="34" charset="-120"/>
              </a:rPr>
              <a:t>A standard user cannot change any configuration</a:t>
            </a:r>
            <a:endParaRPr lang="en-US" sz="1150" dirty="0"/>
          </a:p>
        </p:txBody>
      </p:sp>
      <p:sp>
        <p:nvSpPr>
          <p:cNvPr id="35" name="Text 33"/>
          <p:cNvSpPr txBox="1"/>
          <p:nvPr/>
        </p:nvSpPr>
        <p:spPr>
          <a:xfrm>
            <a:off x="6373368" y="4946904"/>
            <a:ext cx="640080" cy="274320"/>
          </a:xfrm>
          <a:prstGeom prst="rect">
            <a:avLst/>
          </a:prstGeom>
          <a:noFill/>
          <a:ln/>
        </p:spPr>
        <p:txBody>
          <a:bodyPr wrap="square" lIns="0" tIns="0" rIns="0" bIns="0" rtlCol="0" anchor="ctr"/>
          <a:lstStyle/>
          <a:p>
            <a:pPr indent="0" marL="0">
              <a:buNone/>
            </a:pPr>
            <a:r>
              <a:rPr lang="en-US" sz="1100" b="1" dirty="0">
                <a:solidFill>
                  <a:srgbClr val="1F6F6B"/>
                </a:solidFill>
                <a:latin typeface="Calibri" pitchFamily="34" charset="0"/>
                <a:ea typeface="Calibri" pitchFamily="34" charset="-122"/>
                <a:cs typeface="Calibri" pitchFamily="34" charset="-120"/>
              </a:rPr>
              <a:t>AC12</a:t>
            </a:r>
            <a:endParaRPr lang="en-US" sz="1100" dirty="0"/>
          </a:p>
        </p:txBody>
      </p:sp>
      <p:sp>
        <p:nvSpPr>
          <p:cNvPr id="36" name="Text 34"/>
          <p:cNvSpPr txBox="1"/>
          <p:nvPr/>
        </p:nvSpPr>
        <p:spPr>
          <a:xfrm>
            <a:off x="7086600" y="4873752"/>
            <a:ext cx="4206240" cy="457200"/>
          </a:xfrm>
          <a:prstGeom prst="rect">
            <a:avLst/>
          </a:prstGeom>
          <a:noFill/>
          <a:ln/>
        </p:spPr>
        <p:txBody>
          <a:bodyPr wrap="square" lIns="0" tIns="0" rIns="0" bIns="0" rtlCol="0" anchor="t"/>
          <a:lstStyle/>
          <a:p>
            <a:pPr indent="0" marL="0">
              <a:lnSpc>
                <a:spcPts val="1500"/>
              </a:lnSpc>
              <a:buNone/>
            </a:pPr>
            <a:r>
              <a:rPr lang="en-US" sz="1150" dirty="0">
                <a:solidFill>
                  <a:srgbClr val="16241D"/>
                </a:solidFill>
                <a:latin typeface="Calibri" pitchFamily="34" charset="0"/>
                <a:ea typeface="Calibri" pitchFamily="34" charset="-122"/>
                <a:cs typeface="Calibri" pitchFamily="34" charset="-120"/>
              </a:rPr>
              <a:t>Conditions at the three locations can be compared in one view</a:t>
            </a:r>
            <a:endParaRPr lang="en-US" sz="1150" dirty="0"/>
          </a:p>
        </p:txBody>
      </p:sp>
      <p:sp>
        <p:nvSpPr>
          <p:cNvPr id="37" name="Shape 35"/>
          <p:cNvSpPr/>
          <p:nvPr/>
        </p:nvSpPr>
        <p:spPr>
          <a:xfrm>
            <a:off x="640080" y="5413248"/>
            <a:ext cx="5285232" cy="566928"/>
          </a:xfrm>
          <a:prstGeom prst="roundRect">
            <a:avLst>
              <a:gd name="adj" fmla="val 14516"/>
            </a:avLst>
          </a:prstGeom>
          <a:solidFill>
            <a:srgbClr val="EFE7DC"/>
          </a:solidFill>
          <a:ln w="12700">
            <a:solidFill>
              <a:srgbClr val="EFE7DC"/>
            </a:solidFill>
            <a:prstDash val="solid"/>
          </a:ln>
        </p:spPr>
      </p:sp>
      <p:sp>
        <p:nvSpPr>
          <p:cNvPr id="38" name="Text 36"/>
          <p:cNvSpPr txBox="1"/>
          <p:nvPr/>
        </p:nvSpPr>
        <p:spPr>
          <a:xfrm>
            <a:off x="841248" y="5568696"/>
            <a:ext cx="640080" cy="274320"/>
          </a:xfrm>
          <a:prstGeom prst="rect">
            <a:avLst/>
          </a:prstGeom>
          <a:noFill/>
          <a:ln/>
        </p:spPr>
        <p:txBody>
          <a:bodyPr wrap="square" lIns="0" tIns="0" rIns="0" bIns="0" rtlCol="0" anchor="ctr"/>
          <a:lstStyle/>
          <a:p>
            <a:pPr indent="0" marL="0">
              <a:buNone/>
            </a:pPr>
            <a:r>
              <a:rPr lang="en-US" sz="1100" b="1" dirty="0">
                <a:solidFill>
                  <a:srgbClr val="1F6F6B"/>
                </a:solidFill>
                <a:latin typeface="Calibri" pitchFamily="34" charset="0"/>
                <a:ea typeface="Calibri" pitchFamily="34" charset="-122"/>
                <a:cs typeface="Calibri" pitchFamily="34" charset="-120"/>
              </a:rPr>
              <a:t>AC13</a:t>
            </a:r>
            <a:endParaRPr lang="en-US" sz="1100" dirty="0"/>
          </a:p>
        </p:txBody>
      </p:sp>
      <p:sp>
        <p:nvSpPr>
          <p:cNvPr id="39" name="Text 37"/>
          <p:cNvSpPr txBox="1"/>
          <p:nvPr/>
        </p:nvSpPr>
        <p:spPr>
          <a:xfrm>
            <a:off x="1554480" y="5495544"/>
            <a:ext cx="4206240" cy="457200"/>
          </a:xfrm>
          <a:prstGeom prst="rect">
            <a:avLst/>
          </a:prstGeom>
          <a:noFill/>
          <a:ln/>
        </p:spPr>
        <p:txBody>
          <a:bodyPr wrap="square" lIns="0" tIns="0" rIns="0" bIns="0" rtlCol="0" anchor="t"/>
          <a:lstStyle/>
          <a:p>
            <a:pPr indent="0" marL="0">
              <a:lnSpc>
                <a:spcPts val="1500"/>
              </a:lnSpc>
              <a:buNone/>
            </a:pPr>
            <a:r>
              <a:rPr lang="en-US" sz="1150" dirty="0">
                <a:solidFill>
                  <a:srgbClr val="16241D"/>
                </a:solidFill>
                <a:latin typeface="Calibri" pitchFamily="34" charset="0"/>
                <a:ea typeface="Calibri" pitchFamily="34" charset="-122"/>
                <a:cs typeface="Calibri" pitchFamily="34" charset="-120"/>
              </a:rPr>
              <a:t>Data recorded on the web is visible on the mobile application</a:t>
            </a:r>
            <a:endParaRPr lang="en-US" sz="1150" dirty="0"/>
          </a:p>
        </p:txBody>
      </p:sp>
      <p:sp>
        <p:nvSpPr>
          <p:cNvPr id="40" name="Shape 38"/>
          <p:cNvSpPr/>
          <p:nvPr/>
        </p:nvSpPr>
        <p:spPr>
          <a:xfrm>
            <a:off x="6172200" y="5413248"/>
            <a:ext cx="5285232" cy="566928"/>
          </a:xfrm>
          <a:prstGeom prst="roundRect">
            <a:avLst>
              <a:gd name="adj" fmla="val 14516"/>
            </a:avLst>
          </a:prstGeom>
          <a:solidFill>
            <a:srgbClr val="EFE7DC"/>
          </a:solidFill>
          <a:ln w="12700">
            <a:solidFill>
              <a:srgbClr val="EFE7DC"/>
            </a:solidFill>
            <a:prstDash val="solid"/>
          </a:ln>
        </p:spPr>
      </p:sp>
      <p:sp>
        <p:nvSpPr>
          <p:cNvPr id="41" name="Text 39"/>
          <p:cNvSpPr txBox="1"/>
          <p:nvPr/>
        </p:nvSpPr>
        <p:spPr>
          <a:xfrm>
            <a:off x="6373368" y="5568696"/>
            <a:ext cx="640080" cy="274320"/>
          </a:xfrm>
          <a:prstGeom prst="rect">
            <a:avLst/>
          </a:prstGeom>
          <a:noFill/>
          <a:ln/>
        </p:spPr>
        <p:txBody>
          <a:bodyPr wrap="square" lIns="0" tIns="0" rIns="0" bIns="0" rtlCol="0" anchor="ctr"/>
          <a:lstStyle/>
          <a:p>
            <a:pPr indent="0" marL="0">
              <a:buNone/>
            </a:pPr>
            <a:r>
              <a:rPr lang="en-US" sz="1100" b="1" dirty="0">
                <a:solidFill>
                  <a:srgbClr val="1F6F6B"/>
                </a:solidFill>
                <a:latin typeface="Calibri" pitchFamily="34" charset="0"/>
                <a:ea typeface="Calibri" pitchFamily="34" charset="-122"/>
                <a:cs typeface="Calibri" pitchFamily="34" charset="-120"/>
              </a:rPr>
              <a:t>AC14</a:t>
            </a:r>
            <a:endParaRPr lang="en-US" sz="1100" dirty="0"/>
          </a:p>
        </p:txBody>
      </p:sp>
      <p:sp>
        <p:nvSpPr>
          <p:cNvPr id="42" name="Text 40"/>
          <p:cNvSpPr txBox="1"/>
          <p:nvPr/>
        </p:nvSpPr>
        <p:spPr>
          <a:xfrm>
            <a:off x="7086600" y="5495544"/>
            <a:ext cx="4206240" cy="457200"/>
          </a:xfrm>
          <a:prstGeom prst="rect">
            <a:avLst/>
          </a:prstGeom>
          <a:noFill/>
          <a:ln/>
        </p:spPr>
        <p:txBody>
          <a:bodyPr wrap="square" lIns="0" tIns="0" rIns="0" bIns="0" rtlCol="0" anchor="t"/>
          <a:lstStyle/>
          <a:p>
            <a:pPr indent="0" marL="0">
              <a:lnSpc>
                <a:spcPts val="1500"/>
              </a:lnSpc>
              <a:buNone/>
            </a:pPr>
            <a:r>
              <a:rPr lang="en-US" sz="1150" dirty="0">
                <a:solidFill>
                  <a:srgbClr val="16241D"/>
                </a:solidFill>
                <a:latin typeface="Calibri" pitchFamily="34" charset="0"/>
                <a:ea typeface="Calibri" pitchFamily="34" charset="-122"/>
                <a:cs typeface="Calibri" pitchFamily="34" charset="-120"/>
              </a:rPr>
              <a:t>Readings can be exported from the web application</a:t>
            </a:r>
            <a:endParaRPr lang="en-US" sz="1150" dirty="0"/>
          </a:p>
        </p:txBody>
      </p:sp>
      <p:sp>
        <p:nvSpPr>
          <p:cNvPr id="43" name="Text 41"/>
          <p:cNvSpPr txBox="1"/>
          <p:nvPr/>
        </p:nvSpPr>
        <p:spPr>
          <a:xfrm>
            <a:off x="640080" y="5989320"/>
            <a:ext cx="10881360" cy="274320"/>
          </a:xfrm>
          <a:prstGeom prst="rect">
            <a:avLst/>
          </a:prstGeom>
          <a:noFill/>
          <a:ln/>
        </p:spPr>
        <p:txBody>
          <a:bodyPr wrap="square" lIns="0" tIns="0" rIns="0" bIns="0" rtlCol="0" anchor="ctr"/>
          <a:lstStyle/>
          <a:p>
            <a:pPr indent="0" marL="0">
              <a:buNone/>
            </a:pPr>
            <a:r>
              <a:rPr lang="en-US" sz="1250" i="1" dirty="0">
                <a:solidFill>
                  <a:srgbClr val="16241D"/>
                </a:solidFill>
                <a:latin typeface="Calibri" pitchFamily="34" charset="0"/>
                <a:ea typeface="Calibri" pitchFamily="34" charset="-122"/>
                <a:cs typeface="Calibri" pitchFamily="34" charset="-120"/>
              </a:rPr>
              <a:t>These are the practical test of whether the problem has been addressed. All development is planned backwards from this list.</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6241D"/>
        </a:solidFill>
      </p:bgPr>
    </p:bg>
    <p:spTree>
      <p:nvGrpSpPr>
        <p:cNvPr id="1" name=""/>
        <p:cNvGrpSpPr/>
        <p:nvPr/>
      </p:nvGrpSpPr>
      <p:grpSpPr>
        <a:xfrm>
          <a:off x="0" y="0"/>
          <a:ext cx="0" cy="0"/>
          <a:chOff x="0" y="0"/>
          <a:chExt cx="0" cy="0"/>
        </a:xfrm>
      </p:grpSpPr>
      <p:sp>
        <p:nvSpPr>
          <p:cNvPr id="2" name="Text 0"/>
          <p:cNvSpPr txBox="1"/>
          <p:nvPr/>
        </p:nvSpPr>
        <p:spPr>
          <a:xfrm>
            <a:off x="822960" y="1828800"/>
            <a:ext cx="2011680" cy="1371600"/>
          </a:xfrm>
          <a:prstGeom prst="rect">
            <a:avLst/>
          </a:prstGeom>
          <a:noFill/>
          <a:ln/>
        </p:spPr>
        <p:txBody>
          <a:bodyPr wrap="square" lIns="0" tIns="0" rIns="0" bIns="0" rtlCol="0" anchor="ctr"/>
          <a:lstStyle/>
          <a:p>
            <a:pPr indent="0" marL="0">
              <a:buNone/>
            </a:pPr>
            <a:r>
              <a:rPr lang="en-US" sz="9600" b="1" dirty="0">
                <a:solidFill>
                  <a:srgbClr val="1F6F6B"/>
                </a:solidFill>
                <a:latin typeface="Cambria" pitchFamily="34" charset="0"/>
                <a:ea typeface="Cambria" pitchFamily="34" charset="-122"/>
                <a:cs typeface="Cambria" pitchFamily="34" charset="-120"/>
              </a:rPr>
              <a:t>06</a:t>
            </a:r>
            <a:endParaRPr lang="en-US" sz="9600" dirty="0"/>
          </a:p>
        </p:txBody>
      </p:sp>
      <p:sp>
        <p:nvSpPr>
          <p:cNvPr id="3" name="Text 1"/>
          <p:cNvSpPr txBox="1"/>
          <p:nvPr/>
        </p:nvSpPr>
        <p:spPr>
          <a:xfrm>
            <a:off x="2926080" y="2148840"/>
            <a:ext cx="841248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Interpretation and feasibility</a:t>
            </a:r>
            <a:endParaRPr lang="en-US" sz="4000" dirty="0"/>
          </a:p>
        </p:txBody>
      </p:sp>
      <p:sp>
        <p:nvSpPr>
          <p:cNvPr id="4" name="Text 2"/>
          <p:cNvSpPr txBox="1"/>
          <p:nvPr/>
        </p:nvSpPr>
        <p:spPr>
          <a:xfrm>
            <a:off x="2926080" y="3063240"/>
            <a:ext cx="7680960" cy="822960"/>
          </a:xfrm>
          <a:prstGeom prst="rect">
            <a:avLst/>
          </a:prstGeom>
          <a:noFill/>
          <a:ln/>
        </p:spPr>
        <p:txBody>
          <a:bodyPr wrap="square" lIns="0" tIns="0" rIns="0" bIns="0" rtlCol="0" anchor="t"/>
          <a:lstStyle/>
          <a:p>
            <a:pPr indent="0" marL="0">
              <a:lnSpc>
                <a:spcPts val="2400"/>
              </a:lnSpc>
              <a:buNone/>
            </a:pPr>
            <a:r>
              <a:rPr lang="en-US" sz="1500" dirty="0">
                <a:solidFill>
                  <a:srgbClr val="A9BCAF"/>
                </a:solidFill>
                <a:latin typeface="Calibri" pitchFamily="34" charset="0"/>
                <a:ea typeface="Calibri" pitchFamily="34" charset="-122"/>
                <a:cs typeface="Calibri" pitchFamily="34" charset="-120"/>
              </a:rPr>
              <a:t>How we set the acceptable ranges, and whether this can be delivered in the time we have.</a:t>
            </a:r>
            <a:endParaRPr lang="en-US" sz="1500" dirty="0"/>
          </a:p>
        </p:txBody>
      </p:sp>
      <p:sp>
        <p:nvSpPr>
          <p:cNvPr id="5" name="Shape 3"/>
          <p:cNvSpPr/>
          <p:nvPr/>
        </p:nvSpPr>
        <p:spPr>
          <a:xfrm>
            <a:off x="2926080" y="4114800"/>
            <a:ext cx="1005840" cy="32004"/>
          </a:xfrm>
          <a:prstGeom prst="rect">
            <a:avLst/>
          </a:prstGeom>
          <a:solidFill>
            <a:srgbClr val="D9A92C"/>
          </a:solidFill>
          <a:ln w="12700">
            <a:solidFill>
              <a:srgbClr val="D9A92C"/>
            </a:solidFill>
            <a:prstDash val="solid"/>
          </a:ln>
        </p:spPr>
      </p:sp>
      <p:sp>
        <p:nvSpPr>
          <p:cNvPr id="6" name="Text 4"/>
          <p:cNvSpPr txBox="1"/>
          <p:nvPr/>
        </p:nvSpPr>
        <p:spPr>
          <a:xfrm>
            <a:off x="2926080" y="4370832"/>
            <a:ext cx="5486400" cy="310896"/>
          </a:xfrm>
          <a:prstGeom prst="rect">
            <a:avLst/>
          </a:prstGeom>
          <a:noFill/>
          <a:ln/>
        </p:spPr>
        <p:txBody>
          <a:bodyPr wrap="square" lIns="0" tIns="0" rIns="0" bIns="0" rtlCol="0" anchor="ctr"/>
          <a:lstStyle/>
          <a:p>
            <a:pPr indent="0" marL="0">
              <a:buNone/>
            </a:pPr>
            <a:r>
              <a:rPr lang="en-US" sz="1500" b="1" dirty="0">
                <a:solidFill>
                  <a:srgbClr val="D9A92C"/>
                </a:solidFill>
                <a:latin typeface="Calibri" pitchFamily="34" charset="0"/>
                <a:ea typeface="Calibri" pitchFamily="34" charset="-122"/>
                <a:cs typeface="Calibri" pitchFamily="34" charset="-120"/>
              </a:rPr>
              <a:t>Mbasa Tyam</a:t>
            </a:r>
            <a:endParaRPr lang="en-US" sz="1500" dirty="0"/>
          </a:p>
        </p:txBody>
      </p:sp>
      <p:sp>
        <p:nvSpPr>
          <p:cNvPr id="7" name="Text 5"/>
          <p:cNvSpPr txBox="1"/>
          <p:nvPr/>
        </p:nvSpPr>
        <p:spPr>
          <a:xfrm>
            <a:off x="2926080" y="4718304"/>
            <a:ext cx="5486400" cy="274320"/>
          </a:xfrm>
          <a:prstGeom prst="rect">
            <a:avLst/>
          </a:prstGeom>
          <a:noFill/>
          <a:ln/>
        </p:spPr>
        <p:txBody>
          <a:bodyPr wrap="square" lIns="0" tIns="0" rIns="0" bIns="0" rtlCol="0" anchor="ctr"/>
          <a:lstStyle/>
          <a:p>
            <a:pPr indent="0" marL="0">
              <a:buNone/>
            </a:pPr>
            <a:r>
              <a:rPr lang="en-US" sz="1200" dirty="0">
                <a:solidFill>
                  <a:srgbClr val="A9BCAF"/>
                </a:solidFill>
                <a:latin typeface="Calibri" pitchFamily="34" charset="0"/>
                <a:ea typeface="Calibri" pitchFamily="34" charset="-122"/>
                <a:cs typeface="Calibri" pitchFamily="34" charset="-120"/>
              </a:rPr>
              <a:t>4 minutes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INTERPRETATION</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Mbasa Tyam</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The stakeholder did not give us acceptable ranges</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26</a:t>
            </a:r>
            <a:endParaRPr lang="en-US" sz="1000" dirty="0"/>
          </a:p>
        </p:txBody>
      </p:sp>
      <p:sp>
        <p:nvSpPr>
          <p:cNvPr id="7" name="Text 5"/>
          <p:cNvSpPr txBox="1"/>
          <p:nvPr/>
        </p:nvSpPr>
        <p:spPr>
          <a:xfrm>
            <a:off x="640080" y="1481328"/>
            <a:ext cx="10881360" cy="329184"/>
          </a:xfrm>
          <a:prstGeom prst="rect">
            <a:avLst/>
          </a:prstGeom>
          <a:noFill/>
          <a:ln/>
        </p:spPr>
        <p:txBody>
          <a:bodyPr wrap="square" lIns="0" tIns="0" rIns="0" bIns="0" rtlCol="0" anchor="ctr"/>
          <a:lstStyle/>
          <a:p>
            <a:pPr indent="0" marL="0">
              <a:buNone/>
            </a:pPr>
            <a:r>
              <a:rPr lang="en-US" sz="1500" dirty="0">
                <a:solidFill>
                  <a:srgbClr val="6E7D73"/>
                </a:solidFill>
                <a:latin typeface="Calibri" pitchFamily="34" charset="0"/>
                <a:ea typeface="Calibri" pitchFamily="34" charset="-122"/>
                <a:cs typeface="Calibri" pitchFamily="34" charset="-120"/>
              </a:rPr>
              <a:t>So we researched them, and stated their limits honestly.</a:t>
            </a:r>
            <a:endParaRPr lang="en-US" sz="1500" dirty="0"/>
          </a:p>
        </p:txBody>
      </p:sp>
      <p:sp>
        <p:nvSpPr>
          <p:cNvPr id="8" name="Shape 6"/>
          <p:cNvSpPr/>
          <p:nvPr/>
        </p:nvSpPr>
        <p:spPr>
          <a:xfrm>
            <a:off x="640080" y="2029968"/>
            <a:ext cx="10899648" cy="658368"/>
          </a:xfrm>
          <a:prstGeom prst="roundRect">
            <a:avLst>
              <a:gd name="adj" fmla="val 12500"/>
            </a:avLst>
          </a:prstGeom>
          <a:solidFill>
            <a:srgbClr val="EFE7DC"/>
          </a:solidFill>
          <a:ln w="12700">
            <a:solidFill>
              <a:srgbClr val="EFE7DC"/>
            </a:solidFill>
            <a:prstDash val="solid"/>
          </a:ln>
        </p:spPr>
      </p:sp>
      <p:sp>
        <p:nvSpPr>
          <p:cNvPr id="9" name="Text 7"/>
          <p:cNvSpPr txBox="1"/>
          <p:nvPr/>
        </p:nvSpPr>
        <p:spPr>
          <a:xfrm>
            <a:off x="932688" y="2203704"/>
            <a:ext cx="3017520" cy="329184"/>
          </a:xfrm>
          <a:prstGeom prst="rect">
            <a:avLst/>
          </a:prstGeom>
          <a:noFill/>
          <a:ln/>
        </p:spPr>
        <p:txBody>
          <a:bodyPr wrap="square" lIns="0" tIns="0" rIns="0" bIns="0" rtlCol="0" anchor="ctr"/>
          <a:lstStyle/>
          <a:p>
            <a:pPr indent="0" marL="0">
              <a:buNone/>
            </a:pPr>
            <a:r>
              <a:rPr lang="en-US" sz="1350" b="1" dirty="0">
                <a:solidFill>
                  <a:srgbClr val="16241D"/>
                </a:solidFill>
                <a:latin typeface="Calibri" pitchFamily="34" charset="0"/>
                <a:ea typeface="Calibri" pitchFamily="34" charset="-122"/>
                <a:cs typeface="Calibri" pitchFamily="34" charset="-120"/>
              </a:rPr>
              <a:t>pH</a:t>
            </a:r>
            <a:endParaRPr lang="en-US" sz="1350" dirty="0"/>
          </a:p>
        </p:txBody>
      </p:sp>
      <p:sp>
        <p:nvSpPr>
          <p:cNvPr id="10" name="Text 8"/>
          <p:cNvSpPr txBox="1"/>
          <p:nvPr/>
        </p:nvSpPr>
        <p:spPr>
          <a:xfrm>
            <a:off x="4023360" y="2203704"/>
            <a:ext cx="2011680" cy="329184"/>
          </a:xfrm>
          <a:prstGeom prst="rect">
            <a:avLst/>
          </a:prstGeom>
          <a:noFill/>
          <a:ln/>
        </p:spPr>
        <p:txBody>
          <a:bodyPr wrap="square" lIns="0" tIns="0" rIns="0" bIns="0" rtlCol="0" anchor="ctr"/>
          <a:lstStyle/>
          <a:p>
            <a:pPr indent="0" marL="0">
              <a:buNone/>
            </a:pPr>
            <a:r>
              <a:rPr lang="en-US" sz="1350" b="1" dirty="0">
                <a:solidFill>
                  <a:srgbClr val="1F6F6B"/>
                </a:solidFill>
                <a:latin typeface="Calibri" pitchFamily="34" charset="0"/>
                <a:ea typeface="Calibri" pitchFamily="34" charset="-122"/>
                <a:cs typeface="Calibri" pitchFamily="34" charset="-120"/>
              </a:rPr>
              <a:t>5.0 – 7.0</a:t>
            </a:r>
            <a:endParaRPr lang="en-US" sz="1350" dirty="0"/>
          </a:p>
        </p:txBody>
      </p:sp>
      <p:sp>
        <p:nvSpPr>
          <p:cNvPr id="11" name="Text 9"/>
          <p:cNvSpPr txBox="1"/>
          <p:nvPr/>
        </p:nvSpPr>
        <p:spPr>
          <a:xfrm>
            <a:off x="6126480" y="2221992"/>
            <a:ext cx="5212080" cy="329184"/>
          </a:xfrm>
          <a:prstGeom prst="rect">
            <a:avLst/>
          </a:prstGeom>
          <a:noFill/>
          <a:ln/>
        </p:spPr>
        <p:txBody>
          <a:bodyPr wrap="square" lIns="0" tIns="0" rIns="0" bIns="0" rtlCol="0" anchor="ctr"/>
          <a:lstStyle/>
          <a:p>
            <a:pPr indent="0" marL="0">
              <a:buNone/>
            </a:pPr>
            <a:r>
              <a:rPr lang="en-US" sz="1200" dirty="0">
                <a:solidFill>
                  <a:srgbClr val="6E7D73"/>
                </a:solidFill>
                <a:latin typeface="Calibri" pitchFamily="34" charset="0"/>
                <a:ea typeface="Calibri" pitchFamily="34" charset="-122"/>
                <a:cs typeface="Calibri" pitchFamily="34" charset="-120"/>
              </a:rPr>
              <a:t>Department of Agriculture pigeon pea production guideline</a:t>
            </a:r>
            <a:endParaRPr lang="en-US" sz="1200" dirty="0"/>
          </a:p>
        </p:txBody>
      </p:sp>
      <p:sp>
        <p:nvSpPr>
          <p:cNvPr id="12" name="Text 10"/>
          <p:cNvSpPr txBox="1"/>
          <p:nvPr/>
        </p:nvSpPr>
        <p:spPr>
          <a:xfrm>
            <a:off x="932688" y="2926080"/>
            <a:ext cx="3017520" cy="329184"/>
          </a:xfrm>
          <a:prstGeom prst="rect">
            <a:avLst/>
          </a:prstGeom>
          <a:noFill/>
          <a:ln/>
        </p:spPr>
        <p:txBody>
          <a:bodyPr wrap="square" lIns="0" tIns="0" rIns="0" bIns="0" rtlCol="0" anchor="ctr"/>
          <a:lstStyle/>
          <a:p>
            <a:pPr indent="0" marL="0">
              <a:buNone/>
            </a:pPr>
            <a:r>
              <a:rPr lang="en-US" sz="1350" b="1" dirty="0">
                <a:solidFill>
                  <a:srgbClr val="16241D"/>
                </a:solidFill>
                <a:latin typeface="Calibri" pitchFamily="34" charset="0"/>
                <a:ea typeface="Calibri" pitchFamily="34" charset="-122"/>
                <a:cs typeface="Calibri" pitchFamily="34" charset="-120"/>
              </a:rPr>
              <a:t>Soil temperature</a:t>
            </a:r>
            <a:endParaRPr lang="en-US" sz="1350" dirty="0"/>
          </a:p>
        </p:txBody>
      </p:sp>
      <p:sp>
        <p:nvSpPr>
          <p:cNvPr id="13" name="Text 11"/>
          <p:cNvSpPr txBox="1"/>
          <p:nvPr/>
        </p:nvSpPr>
        <p:spPr>
          <a:xfrm>
            <a:off x="4023360" y="2926080"/>
            <a:ext cx="2011680" cy="329184"/>
          </a:xfrm>
          <a:prstGeom prst="rect">
            <a:avLst/>
          </a:prstGeom>
          <a:noFill/>
          <a:ln/>
        </p:spPr>
        <p:txBody>
          <a:bodyPr wrap="square" lIns="0" tIns="0" rIns="0" bIns="0" rtlCol="0" anchor="ctr"/>
          <a:lstStyle/>
          <a:p>
            <a:pPr indent="0" marL="0">
              <a:buNone/>
            </a:pPr>
            <a:r>
              <a:rPr lang="en-US" sz="1350" b="1" dirty="0">
                <a:solidFill>
                  <a:srgbClr val="1F6F6B"/>
                </a:solidFill>
                <a:latin typeface="Calibri" pitchFamily="34" charset="0"/>
                <a:ea typeface="Calibri" pitchFamily="34" charset="-122"/>
                <a:cs typeface="Calibri" pitchFamily="34" charset="-120"/>
              </a:rPr>
              <a:t>18 – 35 °C</a:t>
            </a:r>
            <a:endParaRPr lang="en-US" sz="1350" dirty="0"/>
          </a:p>
        </p:txBody>
      </p:sp>
      <p:sp>
        <p:nvSpPr>
          <p:cNvPr id="14" name="Text 12"/>
          <p:cNvSpPr txBox="1"/>
          <p:nvPr/>
        </p:nvSpPr>
        <p:spPr>
          <a:xfrm>
            <a:off x="6126480" y="2944368"/>
            <a:ext cx="5212080" cy="329184"/>
          </a:xfrm>
          <a:prstGeom prst="rect">
            <a:avLst/>
          </a:prstGeom>
          <a:noFill/>
          <a:ln/>
        </p:spPr>
        <p:txBody>
          <a:bodyPr wrap="square" lIns="0" tIns="0" rIns="0" bIns="0" rtlCol="0" anchor="ctr"/>
          <a:lstStyle/>
          <a:p>
            <a:pPr indent="0" marL="0">
              <a:buNone/>
            </a:pPr>
            <a:r>
              <a:rPr lang="en-US" sz="1200" dirty="0">
                <a:solidFill>
                  <a:srgbClr val="6E7D73"/>
                </a:solidFill>
                <a:latin typeface="Calibri" pitchFamily="34" charset="0"/>
                <a:ea typeface="Calibri" pitchFamily="34" charset="-122"/>
                <a:cs typeface="Calibri" pitchFamily="34" charset="-120"/>
              </a:rPr>
              <a:t>Same guideline — but it gives air temperature, not soil</a:t>
            </a:r>
            <a:endParaRPr lang="en-US" sz="1200" dirty="0"/>
          </a:p>
        </p:txBody>
      </p:sp>
      <p:sp>
        <p:nvSpPr>
          <p:cNvPr id="15" name="Shape 13"/>
          <p:cNvSpPr/>
          <p:nvPr/>
        </p:nvSpPr>
        <p:spPr>
          <a:xfrm>
            <a:off x="640080" y="3474720"/>
            <a:ext cx="10899648" cy="658368"/>
          </a:xfrm>
          <a:prstGeom prst="roundRect">
            <a:avLst>
              <a:gd name="adj" fmla="val 12500"/>
            </a:avLst>
          </a:prstGeom>
          <a:solidFill>
            <a:srgbClr val="EFE7DC"/>
          </a:solidFill>
          <a:ln w="12700">
            <a:solidFill>
              <a:srgbClr val="EFE7DC"/>
            </a:solidFill>
            <a:prstDash val="solid"/>
          </a:ln>
        </p:spPr>
      </p:sp>
      <p:sp>
        <p:nvSpPr>
          <p:cNvPr id="16" name="Text 14"/>
          <p:cNvSpPr txBox="1"/>
          <p:nvPr/>
        </p:nvSpPr>
        <p:spPr>
          <a:xfrm>
            <a:off x="932688" y="3648456"/>
            <a:ext cx="3017520" cy="329184"/>
          </a:xfrm>
          <a:prstGeom prst="rect">
            <a:avLst/>
          </a:prstGeom>
          <a:noFill/>
          <a:ln/>
        </p:spPr>
        <p:txBody>
          <a:bodyPr wrap="square" lIns="0" tIns="0" rIns="0" bIns="0" rtlCol="0" anchor="ctr"/>
          <a:lstStyle/>
          <a:p>
            <a:pPr indent="0" marL="0">
              <a:buNone/>
            </a:pPr>
            <a:r>
              <a:rPr lang="en-US" sz="1350" b="1" dirty="0">
                <a:solidFill>
                  <a:srgbClr val="16241D"/>
                </a:solidFill>
                <a:latin typeface="Calibri" pitchFamily="34" charset="0"/>
                <a:ea typeface="Calibri" pitchFamily="34" charset="-122"/>
                <a:cs typeface="Calibri" pitchFamily="34" charset="-120"/>
              </a:rPr>
              <a:t>Electrical conductivity</a:t>
            </a:r>
            <a:endParaRPr lang="en-US" sz="1350" dirty="0"/>
          </a:p>
        </p:txBody>
      </p:sp>
      <p:sp>
        <p:nvSpPr>
          <p:cNvPr id="17" name="Text 15"/>
          <p:cNvSpPr txBox="1"/>
          <p:nvPr/>
        </p:nvSpPr>
        <p:spPr>
          <a:xfrm>
            <a:off x="4023360" y="3648456"/>
            <a:ext cx="2011680" cy="329184"/>
          </a:xfrm>
          <a:prstGeom prst="rect">
            <a:avLst/>
          </a:prstGeom>
          <a:noFill/>
          <a:ln/>
        </p:spPr>
        <p:txBody>
          <a:bodyPr wrap="square" lIns="0" tIns="0" rIns="0" bIns="0" rtlCol="0" anchor="ctr"/>
          <a:lstStyle/>
          <a:p>
            <a:pPr indent="0" marL="0">
              <a:buNone/>
            </a:pPr>
            <a:r>
              <a:rPr lang="en-US" sz="1350" b="1" dirty="0">
                <a:solidFill>
                  <a:srgbClr val="1F6F6B"/>
                </a:solidFill>
                <a:latin typeface="Calibri" pitchFamily="34" charset="0"/>
                <a:ea typeface="Calibri" pitchFamily="34" charset="-122"/>
                <a:cs typeface="Calibri" pitchFamily="34" charset="-120"/>
              </a:rPr>
              <a:t>below 2 dS/m</a:t>
            </a:r>
            <a:endParaRPr lang="en-US" sz="1350" dirty="0"/>
          </a:p>
        </p:txBody>
      </p:sp>
      <p:sp>
        <p:nvSpPr>
          <p:cNvPr id="18" name="Text 16"/>
          <p:cNvSpPr txBox="1"/>
          <p:nvPr/>
        </p:nvSpPr>
        <p:spPr>
          <a:xfrm>
            <a:off x="6126480" y="3666744"/>
            <a:ext cx="5212080" cy="329184"/>
          </a:xfrm>
          <a:prstGeom prst="rect">
            <a:avLst/>
          </a:prstGeom>
          <a:noFill/>
          <a:ln/>
        </p:spPr>
        <p:txBody>
          <a:bodyPr wrap="square" lIns="0" tIns="0" rIns="0" bIns="0" rtlCol="0" anchor="ctr"/>
          <a:lstStyle/>
          <a:p>
            <a:pPr indent="0" marL="0">
              <a:buNone/>
            </a:pPr>
            <a:r>
              <a:rPr lang="en-US" sz="1200" dirty="0">
                <a:solidFill>
                  <a:srgbClr val="6E7D73"/>
                </a:solidFill>
                <a:latin typeface="Calibri" pitchFamily="34" charset="0"/>
                <a:ea typeface="Calibri" pitchFamily="34" charset="-122"/>
                <a:cs typeface="Calibri" pitchFamily="34" charset="-120"/>
              </a:rPr>
              <a:t>Above 2 dS/m is classed slightly saline</a:t>
            </a:r>
            <a:endParaRPr lang="en-US" sz="1200" dirty="0"/>
          </a:p>
        </p:txBody>
      </p:sp>
      <p:sp>
        <p:nvSpPr>
          <p:cNvPr id="19" name="Text 17"/>
          <p:cNvSpPr txBox="1"/>
          <p:nvPr/>
        </p:nvSpPr>
        <p:spPr>
          <a:xfrm>
            <a:off x="932688" y="4370832"/>
            <a:ext cx="3017520" cy="329184"/>
          </a:xfrm>
          <a:prstGeom prst="rect">
            <a:avLst/>
          </a:prstGeom>
          <a:noFill/>
          <a:ln/>
        </p:spPr>
        <p:txBody>
          <a:bodyPr wrap="square" lIns="0" tIns="0" rIns="0" bIns="0" rtlCol="0" anchor="ctr"/>
          <a:lstStyle/>
          <a:p>
            <a:pPr indent="0" marL="0">
              <a:buNone/>
            </a:pPr>
            <a:r>
              <a:rPr lang="en-US" sz="1350" b="1" dirty="0">
                <a:solidFill>
                  <a:srgbClr val="16241D"/>
                </a:solidFill>
                <a:latin typeface="Calibri" pitchFamily="34" charset="0"/>
                <a:ea typeface="Calibri" pitchFamily="34" charset="-122"/>
                <a:cs typeface="Calibri" pitchFamily="34" charset="-120"/>
              </a:rPr>
              <a:t>Soil moisture</a:t>
            </a:r>
            <a:endParaRPr lang="en-US" sz="1350" dirty="0"/>
          </a:p>
        </p:txBody>
      </p:sp>
      <p:sp>
        <p:nvSpPr>
          <p:cNvPr id="20" name="Text 18"/>
          <p:cNvSpPr txBox="1"/>
          <p:nvPr/>
        </p:nvSpPr>
        <p:spPr>
          <a:xfrm>
            <a:off x="4023360" y="4370832"/>
            <a:ext cx="2011680" cy="329184"/>
          </a:xfrm>
          <a:prstGeom prst="rect">
            <a:avLst/>
          </a:prstGeom>
          <a:noFill/>
          <a:ln/>
        </p:spPr>
        <p:txBody>
          <a:bodyPr wrap="square" lIns="0" tIns="0" rIns="0" bIns="0" rtlCol="0" anchor="ctr"/>
          <a:lstStyle/>
          <a:p>
            <a:pPr indent="0" marL="0">
              <a:buNone/>
            </a:pPr>
            <a:r>
              <a:rPr lang="en-US" sz="1350" b="1" dirty="0">
                <a:solidFill>
                  <a:srgbClr val="1F6F6B"/>
                </a:solidFill>
                <a:latin typeface="Calibri" pitchFamily="34" charset="0"/>
                <a:ea typeface="Calibri" pitchFamily="34" charset="-122"/>
                <a:cs typeface="Calibri" pitchFamily="34" charset="-120"/>
              </a:rPr>
              <a:t>20 – 60 %</a:t>
            </a:r>
            <a:endParaRPr lang="en-US" sz="1350" dirty="0"/>
          </a:p>
        </p:txBody>
      </p:sp>
      <p:sp>
        <p:nvSpPr>
          <p:cNvPr id="21" name="Text 19"/>
          <p:cNvSpPr txBox="1"/>
          <p:nvPr/>
        </p:nvSpPr>
        <p:spPr>
          <a:xfrm>
            <a:off x="6126480" y="4389120"/>
            <a:ext cx="5212080" cy="329184"/>
          </a:xfrm>
          <a:prstGeom prst="rect">
            <a:avLst/>
          </a:prstGeom>
          <a:noFill/>
          <a:ln/>
        </p:spPr>
        <p:txBody>
          <a:bodyPr wrap="square" lIns="0" tIns="0" rIns="0" bIns="0" rtlCol="0" anchor="ctr"/>
          <a:lstStyle/>
          <a:p>
            <a:pPr indent="0" marL="0">
              <a:buNone/>
            </a:pPr>
            <a:r>
              <a:rPr lang="en-US" sz="1200" dirty="0">
                <a:solidFill>
                  <a:srgbClr val="6E7D73"/>
                </a:solidFill>
                <a:latin typeface="Calibri" pitchFamily="34" charset="0"/>
                <a:ea typeface="Calibri" pitchFamily="34" charset="-122"/>
                <a:cs typeface="Calibri" pitchFamily="34" charset="-120"/>
              </a:rPr>
              <a:t>Varies by growth stage — a fixed band will over-alert at flowering</a:t>
            </a:r>
            <a:endParaRPr lang="en-US" sz="1200" dirty="0"/>
          </a:p>
        </p:txBody>
      </p:sp>
      <p:sp>
        <p:nvSpPr>
          <p:cNvPr id="22" name="Shape 20"/>
          <p:cNvSpPr/>
          <p:nvPr/>
        </p:nvSpPr>
        <p:spPr>
          <a:xfrm>
            <a:off x="640080" y="4919472"/>
            <a:ext cx="10899648" cy="658368"/>
          </a:xfrm>
          <a:prstGeom prst="roundRect">
            <a:avLst>
              <a:gd name="adj" fmla="val 12500"/>
            </a:avLst>
          </a:prstGeom>
          <a:solidFill>
            <a:srgbClr val="EFE7DC"/>
          </a:solidFill>
          <a:ln w="12700">
            <a:solidFill>
              <a:srgbClr val="EFE7DC"/>
            </a:solidFill>
            <a:prstDash val="solid"/>
          </a:ln>
        </p:spPr>
      </p:sp>
      <p:sp>
        <p:nvSpPr>
          <p:cNvPr id="23" name="Text 21"/>
          <p:cNvSpPr txBox="1"/>
          <p:nvPr/>
        </p:nvSpPr>
        <p:spPr>
          <a:xfrm>
            <a:off x="932688" y="5093208"/>
            <a:ext cx="3017520" cy="329184"/>
          </a:xfrm>
          <a:prstGeom prst="rect">
            <a:avLst/>
          </a:prstGeom>
          <a:noFill/>
          <a:ln/>
        </p:spPr>
        <p:txBody>
          <a:bodyPr wrap="square" lIns="0" tIns="0" rIns="0" bIns="0" rtlCol="0" anchor="ctr"/>
          <a:lstStyle/>
          <a:p>
            <a:pPr indent="0" marL="0">
              <a:buNone/>
            </a:pPr>
            <a:r>
              <a:rPr lang="en-US" sz="1350" b="1" dirty="0">
                <a:solidFill>
                  <a:srgbClr val="16241D"/>
                </a:solidFill>
                <a:latin typeface="Calibri" pitchFamily="34" charset="0"/>
                <a:ea typeface="Calibri" pitchFamily="34" charset="-122"/>
                <a:cs typeface="Calibri" pitchFamily="34" charset="-120"/>
              </a:rPr>
              <a:t>Nitrogen, phosphorus, potassium</a:t>
            </a:r>
            <a:endParaRPr lang="en-US" sz="1350" dirty="0"/>
          </a:p>
        </p:txBody>
      </p:sp>
      <p:sp>
        <p:nvSpPr>
          <p:cNvPr id="24" name="Text 22"/>
          <p:cNvSpPr txBox="1"/>
          <p:nvPr/>
        </p:nvSpPr>
        <p:spPr>
          <a:xfrm>
            <a:off x="4023360" y="5093208"/>
            <a:ext cx="2011680" cy="329184"/>
          </a:xfrm>
          <a:prstGeom prst="rect">
            <a:avLst/>
          </a:prstGeom>
          <a:noFill/>
          <a:ln/>
        </p:spPr>
        <p:txBody>
          <a:bodyPr wrap="square" lIns="0" tIns="0" rIns="0" bIns="0" rtlCol="0" anchor="ctr"/>
          <a:lstStyle/>
          <a:p>
            <a:pPr indent="0" marL="0">
              <a:buNone/>
            </a:pPr>
            <a:r>
              <a:rPr lang="en-US" sz="1350" b="1" dirty="0">
                <a:solidFill>
                  <a:srgbClr val="1F6F6B"/>
                </a:solidFill>
                <a:latin typeface="Calibri" pitchFamily="34" charset="0"/>
                <a:ea typeface="Calibri" pitchFamily="34" charset="-122"/>
                <a:cs typeface="Calibri" pitchFamily="34" charset="-120"/>
              </a:rPr>
              <a:t>configurable</a:t>
            </a:r>
            <a:endParaRPr lang="en-US" sz="1350" dirty="0"/>
          </a:p>
        </p:txBody>
      </p:sp>
      <p:sp>
        <p:nvSpPr>
          <p:cNvPr id="25" name="Text 23"/>
          <p:cNvSpPr txBox="1"/>
          <p:nvPr/>
        </p:nvSpPr>
        <p:spPr>
          <a:xfrm>
            <a:off x="6126480" y="5111496"/>
            <a:ext cx="5212080" cy="329184"/>
          </a:xfrm>
          <a:prstGeom prst="rect">
            <a:avLst/>
          </a:prstGeom>
          <a:noFill/>
          <a:ln/>
        </p:spPr>
        <p:txBody>
          <a:bodyPr wrap="square" lIns="0" tIns="0" rIns="0" bIns="0" rtlCol="0" anchor="ctr"/>
          <a:lstStyle/>
          <a:p>
            <a:pPr indent="0" marL="0">
              <a:buNone/>
            </a:pPr>
            <a:r>
              <a:rPr lang="en-US" sz="1200" dirty="0">
                <a:solidFill>
                  <a:srgbClr val="6E7D73"/>
                </a:solidFill>
                <a:latin typeface="Calibri" pitchFamily="34" charset="0"/>
                <a:ea typeface="Calibri" pitchFamily="34" charset="-122"/>
                <a:cs typeface="Calibri" pitchFamily="34" charset="-120"/>
              </a:rPr>
              <a:t>No universal range exists; set from their own laboratory results</a:t>
            </a:r>
            <a:endParaRPr lang="en-US" sz="1200" dirty="0"/>
          </a:p>
        </p:txBody>
      </p:sp>
      <p:sp>
        <p:nvSpPr>
          <p:cNvPr id="26" name="Text 24"/>
          <p:cNvSpPr txBox="1"/>
          <p:nvPr/>
        </p:nvSpPr>
        <p:spPr>
          <a:xfrm>
            <a:off x="640080" y="5779008"/>
            <a:ext cx="10881360" cy="365760"/>
          </a:xfrm>
          <a:prstGeom prst="rect">
            <a:avLst/>
          </a:prstGeom>
          <a:noFill/>
          <a:ln/>
        </p:spPr>
        <p:txBody>
          <a:bodyPr wrap="square" lIns="0" tIns="0" rIns="0" bIns="0" rtlCol="0" anchor="ctr"/>
          <a:lstStyle/>
          <a:p>
            <a:pPr indent="0" marL="0">
              <a:buNone/>
            </a:pPr>
            <a:r>
              <a:rPr lang="en-US" sz="1250" i="1" dirty="0">
                <a:solidFill>
                  <a:srgbClr val="16241D"/>
                </a:solidFill>
                <a:latin typeface="Calibri" pitchFamily="34" charset="0"/>
                <a:ea typeface="Calibri" pitchFamily="34" charset="-122"/>
                <a:cs typeface="Calibri" pitchFamily="34" charset="-120"/>
              </a:rPr>
              <a:t>Every value is configurable per location and records the basis it was set from. The system compares readings against ranges — it does not give agronomic advice.</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CALIBRATION</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Mbasa Tyam</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And she settled it</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27</a:t>
            </a:r>
            <a:endParaRPr lang="en-US" sz="1000" dirty="0"/>
          </a:p>
        </p:txBody>
      </p:sp>
      <p:sp>
        <p:nvSpPr>
          <p:cNvPr id="7" name="Shape 5"/>
          <p:cNvSpPr/>
          <p:nvPr/>
        </p:nvSpPr>
        <p:spPr>
          <a:xfrm>
            <a:off x="640080" y="1737360"/>
            <a:ext cx="10899648" cy="1737360"/>
          </a:xfrm>
          <a:prstGeom prst="roundRect">
            <a:avLst>
              <a:gd name="adj" fmla="val 4737"/>
            </a:avLst>
          </a:prstGeom>
          <a:solidFill>
            <a:srgbClr val="E7EFE7"/>
          </a:solidFill>
          <a:ln w="12700">
            <a:solidFill>
              <a:srgbClr val="E7EFE7"/>
            </a:solidFill>
            <a:prstDash val="solid"/>
          </a:ln>
        </p:spPr>
      </p:sp>
      <p:sp>
        <p:nvSpPr>
          <p:cNvPr id="8" name="Text 6"/>
          <p:cNvSpPr txBox="1"/>
          <p:nvPr/>
        </p:nvSpPr>
        <p:spPr>
          <a:xfrm>
            <a:off x="1051560" y="1975104"/>
            <a:ext cx="9692640" cy="1188720"/>
          </a:xfrm>
          <a:prstGeom prst="rect">
            <a:avLst/>
          </a:prstGeom>
          <a:noFill/>
          <a:ln/>
        </p:spPr>
        <p:txBody>
          <a:bodyPr wrap="square" lIns="0" tIns="0" rIns="0" bIns="0" rtlCol="0" anchor="t"/>
          <a:lstStyle/>
          <a:p>
            <a:pPr indent="0" marL="0">
              <a:lnSpc>
                <a:spcPts val="2400"/>
              </a:lnSpc>
              <a:buNone/>
            </a:pPr>
            <a:r>
              <a:rPr lang="en-US" sz="1550" i="1" dirty="0">
                <a:solidFill>
                  <a:srgbClr val="16241D"/>
                </a:solidFill>
                <a:latin typeface="Cambria" pitchFamily="34" charset="0"/>
                <a:ea typeface="Cambria" pitchFamily="34" charset="-122"/>
                <a:cs typeface="Cambria" pitchFamily="34" charset="-120"/>
              </a:rPr>
              <a:t>“The calibration and setting of range measurements can also be amended later on once the platform has been established. We shall revisit the pipeline and amend where necessary; for now I believe the document can be used as it meets the entry requirements as the end user.”</a:t>
            </a:r>
            <a:endParaRPr lang="en-US" sz="1550" dirty="0"/>
          </a:p>
        </p:txBody>
      </p:sp>
      <p:sp>
        <p:nvSpPr>
          <p:cNvPr id="9" name="Text 7"/>
          <p:cNvSpPr txBox="1"/>
          <p:nvPr/>
        </p:nvSpPr>
        <p:spPr>
          <a:xfrm>
            <a:off x="1051560" y="3108960"/>
            <a:ext cx="5486400" cy="274320"/>
          </a:xfrm>
          <a:prstGeom prst="rect">
            <a:avLst/>
          </a:prstGeom>
          <a:noFill/>
          <a:ln/>
        </p:spPr>
        <p:txBody>
          <a:bodyPr wrap="square" lIns="0" tIns="0" rIns="0" bIns="0" rtlCol="0" anchor="ctr"/>
          <a:lstStyle/>
          <a:p>
            <a:pPr indent="0" marL="0">
              <a:buNone/>
            </a:pPr>
            <a:r>
              <a:rPr lang="en-US" sz="1150" dirty="0">
                <a:solidFill>
                  <a:srgbClr val="2F5D3A"/>
                </a:solidFill>
                <a:latin typeface="Calibri" pitchFamily="34" charset="0"/>
                <a:ea typeface="Calibri" pitchFamily="34" charset="-122"/>
                <a:cs typeface="Calibri" pitchFamily="34" charset="-120"/>
              </a:rPr>
              <a:t>— Ms Goitsemang Dikane, 3 September 2026</a:t>
            </a:r>
            <a:endParaRPr lang="en-US" sz="1150" dirty="0"/>
          </a:p>
        </p:txBody>
      </p:sp>
      <p:sp>
        <p:nvSpPr>
          <p:cNvPr id="10" name="Shape 8"/>
          <p:cNvSpPr/>
          <p:nvPr/>
        </p:nvSpPr>
        <p:spPr>
          <a:xfrm>
            <a:off x="640080" y="3703320"/>
            <a:ext cx="3456432" cy="1783080"/>
          </a:xfrm>
          <a:prstGeom prst="roundRect">
            <a:avLst>
              <a:gd name="adj" fmla="val 4615"/>
            </a:avLst>
          </a:prstGeom>
          <a:solidFill>
            <a:srgbClr val="FFFFFF"/>
          </a:solidFill>
          <a:ln w="12700">
            <a:solidFill>
              <a:srgbClr val="E0E7E1"/>
            </a:solidFill>
            <a:prstDash val="solid"/>
          </a:ln>
        </p:spPr>
      </p:sp>
      <p:sp>
        <p:nvSpPr>
          <p:cNvPr id="11" name="Text 9"/>
          <p:cNvSpPr txBox="1"/>
          <p:nvPr/>
        </p:nvSpPr>
        <p:spPr>
          <a:xfrm>
            <a:off x="914400" y="3931920"/>
            <a:ext cx="2926080" cy="310896"/>
          </a:xfrm>
          <a:prstGeom prst="rect">
            <a:avLst/>
          </a:prstGeom>
          <a:noFill/>
          <a:ln/>
        </p:spPr>
        <p:txBody>
          <a:bodyPr wrap="square" lIns="0" tIns="0" rIns="0" bIns="0" rtlCol="0" anchor="ctr"/>
          <a:lstStyle/>
          <a:p>
            <a:pPr indent="0" marL="0">
              <a:buNone/>
            </a:pPr>
            <a:r>
              <a:rPr lang="en-US" sz="1400" b="1" dirty="0">
                <a:solidFill>
                  <a:srgbClr val="2F5D3A"/>
                </a:solidFill>
                <a:latin typeface="Calibri" pitchFamily="34" charset="0"/>
                <a:ea typeface="Calibri" pitchFamily="34" charset="-122"/>
                <a:cs typeface="Calibri" pitchFamily="34" charset="-120"/>
              </a:rPr>
              <a:t>What this settles</a:t>
            </a:r>
            <a:endParaRPr lang="en-US" sz="1400" dirty="0"/>
          </a:p>
        </p:txBody>
      </p:sp>
      <p:sp>
        <p:nvSpPr>
          <p:cNvPr id="12" name="Text 10"/>
          <p:cNvSpPr txBox="1"/>
          <p:nvPr/>
        </p:nvSpPr>
        <p:spPr>
          <a:xfrm>
            <a:off x="914400" y="4315968"/>
            <a:ext cx="2926080" cy="1005840"/>
          </a:xfrm>
          <a:prstGeom prst="rect">
            <a:avLst/>
          </a:prstGeom>
          <a:noFill/>
          <a:ln/>
        </p:spPr>
        <p:txBody>
          <a:bodyPr wrap="square" lIns="0" tIns="0" rIns="0" bIns="0" rtlCol="0" anchor="t"/>
          <a:lstStyle/>
          <a:p>
            <a:pPr indent="0" marL="0">
              <a:lnSpc>
                <a:spcPts val="1700"/>
              </a:lnSpc>
              <a:buNone/>
            </a:pPr>
            <a:r>
              <a:rPr lang="en-US" sz="1250" dirty="0">
                <a:solidFill>
                  <a:srgbClr val="16241D"/>
                </a:solidFill>
                <a:latin typeface="Calibri" pitchFamily="34" charset="0"/>
                <a:ea typeface="Calibri" pitchFamily="34" charset="-122"/>
                <a:cs typeface="Calibri" pitchFamily="34" charset="-120"/>
              </a:rPr>
              <a:t>Our researched values are an agreed starting point rather than an assumption we made alone.</a:t>
            </a:r>
            <a:endParaRPr lang="en-US" sz="1250" dirty="0"/>
          </a:p>
        </p:txBody>
      </p:sp>
      <p:sp>
        <p:nvSpPr>
          <p:cNvPr id="13" name="Shape 11"/>
          <p:cNvSpPr/>
          <p:nvPr/>
        </p:nvSpPr>
        <p:spPr>
          <a:xfrm>
            <a:off x="4325112" y="3703320"/>
            <a:ext cx="3456432" cy="1783080"/>
          </a:xfrm>
          <a:prstGeom prst="roundRect">
            <a:avLst>
              <a:gd name="adj" fmla="val 4615"/>
            </a:avLst>
          </a:prstGeom>
          <a:solidFill>
            <a:srgbClr val="FFFFFF"/>
          </a:solidFill>
          <a:ln w="12700">
            <a:solidFill>
              <a:srgbClr val="E0E7E1"/>
            </a:solidFill>
            <a:prstDash val="solid"/>
          </a:ln>
        </p:spPr>
      </p:sp>
      <p:sp>
        <p:nvSpPr>
          <p:cNvPr id="14" name="Text 12"/>
          <p:cNvSpPr txBox="1"/>
          <p:nvPr/>
        </p:nvSpPr>
        <p:spPr>
          <a:xfrm>
            <a:off x="4599432" y="3931920"/>
            <a:ext cx="2926080" cy="310896"/>
          </a:xfrm>
          <a:prstGeom prst="rect">
            <a:avLst/>
          </a:prstGeom>
          <a:noFill/>
          <a:ln/>
        </p:spPr>
        <p:txBody>
          <a:bodyPr wrap="square" lIns="0" tIns="0" rIns="0" bIns="0" rtlCol="0" anchor="ctr"/>
          <a:lstStyle/>
          <a:p>
            <a:pPr indent="0" marL="0">
              <a:buNone/>
            </a:pPr>
            <a:r>
              <a:rPr lang="en-US" sz="1400" b="1" dirty="0">
                <a:solidFill>
                  <a:srgbClr val="1F6F6B"/>
                </a:solidFill>
                <a:latin typeface="Calibri" pitchFamily="34" charset="0"/>
                <a:ea typeface="Calibri" pitchFamily="34" charset="-122"/>
                <a:cs typeface="Calibri" pitchFamily="34" charset="-120"/>
              </a:rPr>
              <a:t>Why it costs nothing</a:t>
            </a:r>
            <a:endParaRPr lang="en-US" sz="1400" dirty="0"/>
          </a:p>
        </p:txBody>
      </p:sp>
      <p:sp>
        <p:nvSpPr>
          <p:cNvPr id="15" name="Text 13"/>
          <p:cNvSpPr txBox="1"/>
          <p:nvPr/>
        </p:nvSpPr>
        <p:spPr>
          <a:xfrm>
            <a:off x="4599432" y="4315968"/>
            <a:ext cx="2926080" cy="1005840"/>
          </a:xfrm>
          <a:prstGeom prst="rect">
            <a:avLst/>
          </a:prstGeom>
          <a:noFill/>
          <a:ln/>
        </p:spPr>
        <p:txBody>
          <a:bodyPr wrap="square" lIns="0" tIns="0" rIns="0" bIns="0" rtlCol="0" anchor="t"/>
          <a:lstStyle/>
          <a:p>
            <a:pPr indent="0" marL="0">
              <a:lnSpc>
                <a:spcPts val="1700"/>
              </a:lnSpc>
              <a:buNone/>
            </a:pPr>
            <a:r>
              <a:rPr lang="en-US" sz="1250" dirty="0">
                <a:solidFill>
                  <a:srgbClr val="16241D"/>
                </a:solidFill>
                <a:latin typeface="Calibri" pitchFamily="34" charset="0"/>
                <a:ea typeface="Calibri" pitchFamily="34" charset="-122"/>
                <a:cs typeface="Calibri" pitchFamily="34" charset="-120"/>
              </a:rPr>
              <a:t>Ranges are stored in the backend and configured per location, so refining them later needs no code change.</a:t>
            </a:r>
            <a:endParaRPr lang="en-US" sz="1250" dirty="0"/>
          </a:p>
        </p:txBody>
      </p:sp>
      <p:sp>
        <p:nvSpPr>
          <p:cNvPr id="16" name="Shape 14"/>
          <p:cNvSpPr/>
          <p:nvPr/>
        </p:nvSpPr>
        <p:spPr>
          <a:xfrm>
            <a:off x="8010144" y="3703320"/>
            <a:ext cx="3456432" cy="1783080"/>
          </a:xfrm>
          <a:prstGeom prst="roundRect">
            <a:avLst>
              <a:gd name="adj" fmla="val 4615"/>
            </a:avLst>
          </a:prstGeom>
          <a:solidFill>
            <a:srgbClr val="FFFFFF"/>
          </a:solidFill>
          <a:ln w="12700">
            <a:solidFill>
              <a:srgbClr val="E0E7E1"/>
            </a:solidFill>
            <a:prstDash val="solid"/>
          </a:ln>
        </p:spPr>
      </p:sp>
      <p:sp>
        <p:nvSpPr>
          <p:cNvPr id="17" name="Text 15"/>
          <p:cNvSpPr txBox="1"/>
          <p:nvPr/>
        </p:nvSpPr>
        <p:spPr>
          <a:xfrm>
            <a:off x="8284464" y="3931920"/>
            <a:ext cx="2926080" cy="310896"/>
          </a:xfrm>
          <a:prstGeom prst="rect">
            <a:avLst/>
          </a:prstGeom>
          <a:noFill/>
          <a:ln/>
        </p:spPr>
        <p:txBody>
          <a:bodyPr wrap="square" lIns="0" tIns="0" rIns="0" bIns="0" rtlCol="0" anchor="ctr"/>
          <a:lstStyle/>
          <a:p>
            <a:pPr indent="0" marL="0">
              <a:buNone/>
            </a:pPr>
            <a:r>
              <a:rPr lang="en-US" sz="1400" b="1" dirty="0">
                <a:solidFill>
                  <a:srgbClr val="AE5C34"/>
                </a:solidFill>
                <a:latin typeface="Calibri" pitchFamily="34" charset="0"/>
                <a:ea typeface="Calibri" pitchFamily="34" charset="-122"/>
                <a:cs typeface="Calibri" pitchFamily="34" charset="-120"/>
              </a:rPr>
              <a:t>What happens next</a:t>
            </a:r>
            <a:endParaRPr lang="en-US" sz="1400" dirty="0"/>
          </a:p>
        </p:txBody>
      </p:sp>
      <p:sp>
        <p:nvSpPr>
          <p:cNvPr id="18" name="Text 16"/>
          <p:cNvSpPr txBox="1"/>
          <p:nvPr/>
        </p:nvSpPr>
        <p:spPr>
          <a:xfrm>
            <a:off x="8284464" y="4315968"/>
            <a:ext cx="2926080" cy="1005840"/>
          </a:xfrm>
          <a:prstGeom prst="rect">
            <a:avLst/>
          </a:prstGeom>
          <a:noFill/>
          <a:ln/>
        </p:spPr>
        <p:txBody>
          <a:bodyPr wrap="square" lIns="0" tIns="0" rIns="0" bIns="0" rtlCol="0" anchor="t"/>
          <a:lstStyle/>
          <a:p>
            <a:pPr indent="0" marL="0">
              <a:lnSpc>
                <a:spcPts val="1700"/>
              </a:lnSpc>
              <a:buNone/>
            </a:pPr>
            <a:r>
              <a:rPr lang="en-US" sz="1250" dirty="0">
                <a:solidFill>
                  <a:srgbClr val="16241D"/>
                </a:solidFill>
                <a:latin typeface="Calibri" pitchFamily="34" charset="0"/>
                <a:ea typeface="Calibri" pitchFamily="34" charset="-122"/>
                <a:cs typeface="Calibri" pitchFamily="34" charset="-120"/>
              </a:rPr>
              <a:t>The pipeline is revisited with her once the system is running and real readings can be compared against the ranges in use.</a:t>
            </a:r>
            <a:endParaRPr lang="en-US" sz="1250" dirty="0"/>
          </a:p>
        </p:txBody>
      </p:sp>
      <p:sp>
        <p:nvSpPr>
          <p:cNvPr id="19" name="Text 17"/>
          <p:cNvSpPr txBox="1"/>
          <p:nvPr/>
        </p:nvSpPr>
        <p:spPr>
          <a:xfrm>
            <a:off x="640080" y="5669280"/>
            <a:ext cx="10881360" cy="329184"/>
          </a:xfrm>
          <a:prstGeom prst="rect">
            <a:avLst/>
          </a:prstGeom>
          <a:noFill/>
          <a:ln/>
        </p:spPr>
        <p:txBody>
          <a:bodyPr wrap="square" lIns="0" tIns="0" rIns="0" bIns="0" rtlCol="0" anchor="ctr"/>
          <a:lstStyle/>
          <a:p>
            <a:pPr indent="0" marL="0">
              <a:buNone/>
            </a:pPr>
            <a:r>
              <a:rPr lang="en-US" sz="1250" i="1" dirty="0">
                <a:solidFill>
                  <a:srgbClr val="6E7D73"/>
                </a:solidFill>
                <a:latin typeface="Calibri" pitchFamily="34" charset="0"/>
                <a:ea typeface="Calibri" pitchFamily="34" charset="-122"/>
                <a:cs typeface="Calibri" pitchFamily="34" charset="-120"/>
              </a:rPr>
              <a:t>Recorded as section 15.2 of the specification and as change log entry C14.</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FEASIBILITY</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Mbasa Tyam</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Feasible, with one real constraint</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28</a:t>
            </a:r>
            <a:endParaRPr lang="en-US" sz="1000" dirty="0"/>
          </a:p>
        </p:txBody>
      </p:sp>
      <p:sp>
        <p:nvSpPr>
          <p:cNvPr id="7" name="Shape 5"/>
          <p:cNvSpPr/>
          <p:nvPr/>
        </p:nvSpPr>
        <p:spPr>
          <a:xfrm>
            <a:off x="640080" y="1783080"/>
            <a:ext cx="3456432" cy="1371600"/>
          </a:xfrm>
          <a:prstGeom prst="roundRect">
            <a:avLst>
              <a:gd name="adj" fmla="val 6000"/>
            </a:avLst>
          </a:prstGeom>
          <a:solidFill>
            <a:srgbClr val="FFFFFF"/>
          </a:solidFill>
          <a:ln w="12700">
            <a:solidFill>
              <a:srgbClr val="E0E7E1"/>
            </a:solidFill>
            <a:prstDash val="solid"/>
          </a:ln>
        </p:spPr>
      </p:sp>
      <p:sp>
        <p:nvSpPr>
          <p:cNvPr id="8" name="Text 6"/>
          <p:cNvSpPr txBox="1"/>
          <p:nvPr/>
        </p:nvSpPr>
        <p:spPr>
          <a:xfrm>
            <a:off x="896112" y="1965960"/>
            <a:ext cx="2011680" cy="310896"/>
          </a:xfrm>
          <a:prstGeom prst="rect">
            <a:avLst/>
          </a:prstGeom>
          <a:noFill/>
          <a:ln/>
        </p:spPr>
        <p:txBody>
          <a:bodyPr wrap="square" lIns="0" tIns="0" rIns="0" bIns="0" rtlCol="0" anchor="ctr"/>
          <a:lstStyle/>
          <a:p>
            <a:pPr indent="0" marL="0">
              <a:buNone/>
            </a:pPr>
            <a:r>
              <a:rPr lang="en-US" sz="1500" b="1" dirty="0">
                <a:solidFill>
                  <a:srgbClr val="16241D"/>
                </a:solidFill>
                <a:latin typeface="Calibri" pitchFamily="34" charset="0"/>
                <a:ea typeface="Calibri" pitchFamily="34" charset="-122"/>
                <a:cs typeface="Calibri" pitchFamily="34" charset="-120"/>
              </a:rPr>
              <a:t>Technical</a:t>
            </a:r>
            <a:endParaRPr lang="en-US" sz="1500" dirty="0"/>
          </a:p>
        </p:txBody>
      </p:sp>
      <p:sp>
        <p:nvSpPr>
          <p:cNvPr id="9" name="Shape 7"/>
          <p:cNvSpPr/>
          <p:nvPr/>
        </p:nvSpPr>
        <p:spPr>
          <a:xfrm>
            <a:off x="2880360" y="1984248"/>
            <a:ext cx="1005840" cy="292608"/>
          </a:xfrm>
          <a:prstGeom prst="roundRect">
            <a:avLst>
              <a:gd name="adj" fmla="val 50000"/>
            </a:avLst>
          </a:prstGeom>
          <a:solidFill>
            <a:srgbClr val="E7EFE7"/>
          </a:solidFill>
          <a:ln w="12700">
            <a:solidFill>
              <a:srgbClr val="E7EFE7"/>
            </a:solidFill>
            <a:prstDash val="solid"/>
          </a:ln>
        </p:spPr>
      </p:sp>
      <p:sp>
        <p:nvSpPr>
          <p:cNvPr id="10" name="Text 8"/>
          <p:cNvSpPr txBox="1"/>
          <p:nvPr/>
        </p:nvSpPr>
        <p:spPr>
          <a:xfrm>
            <a:off x="2880360" y="2025396"/>
            <a:ext cx="1005840" cy="219456"/>
          </a:xfrm>
          <a:prstGeom prst="rect">
            <a:avLst/>
          </a:prstGeom>
          <a:noFill/>
          <a:ln/>
        </p:spPr>
        <p:txBody>
          <a:bodyPr wrap="square" lIns="0" tIns="0" rIns="0" bIns="0" rtlCol="0" anchor="ctr"/>
          <a:lstStyle/>
          <a:p>
            <a:pPr algn="ctr" indent="0" marL="0">
              <a:buNone/>
            </a:pPr>
            <a:r>
              <a:rPr lang="en-US" sz="950" b="1" dirty="0">
                <a:solidFill>
                  <a:srgbClr val="2F5D3A"/>
                </a:solidFill>
                <a:latin typeface="Calibri" pitchFamily="34" charset="0"/>
                <a:ea typeface="Calibri" pitchFamily="34" charset="-122"/>
                <a:cs typeface="Calibri" pitchFamily="34" charset="-120"/>
              </a:rPr>
              <a:t>Feasible</a:t>
            </a:r>
            <a:endParaRPr lang="en-US" sz="950" dirty="0"/>
          </a:p>
        </p:txBody>
      </p:sp>
      <p:sp>
        <p:nvSpPr>
          <p:cNvPr id="11" name="Text 9"/>
          <p:cNvSpPr txBox="1"/>
          <p:nvPr/>
        </p:nvSpPr>
        <p:spPr>
          <a:xfrm>
            <a:off x="896112" y="2404872"/>
            <a:ext cx="2962656" cy="640080"/>
          </a:xfrm>
          <a:prstGeom prst="rect">
            <a:avLst/>
          </a:prstGeom>
          <a:noFill/>
          <a:ln/>
        </p:spPr>
        <p:txBody>
          <a:bodyPr wrap="square" lIns="0" tIns="0" rIns="0" bIns="0" rtlCol="0" anchor="t"/>
          <a:lstStyle/>
          <a:p>
            <a:pPr indent="0" marL="0">
              <a:lnSpc>
                <a:spcPts val="1600"/>
              </a:lnSpc>
              <a:buNone/>
            </a:pPr>
            <a:r>
              <a:rPr lang="en-US" sz="1200" dirty="0">
                <a:solidFill>
                  <a:srgbClr val="6E7D73"/>
                </a:solidFill>
                <a:latin typeface="Calibri" pitchFamily="34" charset="0"/>
                <a:ea typeface="Calibri" pitchFamily="34" charset="-122"/>
                <a:cs typeface="Calibri" pitchFamily="34" charset="-120"/>
              </a:rPr>
              <a:t>Frameworks already used in coursework</a:t>
            </a:r>
            <a:endParaRPr lang="en-US" sz="1200" dirty="0"/>
          </a:p>
        </p:txBody>
      </p:sp>
      <p:sp>
        <p:nvSpPr>
          <p:cNvPr id="12" name="Shape 10"/>
          <p:cNvSpPr/>
          <p:nvPr/>
        </p:nvSpPr>
        <p:spPr>
          <a:xfrm>
            <a:off x="4325112" y="1783080"/>
            <a:ext cx="3456432" cy="1371600"/>
          </a:xfrm>
          <a:prstGeom prst="roundRect">
            <a:avLst>
              <a:gd name="adj" fmla="val 6000"/>
            </a:avLst>
          </a:prstGeom>
          <a:solidFill>
            <a:srgbClr val="FFFFFF"/>
          </a:solidFill>
          <a:ln w="12700">
            <a:solidFill>
              <a:srgbClr val="E0E7E1"/>
            </a:solidFill>
            <a:prstDash val="solid"/>
          </a:ln>
        </p:spPr>
      </p:sp>
      <p:sp>
        <p:nvSpPr>
          <p:cNvPr id="13" name="Text 11"/>
          <p:cNvSpPr txBox="1"/>
          <p:nvPr/>
        </p:nvSpPr>
        <p:spPr>
          <a:xfrm>
            <a:off x="4581144" y="1965960"/>
            <a:ext cx="2011680" cy="310896"/>
          </a:xfrm>
          <a:prstGeom prst="rect">
            <a:avLst/>
          </a:prstGeom>
          <a:noFill/>
          <a:ln/>
        </p:spPr>
        <p:txBody>
          <a:bodyPr wrap="square" lIns="0" tIns="0" rIns="0" bIns="0" rtlCol="0" anchor="ctr"/>
          <a:lstStyle/>
          <a:p>
            <a:pPr indent="0" marL="0">
              <a:buNone/>
            </a:pPr>
            <a:r>
              <a:rPr lang="en-US" sz="1500" b="1" dirty="0">
                <a:solidFill>
                  <a:srgbClr val="16241D"/>
                </a:solidFill>
                <a:latin typeface="Calibri" pitchFamily="34" charset="0"/>
                <a:ea typeface="Calibri" pitchFamily="34" charset="-122"/>
                <a:cs typeface="Calibri" pitchFamily="34" charset="-120"/>
              </a:rPr>
              <a:t>Operational</a:t>
            </a:r>
            <a:endParaRPr lang="en-US" sz="1500" dirty="0"/>
          </a:p>
        </p:txBody>
      </p:sp>
      <p:sp>
        <p:nvSpPr>
          <p:cNvPr id="14" name="Shape 12"/>
          <p:cNvSpPr/>
          <p:nvPr/>
        </p:nvSpPr>
        <p:spPr>
          <a:xfrm>
            <a:off x="6565392" y="1984248"/>
            <a:ext cx="1005840" cy="292608"/>
          </a:xfrm>
          <a:prstGeom prst="roundRect">
            <a:avLst>
              <a:gd name="adj" fmla="val 50000"/>
            </a:avLst>
          </a:prstGeom>
          <a:solidFill>
            <a:srgbClr val="E7EFE7"/>
          </a:solidFill>
          <a:ln w="12700">
            <a:solidFill>
              <a:srgbClr val="E7EFE7"/>
            </a:solidFill>
            <a:prstDash val="solid"/>
          </a:ln>
        </p:spPr>
      </p:sp>
      <p:sp>
        <p:nvSpPr>
          <p:cNvPr id="15" name="Text 13"/>
          <p:cNvSpPr txBox="1"/>
          <p:nvPr/>
        </p:nvSpPr>
        <p:spPr>
          <a:xfrm>
            <a:off x="6565392" y="2025396"/>
            <a:ext cx="1005840" cy="219456"/>
          </a:xfrm>
          <a:prstGeom prst="rect">
            <a:avLst/>
          </a:prstGeom>
          <a:noFill/>
          <a:ln/>
        </p:spPr>
        <p:txBody>
          <a:bodyPr wrap="square" lIns="0" tIns="0" rIns="0" bIns="0" rtlCol="0" anchor="ctr"/>
          <a:lstStyle/>
          <a:p>
            <a:pPr algn="ctr" indent="0" marL="0">
              <a:buNone/>
            </a:pPr>
            <a:r>
              <a:rPr lang="en-US" sz="950" b="1" dirty="0">
                <a:solidFill>
                  <a:srgbClr val="2F5D3A"/>
                </a:solidFill>
                <a:latin typeface="Calibri" pitchFamily="34" charset="0"/>
                <a:ea typeface="Calibri" pitchFamily="34" charset="-122"/>
                <a:cs typeface="Calibri" pitchFamily="34" charset="-120"/>
              </a:rPr>
              <a:t>Feasible</a:t>
            </a:r>
            <a:endParaRPr lang="en-US" sz="950" dirty="0"/>
          </a:p>
        </p:txBody>
      </p:sp>
      <p:sp>
        <p:nvSpPr>
          <p:cNvPr id="16" name="Text 14"/>
          <p:cNvSpPr txBox="1"/>
          <p:nvPr/>
        </p:nvSpPr>
        <p:spPr>
          <a:xfrm>
            <a:off x="4581144" y="2404872"/>
            <a:ext cx="2962656" cy="640080"/>
          </a:xfrm>
          <a:prstGeom prst="rect">
            <a:avLst/>
          </a:prstGeom>
          <a:noFill/>
          <a:ln/>
        </p:spPr>
        <p:txBody>
          <a:bodyPr wrap="square" lIns="0" tIns="0" rIns="0" bIns="0" rtlCol="0" anchor="t"/>
          <a:lstStyle/>
          <a:p>
            <a:pPr indent="0" marL="0">
              <a:lnSpc>
                <a:spcPts val="1600"/>
              </a:lnSpc>
              <a:buNone/>
            </a:pPr>
            <a:r>
              <a:rPr lang="en-US" sz="1200" dirty="0">
                <a:solidFill>
                  <a:srgbClr val="6E7D73"/>
                </a:solidFill>
                <a:latin typeface="Calibri" pitchFamily="34" charset="0"/>
                <a:ea typeface="Calibri" pitchFamily="34" charset="-122"/>
                <a:cs typeface="Calibri" pitchFamily="34" charset="-120"/>
              </a:rPr>
              <a:t>Users read information; they enter nothing</a:t>
            </a:r>
            <a:endParaRPr lang="en-US" sz="1200" dirty="0"/>
          </a:p>
        </p:txBody>
      </p:sp>
      <p:sp>
        <p:nvSpPr>
          <p:cNvPr id="17" name="Shape 15"/>
          <p:cNvSpPr/>
          <p:nvPr/>
        </p:nvSpPr>
        <p:spPr>
          <a:xfrm>
            <a:off x="8010144" y="1783080"/>
            <a:ext cx="3456432" cy="1371600"/>
          </a:xfrm>
          <a:prstGeom prst="roundRect">
            <a:avLst>
              <a:gd name="adj" fmla="val 6000"/>
            </a:avLst>
          </a:prstGeom>
          <a:solidFill>
            <a:srgbClr val="FFFFFF"/>
          </a:solidFill>
          <a:ln w="12700">
            <a:solidFill>
              <a:srgbClr val="E0E7E1"/>
            </a:solidFill>
            <a:prstDash val="solid"/>
          </a:ln>
        </p:spPr>
      </p:sp>
      <p:sp>
        <p:nvSpPr>
          <p:cNvPr id="18" name="Text 16"/>
          <p:cNvSpPr txBox="1"/>
          <p:nvPr/>
        </p:nvSpPr>
        <p:spPr>
          <a:xfrm>
            <a:off x="8266176" y="1965960"/>
            <a:ext cx="2011680" cy="310896"/>
          </a:xfrm>
          <a:prstGeom prst="rect">
            <a:avLst/>
          </a:prstGeom>
          <a:noFill/>
          <a:ln/>
        </p:spPr>
        <p:txBody>
          <a:bodyPr wrap="square" lIns="0" tIns="0" rIns="0" bIns="0" rtlCol="0" anchor="ctr"/>
          <a:lstStyle/>
          <a:p>
            <a:pPr indent="0" marL="0">
              <a:buNone/>
            </a:pPr>
            <a:r>
              <a:rPr lang="en-US" sz="1500" b="1" dirty="0">
                <a:solidFill>
                  <a:srgbClr val="16241D"/>
                </a:solidFill>
                <a:latin typeface="Calibri" pitchFamily="34" charset="0"/>
                <a:ea typeface="Calibri" pitchFamily="34" charset="-122"/>
                <a:cs typeface="Calibri" pitchFamily="34" charset="-120"/>
              </a:rPr>
              <a:t>Economic</a:t>
            </a:r>
            <a:endParaRPr lang="en-US" sz="1500" dirty="0"/>
          </a:p>
        </p:txBody>
      </p:sp>
      <p:sp>
        <p:nvSpPr>
          <p:cNvPr id="19" name="Shape 17"/>
          <p:cNvSpPr/>
          <p:nvPr/>
        </p:nvSpPr>
        <p:spPr>
          <a:xfrm>
            <a:off x="10250424" y="1984248"/>
            <a:ext cx="1005840" cy="292608"/>
          </a:xfrm>
          <a:prstGeom prst="roundRect">
            <a:avLst>
              <a:gd name="adj" fmla="val 50000"/>
            </a:avLst>
          </a:prstGeom>
          <a:solidFill>
            <a:srgbClr val="E7EFE7"/>
          </a:solidFill>
          <a:ln w="12700">
            <a:solidFill>
              <a:srgbClr val="E7EFE7"/>
            </a:solidFill>
            <a:prstDash val="solid"/>
          </a:ln>
        </p:spPr>
      </p:sp>
      <p:sp>
        <p:nvSpPr>
          <p:cNvPr id="20" name="Text 18"/>
          <p:cNvSpPr txBox="1"/>
          <p:nvPr/>
        </p:nvSpPr>
        <p:spPr>
          <a:xfrm>
            <a:off x="10250424" y="2025396"/>
            <a:ext cx="1005840" cy="219456"/>
          </a:xfrm>
          <a:prstGeom prst="rect">
            <a:avLst/>
          </a:prstGeom>
          <a:noFill/>
          <a:ln/>
        </p:spPr>
        <p:txBody>
          <a:bodyPr wrap="square" lIns="0" tIns="0" rIns="0" bIns="0" rtlCol="0" anchor="ctr"/>
          <a:lstStyle/>
          <a:p>
            <a:pPr algn="ctr" indent="0" marL="0">
              <a:buNone/>
            </a:pPr>
            <a:r>
              <a:rPr lang="en-US" sz="950" b="1" dirty="0">
                <a:solidFill>
                  <a:srgbClr val="2F5D3A"/>
                </a:solidFill>
                <a:latin typeface="Calibri" pitchFamily="34" charset="0"/>
                <a:ea typeface="Calibri" pitchFamily="34" charset="-122"/>
                <a:cs typeface="Calibri" pitchFamily="34" charset="-120"/>
              </a:rPr>
              <a:t>Feasible</a:t>
            </a:r>
            <a:endParaRPr lang="en-US" sz="950" dirty="0"/>
          </a:p>
        </p:txBody>
      </p:sp>
      <p:sp>
        <p:nvSpPr>
          <p:cNvPr id="21" name="Text 19"/>
          <p:cNvSpPr txBox="1"/>
          <p:nvPr/>
        </p:nvSpPr>
        <p:spPr>
          <a:xfrm>
            <a:off x="8266176" y="2404872"/>
            <a:ext cx="2962656" cy="640080"/>
          </a:xfrm>
          <a:prstGeom prst="rect">
            <a:avLst/>
          </a:prstGeom>
          <a:noFill/>
          <a:ln/>
        </p:spPr>
        <p:txBody>
          <a:bodyPr wrap="square" lIns="0" tIns="0" rIns="0" bIns="0" rtlCol="0" anchor="t"/>
          <a:lstStyle/>
          <a:p>
            <a:pPr indent="0" marL="0">
              <a:lnSpc>
                <a:spcPts val="1600"/>
              </a:lnSpc>
              <a:buNone/>
            </a:pPr>
            <a:r>
              <a:rPr lang="en-US" sz="1200" dirty="0">
                <a:solidFill>
                  <a:srgbClr val="6E7D73"/>
                </a:solidFill>
                <a:latin typeface="Calibri" pitchFamily="34" charset="0"/>
                <a:ea typeface="Calibri" pitchFamily="34" charset="-122"/>
                <a:cs typeface="Calibri" pitchFamily="34" charset="-120"/>
              </a:rPr>
              <a:t>Free tiers; no hardware to buy</a:t>
            </a:r>
            <a:endParaRPr lang="en-US" sz="1200" dirty="0"/>
          </a:p>
        </p:txBody>
      </p:sp>
      <p:sp>
        <p:nvSpPr>
          <p:cNvPr id="22" name="Shape 20"/>
          <p:cNvSpPr/>
          <p:nvPr/>
        </p:nvSpPr>
        <p:spPr>
          <a:xfrm>
            <a:off x="640080" y="3355848"/>
            <a:ext cx="3456432" cy="1371600"/>
          </a:xfrm>
          <a:prstGeom prst="roundRect">
            <a:avLst>
              <a:gd name="adj" fmla="val 6000"/>
            </a:avLst>
          </a:prstGeom>
          <a:solidFill>
            <a:srgbClr val="FFFFFF"/>
          </a:solidFill>
          <a:ln w="12700">
            <a:solidFill>
              <a:srgbClr val="E0E7E1"/>
            </a:solidFill>
            <a:prstDash val="solid"/>
          </a:ln>
        </p:spPr>
      </p:sp>
      <p:sp>
        <p:nvSpPr>
          <p:cNvPr id="23" name="Text 21"/>
          <p:cNvSpPr txBox="1"/>
          <p:nvPr/>
        </p:nvSpPr>
        <p:spPr>
          <a:xfrm>
            <a:off x="896112" y="3538728"/>
            <a:ext cx="2011680" cy="310896"/>
          </a:xfrm>
          <a:prstGeom prst="rect">
            <a:avLst/>
          </a:prstGeom>
          <a:noFill/>
          <a:ln/>
        </p:spPr>
        <p:txBody>
          <a:bodyPr wrap="square" lIns="0" tIns="0" rIns="0" bIns="0" rtlCol="0" anchor="ctr"/>
          <a:lstStyle/>
          <a:p>
            <a:pPr indent="0" marL="0">
              <a:buNone/>
            </a:pPr>
            <a:r>
              <a:rPr lang="en-US" sz="1500" b="1" dirty="0">
                <a:solidFill>
                  <a:srgbClr val="16241D"/>
                </a:solidFill>
                <a:latin typeface="Calibri" pitchFamily="34" charset="0"/>
                <a:ea typeface="Calibri" pitchFamily="34" charset="-122"/>
                <a:cs typeface="Calibri" pitchFamily="34" charset="-120"/>
              </a:rPr>
              <a:t>Legal</a:t>
            </a:r>
            <a:endParaRPr lang="en-US" sz="1500" dirty="0"/>
          </a:p>
        </p:txBody>
      </p:sp>
      <p:sp>
        <p:nvSpPr>
          <p:cNvPr id="24" name="Shape 22"/>
          <p:cNvSpPr/>
          <p:nvPr/>
        </p:nvSpPr>
        <p:spPr>
          <a:xfrm>
            <a:off x="2880360" y="3557016"/>
            <a:ext cx="1005840" cy="292608"/>
          </a:xfrm>
          <a:prstGeom prst="roundRect">
            <a:avLst>
              <a:gd name="adj" fmla="val 50000"/>
            </a:avLst>
          </a:prstGeom>
          <a:solidFill>
            <a:srgbClr val="E7EFE7"/>
          </a:solidFill>
          <a:ln w="12700">
            <a:solidFill>
              <a:srgbClr val="E7EFE7"/>
            </a:solidFill>
            <a:prstDash val="solid"/>
          </a:ln>
        </p:spPr>
      </p:sp>
      <p:sp>
        <p:nvSpPr>
          <p:cNvPr id="25" name="Text 23"/>
          <p:cNvSpPr txBox="1"/>
          <p:nvPr/>
        </p:nvSpPr>
        <p:spPr>
          <a:xfrm>
            <a:off x="2880360" y="3598164"/>
            <a:ext cx="1005840" cy="219456"/>
          </a:xfrm>
          <a:prstGeom prst="rect">
            <a:avLst/>
          </a:prstGeom>
          <a:noFill/>
          <a:ln/>
        </p:spPr>
        <p:txBody>
          <a:bodyPr wrap="square" lIns="0" tIns="0" rIns="0" bIns="0" rtlCol="0" anchor="ctr"/>
          <a:lstStyle/>
          <a:p>
            <a:pPr algn="ctr" indent="0" marL="0">
              <a:buNone/>
            </a:pPr>
            <a:r>
              <a:rPr lang="en-US" sz="950" b="1" dirty="0">
                <a:solidFill>
                  <a:srgbClr val="2F5D3A"/>
                </a:solidFill>
                <a:latin typeface="Calibri" pitchFamily="34" charset="0"/>
                <a:ea typeface="Calibri" pitchFamily="34" charset="-122"/>
                <a:cs typeface="Calibri" pitchFamily="34" charset="-120"/>
              </a:rPr>
              <a:t>Feasible</a:t>
            </a:r>
            <a:endParaRPr lang="en-US" sz="950" dirty="0"/>
          </a:p>
        </p:txBody>
      </p:sp>
      <p:sp>
        <p:nvSpPr>
          <p:cNvPr id="26" name="Text 24"/>
          <p:cNvSpPr txBox="1"/>
          <p:nvPr/>
        </p:nvSpPr>
        <p:spPr>
          <a:xfrm>
            <a:off x="896112" y="3977640"/>
            <a:ext cx="2962656" cy="640080"/>
          </a:xfrm>
          <a:prstGeom prst="rect">
            <a:avLst/>
          </a:prstGeom>
          <a:noFill/>
          <a:ln/>
        </p:spPr>
        <p:txBody>
          <a:bodyPr wrap="square" lIns="0" tIns="0" rIns="0" bIns="0" rtlCol="0" anchor="t"/>
          <a:lstStyle/>
          <a:p>
            <a:pPr indent="0" marL="0">
              <a:lnSpc>
                <a:spcPts val="1600"/>
              </a:lnSpc>
              <a:buNone/>
            </a:pPr>
            <a:r>
              <a:rPr lang="en-US" sz="1200" dirty="0">
                <a:solidFill>
                  <a:srgbClr val="6E7D73"/>
                </a:solidFill>
                <a:latin typeface="Calibri" pitchFamily="34" charset="0"/>
                <a:ea typeface="Calibri" pitchFamily="34" charset="-122"/>
                <a:cs typeface="Calibri" pitchFamily="34" charset="-120"/>
              </a:rPr>
              <a:t>No real personal information handled</a:t>
            </a:r>
            <a:endParaRPr lang="en-US" sz="1200" dirty="0"/>
          </a:p>
        </p:txBody>
      </p:sp>
      <p:sp>
        <p:nvSpPr>
          <p:cNvPr id="27" name="Shape 25"/>
          <p:cNvSpPr/>
          <p:nvPr/>
        </p:nvSpPr>
        <p:spPr>
          <a:xfrm>
            <a:off x="4325112" y="3355848"/>
            <a:ext cx="3456432" cy="1371600"/>
          </a:xfrm>
          <a:prstGeom prst="roundRect">
            <a:avLst>
              <a:gd name="adj" fmla="val 6000"/>
            </a:avLst>
          </a:prstGeom>
          <a:solidFill>
            <a:srgbClr val="FFFFFF"/>
          </a:solidFill>
          <a:ln w="12700">
            <a:solidFill>
              <a:srgbClr val="E0E7E1"/>
            </a:solidFill>
            <a:prstDash val="solid"/>
          </a:ln>
        </p:spPr>
      </p:sp>
      <p:sp>
        <p:nvSpPr>
          <p:cNvPr id="28" name="Text 26"/>
          <p:cNvSpPr txBox="1"/>
          <p:nvPr/>
        </p:nvSpPr>
        <p:spPr>
          <a:xfrm>
            <a:off x="4581144" y="3538728"/>
            <a:ext cx="2011680" cy="310896"/>
          </a:xfrm>
          <a:prstGeom prst="rect">
            <a:avLst/>
          </a:prstGeom>
          <a:noFill/>
          <a:ln/>
        </p:spPr>
        <p:txBody>
          <a:bodyPr wrap="square" lIns="0" tIns="0" rIns="0" bIns="0" rtlCol="0" anchor="ctr"/>
          <a:lstStyle/>
          <a:p>
            <a:pPr indent="0" marL="0">
              <a:buNone/>
            </a:pPr>
            <a:r>
              <a:rPr lang="en-US" sz="1500" b="1" dirty="0">
                <a:solidFill>
                  <a:srgbClr val="16241D"/>
                </a:solidFill>
                <a:latin typeface="Calibri" pitchFamily="34" charset="0"/>
                <a:ea typeface="Calibri" pitchFamily="34" charset="-122"/>
                <a:cs typeface="Calibri" pitchFamily="34" charset="-120"/>
              </a:rPr>
              <a:t>Ethical</a:t>
            </a:r>
            <a:endParaRPr lang="en-US" sz="1500" dirty="0"/>
          </a:p>
        </p:txBody>
      </p:sp>
      <p:sp>
        <p:nvSpPr>
          <p:cNvPr id="29" name="Shape 27"/>
          <p:cNvSpPr/>
          <p:nvPr/>
        </p:nvSpPr>
        <p:spPr>
          <a:xfrm>
            <a:off x="6565392" y="3557016"/>
            <a:ext cx="1005840" cy="292608"/>
          </a:xfrm>
          <a:prstGeom prst="roundRect">
            <a:avLst>
              <a:gd name="adj" fmla="val 50000"/>
            </a:avLst>
          </a:prstGeom>
          <a:solidFill>
            <a:srgbClr val="E7EFE7"/>
          </a:solidFill>
          <a:ln w="12700">
            <a:solidFill>
              <a:srgbClr val="E7EFE7"/>
            </a:solidFill>
            <a:prstDash val="solid"/>
          </a:ln>
        </p:spPr>
      </p:sp>
      <p:sp>
        <p:nvSpPr>
          <p:cNvPr id="30" name="Text 28"/>
          <p:cNvSpPr txBox="1"/>
          <p:nvPr/>
        </p:nvSpPr>
        <p:spPr>
          <a:xfrm>
            <a:off x="6565392" y="3598164"/>
            <a:ext cx="1005840" cy="219456"/>
          </a:xfrm>
          <a:prstGeom prst="rect">
            <a:avLst/>
          </a:prstGeom>
          <a:noFill/>
          <a:ln/>
        </p:spPr>
        <p:txBody>
          <a:bodyPr wrap="square" lIns="0" tIns="0" rIns="0" bIns="0" rtlCol="0" anchor="ctr"/>
          <a:lstStyle/>
          <a:p>
            <a:pPr algn="ctr" indent="0" marL="0">
              <a:buNone/>
            </a:pPr>
            <a:r>
              <a:rPr lang="en-US" sz="950" b="1" dirty="0">
                <a:solidFill>
                  <a:srgbClr val="2F5D3A"/>
                </a:solidFill>
                <a:latin typeface="Calibri" pitchFamily="34" charset="0"/>
                <a:ea typeface="Calibri" pitchFamily="34" charset="-122"/>
                <a:cs typeface="Calibri" pitchFamily="34" charset="-120"/>
              </a:rPr>
              <a:t>Feasible</a:t>
            </a:r>
            <a:endParaRPr lang="en-US" sz="950" dirty="0"/>
          </a:p>
        </p:txBody>
      </p:sp>
      <p:sp>
        <p:nvSpPr>
          <p:cNvPr id="31" name="Text 29"/>
          <p:cNvSpPr txBox="1"/>
          <p:nvPr/>
        </p:nvSpPr>
        <p:spPr>
          <a:xfrm>
            <a:off x="4581144" y="3977640"/>
            <a:ext cx="2962656" cy="640080"/>
          </a:xfrm>
          <a:prstGeom prst="rect">
            <a:avLst/>
          </a:prstGeom>
          <a:noFill/>
          <a:ln/>
        </p:spPr>
        <p:txBody>
          <a:bodyPr wrap="square" lIns="0" tIns="0" rIns="0" bIns="0" rtlCol="0" anchor="t"/>
          <a:lstStyle/>
          <a:p>
            <a:pPr indent="0" marL="0">
              <a:lnSpc>
                <a:spcPts val="1600"/>
              </a:lnSpc>
              <a:buNone/>
            </a:pPr>
            <a:r>
              <a:rPr lang="en-US" sz="1200" dirty="0">
                <a:solidFill>
                  <a:srgbClr val="6E7D73"/>
                </a:solidFill>
                <a:latin typeface="Calibri" pitchFamily="34" charset="0"/>
                <a:ea typeface="Calibri" pitchFamily="34" charset="-122"/>
                <a:cs typeface="Calibri" pitchFamily="34" charset="-120"/>
              </a:rPr>
              <a:t>Explicit boundary against giving advice</a:t>
            </a:r>
            <a:endParaRPr lang="en-US" sz="1200" dirty="0"/>
          </a:p>
        </p:txBody>
      </p:sp>
      <p:sp>
        <p:nvSpPr>
          <p:cNvPr id="32" name="Shape 30"/>
          <p:cNvSpPr/>
          <p:nvPr/>
        </p:nvSpPr>
        <p:spPr>
          <a:xfrm>
            <a:off x="8010144" y="3355848"/>
            <a:ext cx="3456432" cy="1371600"/>
          </a:xfrm>
          <a:prstGeom prst="roundRect">
            <a:avLst>
              <a:gd name="adj" fmla="val 6000"/>
            </a:avLst>
          </a:prstGeom>
          <a:solidFill>
            <a:srgbClr val="FFFFFF"/>
          </a:solidFill>
          <a:ln w="12700">
            <a:solidFill>
              <a:srgbClr val="E0E7E1"/>
            </a:solidFill>
            <a:prstDash val="solid"/>
          </a:ln>
        </p:spPr>
      </p:sp>
      <p:sp>
        <p:nvSpPr>
          <p:cNvPr id="33" name="Text 31"/>
          <p:cNvSpPr txBox="1"/>
          <p:nvPr/>
        </p:nvSpPr>
        <p:spPr>
          <a:xfrm>
            <a:off x="8266176" y="3538728"/>
            <a:ext cx="2011680" cy="310896"/>
          </a:xfrm>
          <a:prstGeom prst="rect">
            <a:avLst/>
          </a:prstGeom>
          <a:noFill/>
          <a:ln/>
        </p:spPr>
        <p:txBody>
          <a:bodyPr wrap="square" lIns="0" tIns="0" rIns="0" bIns="0" rtlCol="0" anchor="ctr"/>
          <a:lstStyle/>
          <a:p>
            <a:pPr indent="0" marL="0">
              <a:buNone/>
            </a:pPr>
            <a:r>
              <a:rPr lang="en-US" sz="1500" b="1" dirty="0">
                <a:solidFill>
                  <a:srgbClr val="16241D"/>
                </a:solidFill>
                <a:latin typeface="Calibri" pitchFamily="34" charset="0"/>
                <a:ea typeface="Calibri" pitchFamily="34" charset="-122"/>
                <a:cs typeface="Calibri" pitchFamily="34" charset="-120"/>
              </a:rPr>
              <a:t>Schedule</a:t>
            </a:r>
            <a:endParaRPr lang="en-US" sz="1500" dirty="0"/>
          </a:p>
        </p:txBody>
      </p:sp>
      <p:sp>
        <p:nvSpPr>
          <p:cNvPr id="34" name="Shape 32"/>
          <p:cNvSpPr/>
          <p:nvPr/>
        </p:nvSpPr>
        <p:spPr>
          <a:xfrm>
            <a:off x="10250424" y="3557016"/>
            <a:ext cx="1005840" cy="292608"/>
          </a:xfrm>
          <a:prstGeom prst="roundRect">
            <a:avLst>
              <a:gd name="adj" fmla="val 50000"/>
            </a:avLst>
          </a:prstGeom>
          <a:solidFill>
            <a:srgbClr val="FAF0D4"/>
          </a:solidFill>
          <a:ln w="12700">
            <a:solidFill>
              <a:srgbClr val="FAF0D4"/>
            </a:solidFill>
            <a:prstDash val="solid"/>
          </a:ln>
        </p:spPr>
      </p:sp>
      <p:sp>
        <p:nvSpPr>
          <p:cNvPr id="35" name="Text 33"/>
          <p:cNvSpPr txBox="1"/>
          <p:nvPr/>
        </p:nvSpPr>
        <p:spPr>
          <a:xfrm>
            <a:off x="10250424" y="3598164"/>
            <a:ext cx="1005840" cy="219456"/>
          </a:xfrm>
          <a:prstGeom prst="rect">
            <a:avLst/>
          </a:prstGeom>
          <a:noFill/>
          <a:ln/>
        </p:spPr>
        <p:txBody>
          <a:bodyPr wrap="square" lIns="0" tIns="0" rIns="0" bIns="0" rtlCol="0" anchor="ctr"/>
          <a:lstStyle/>
          <a:p>
            <a:pPr algn="ctr" indent="0" marL="0">
              <a:buNone/>
            </a:pPr>
            <a:r>
              <a:rPr lang="en-US" sz="950" b="1" dirty="0">
                <a:solidFill>
                  <a:srgbClr val="8A6910"/>
                </a:solidFill>
                <a:latin typeface="Calibri" pitchFamily="34" charset="0"/>
                <a:ea typeface="Calibri" pitchFamily="34" charset="-122"/>
                <a:cs typeface="Calibri" pitchFamily="34" charset="-120"/>
              </a:rPr>
              <a:t>With changes</a:t>
            </a:r>
            <a:endParaRPr lang="en-US" sz="950" dirty="0"/>
          </a:p>
        </p:txBody>
      </p:sp>
      <p:sp>
        <p:nvSpPr>
          <p:cNvPr id="36" name="Text 34"/>
          <p:cNvSpPr txBox="1"/>
          <p:nvPr/>
        </p:nvSpPr>
        <p:spPr>
          <a:xfrm>
            <a:off x="8266176" y="3977640"/>
            <a:ext cx="2962656" cy="640080"/>
          </a:xfrm>
          <a:prstGeom prst="rect">
            <a:avLst/>
          </a:prstGeom>
          <a:noFill/>
          <a:ln/>
        </p:spPr>
        <p:txBody>
          <a:bodyPr wrap="square" lIns="0" tIns="0" rIns="0" bIns="0" rtlCol="0" anchor="t"/>
          <a:lstStyle/>
          <a:p>
            <a:pPr indent="0" marL="0">
              <a:lnSpc>
                <a:spcPts val="1600"/>
              </a:lnSpc>
              <a:buNone/>
            </a:pPr>
            <a:r>
              <a:rPr lang="en-US" sz="1200" dirty="0">
                <a:solidFill>
                  <a:srgbClr val="6E7D73"/>
                </a:solidFill>
                <a:latin typeface="Calibri" pitchFamily="34" charset="0"/>
                <a:ea typeface="Calibri" pitchFamily="34" charset="-122"/>
                <a:cs typeface="Calibri" pitchFamily="34" charset="-120"/>
              </a:rPr>
              <a:t>Three development weeks, three components</a:t>
            </a:r>
            <a:endParaRPr lang="en-US" sz="1200" dirty="0"/>
          </a:p>
        </p:txBody>
      </p:sp>
      <p:sp>
        <p:nvSpPr>
          <p:cNvPr id="37" name="Shape 35"/>
          <p:cNvSpPr/>
          <p:nvPr/>
        </p:nvSpPr>
        <p:spPr>
          <a:xfrm>
            <a:off x="640080" y="5029200"/>
            <a:ext cx="10899648" cy="841248"/>
          </a:xfrm>
          <a:prstGeom prst="roundRect">
            <a:avLst>
              <a:gd name="adj" fmla="val 9783"/>
            </a:avLst>
          </a:prstGeom>
          <a:solidFill>
            <a:srgbClr val="EFE7DC"/>
          </a:solidFill>
          <a:ln w="12700">
            <a:solidFill>
              <a:srgbClr val="EFE7DC"/>
            </a:solidFill>
            <a:prstDash val="solid"/>
          </a:ln>
        </p:spPr>
      </p:sp>
      <p:sp>
        <p:nvSpPr>
          <p:cNvPr id="38" name="Text 36"/>
          <p:cNvSpPr txBox="1"/>
          <p:nvPr/>
        </p:nvSpPr>
        <p:spPr>
          <a:xfrm>
            <a:off x="960120" y="5248656"/>
            <a:ext cx="10241280" cy="457200"/>
          </a:xfrm>
          <a:prstGeom prst="rect">
            <a:avLst/>
          </a:prstGeom>
          <a:noFill/>
          <a:ln/>
        </p:spPr>
        <p:txBody>
          <a:bodyPr wrap="square" lIns="0" tIns="0" rIns="0" bIns="0" rtlCol="0" anchor="ctr"/>
          <a:lstStyle/>
          <a:p>
            <a:pPr indent="0" marL="0">
              <a:buNone/>
            </a:pPr>
            <a:r>
              <a:rPr lang="en-US" sz="1350" dirty="0">
                <a:solidFill>
                  <a:srgbClr val="16241D"/>
                </a:solidFill>
                <a:latin typeface="Calibri" pitchFamily="34" charset="0"/>
                <a:ea typeface="Calibri" pitchFamily="34" charset="-122"/>
                <a:cs typeface="Calibri" pitchFamily="34" charset="-120"/>
              </a:rPr>
              <a:t>Scope is the answer to the schedule constraint. We plan backwards from the fourteen acceptance criteria and finish the shared database before any parallel development starts.</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6241D"/>
        </a:solidFill>
      </p:bgPr>
    </p:bg>
    <p:spTree>
      <p:nvGrpSpPr>
        <p:cNvPr id="1" name=""/>
        <p:cNvGrpSpPr/>
        <p:nvPr/>
      </p:nvGrpSpPr>
      <p:grpSpPr>
        <a:xfrm>
          <a:off x="0" y="0"/>
          <a:ext cx="0" cy="0"/>
          <a:chOff x="0" y="0"/>
          <a:chExt cx="0" cy="0"/>
        </a:xfrm>
      </p:grpSpPr>
      <p:sp>
        <p:nvSpPr>
          <p:cNvPr id="2" name="Text 0"/>
          <p:cNvSpPr txBox="1"/>
          <p:nvPr/>
        </p:nvSpPr>
        <p:spPr>
          <a:xfrm>
            <a:off x="822960" y="1828800"/>
            <a:ext cx="2011680" cy="1371600"/>
          </a:xfrm>
          <a:prstGeom prst="rect">
            <a:avLst/>
          </a:prstGeom>
          <a:noFill/>
          <a:ln/>
        </p:spPr>
        <p:txBody>
          <a:bodyPr wrap="square" lIns="0" tIns="0" rIns="0" bIns="0" rtlCol="0" anchor="ctr"/>
          <a:lstStyle/>
          <a:p>
            <a:pPr indent="0" marL="0">
              <a:buNone/>
            </a:pPr>
            <a:r>
              <a:rPr lang="en-US" sz="9600" b="1" dirty="0">
                <a:solidFill>
                  <a:srgbClr val="1F6F6B"/>
                </a:solidFill>
                <a:latin typeface="Cambria" pitchFamily="34" charset="0"/>
                <a:ea typeface="Cambria" pitchFamily="34" charset="-122"/>
                <a:cs typeface="Cambria" pitchFamily="34" charset="-120"/>
              </a:rPr>
              <a:t>07</a:t>
            </a:r>
            <a:endParaRPr lang="en-US" sz="9600" dirty="0"/>
          </a:p>
        </p:txBody>
      </p:sp>
      <p:sp>
        <p:nvSpPr>
          <p:cNvPr id="3" name="Text 1"/>
          <p:cNvSpPr txBox="1"/>
          <p:nvPr/>
        </p:nvSpPr>
        <p:spPr>
          <a:xfrm>
            <a:off x="2926080" y="2148840"/>
            <a:ext cx="841248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Risk, scope and the plan</a:t>
            </a:r>
            <a:endParaRPr lang="en-US" sz="4000" dirty="0"/>
          </a:p>
        </p:txBody>
      </p:sp>
      <p:sp>
        <p:nvSpPr>
          <p:cNvPr id="4" name="Text 2"/>
          <p:cNvSpPr txBox="1"/>
          <p:nvPr/>
        </p:nvSpPr>
        <p:spPr>
          <a:xfrm>
            <a:off x="2926080" y="3063240"/>
            <a:ext cx="7680960" cy="822960"/>
          </a:xfrm>
          <a:prstGeom prst="rect">
            <a:avLst/>
          </a:prstGeom>
          <a:noFill/>
          <a:ln/>
        </p:spPr>
        <p:txBody>
          <a:bodyPr wrap="square" lIns="0" tIns="0" rIns="0" bIns="0" rtlCol="0" anchor="t"/>
          <a:lstStyle/>
          <a:p>
            <a:pPr indent="0" marL="0">
              <a:lnSpc>
                <a:spcPts val="2400"/>
              </a:lnSpc>
              <a:buNone/>
            </a:pPr>
            <a:r>
              <a:rPr lang="en-US" sz="1500" dirty="0">
                <a:solidFill>
                  <a:srgbClr val="A9BCAF"/>
                </a:solidFill>
                <a:latin typeface="Calibri" pitchFamily="34" charset="0"/>
                <a:ea typeface="Calibri" pitchFamily="34" charset="-122"/>
                <a:cs typeface="Calibri" pitchFamily="34" charset="-120"/>
              </a:rPr>
              <a:t>Twelve risks, the functions we set aside, and where the project stands today.</a:t>
            </a:r>
            <a:endParaRPr lang="en-US" sz="1500" dirty="0"/>
          </a:p>
        </p:txBody>
      </p:sp>
      <p:sp>
        <p:nvSpPr>
          <p:cNvPr id="5" name="Shape 3"/>
          <p:cNvSpPr/>
          <p:nvPr/>
        </p:nvSpPr>
        <p:spPr>
          <a:xfrm>
            <a:off x="2926080" y="4114800"/>
            <a:ext cx="1005840" cy="32004"/>
          </a:xfrm>
          <a:prstGeom prst="rect">
            <a:avLst/>
          </a:prstGeom>
          <a:solidFill>
            <a:srgbClr val="D9A92C"/>
          </a:solidFill>
          <a:ln w="12700">
            <a:solidFill>
              <a:srgbClr val="D9A92C"/>
            </a:solidFill>
            <a:prstDash val="solid"/>
          </a:ln>
        </p:spPr>
      </p:sp>
      <p:sp>
        <p:nvSpPr>
          <p:cNvPr id="6" name="Text 4"/>
          <p:cNvSpPr txBox="1"/>
          <p:nvPr/>
        </p:nvSpPr>
        <p:spPr>
          <a:xfrm>
            <a:off x="2926080" y="4370832"/>
            <a:ext cx="5486400" cy="310896"/>
          </a:xfrm>
          <a:prstGeom prst="rect">
            <a:avLst/>
          </a:prstGeom>
          <a:noFill/>
          <a:ln/>
        </p:spPr>
        <p:txBody>
          <a:bodyPr wrap="square" lIns="0" tIns="0" rIns="0" bIns="0" rtlCol="0" anchor="ctr"/>
          <a:lstStyle/>
          <a:p>
            <a:pPr indent="0" marL="0">
              <a:buNone/>
            </a:pPr>
            <a:r>
              <a:rPr lang="en-US" sz="1500" b="1" dirty="0">
                <a:solidFill>
                  <a:srgbClr val="D9A92C"/>
                </a:solidFill>
                <a:latin typeface="Calibri" pitchFamily="34" charset="0"/>
                <a:ea typeface="Calibri" pitchFamily="34" charset="-122"/>
                <a:cs typeface="Calibri" pitchFamily="34" charset="-120"/>
              </a:rPr>
              <a:t>Katlontle Seiphetlho</a:t>
            </a:r>
            <a:endParaRPr lang="en-US" sz="1500" dirty="0"/>
          </a:p>
        </p:txBody>
      </p:sp>
      <p:sp>
        <p:nvSpPr>
          <p:cNvPr id="7" name="Text 5"/>
          <p:cNvSpPr txBox="1"/>
          <p:nvPr/>
        </p:nvSpPr>
        <p:spPr>
          <a:xfrm>
            <a:off x="2926080" y="4718304"/>
            <a:ext cx="5486400" cy="274320"/>
          </a:xfrm>
          <a:prstGeom prst="rect">
            <a:avLst/>
          </a:prstGeom>
          <a:noFill/>
          <a:ln/>
        </p:spPr>
        <p:txBody>
          <a:bodyPr wrap="square" lIns="0" tIns="0" rIns="0" bIns="0" rtlCol="0" anchor="ctr"/>
          <a:lstStyle/>
          <a:p>
            <a:pPr indent="0" marL="0">
              <a:buNone/>
            </a:pPr>
            <a:r>
              <a:rPr lang="en-US" sz="1200" dirty="0">
                <a:solidFill>
                  <a:srgbClr val="A9BCAF"/>
                </a:solidFill>
                <a:latin typeface="Calibri" pitchFamily="34" charset="0"/>
                <a:ea typeface="Calibri" pitchFamily="34" charset="-122"/>
                <a:cs typeface="Calibri" pitchFamily="34" charset="-120"/>
              </a:rPr>
              <a:t>3 minutes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RISK PROFILE</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Katlontle Seiphetlho</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Twelve risks, rated and owned</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30</a:t>
            </a:r>
            <a:endParaRPr lang="en-US" sz="1000" dirty="0"/>
          </a:p>
        </p:txBody>
      </p:sp>
      <p:graphicFrame>
        <p:nvGraphicFramePr>
          <p:cNvPr id="7" name="Chart 0" descr=""/>
          <p:cNvGraphicFramePr/>
          <p:nvPr/>
        </p:nvGraphicFramePr>
        <p:xfrm>
          <a:off x="640080" y="1783080"/>
          <a:ext cx="6949440" cy="411480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955280" y="1783080"/>
            <a:ext cx="3584448" cy="4114800"/>
          </a:xfrm>
          <a:prstGeom prst="roundRect">
            <a:avLst>
              <a:gd name="adj" fmla="val 2296"/>
            </a:avLst>
          </a:prstGeom>
          <a:solidFill>
            <a:srgbClr val="EFE7DC"/>
          </a:solidFill>
          <a:ln w="12700">
            <a:solidFill>
              <a:srgbClr val="EFE7DC"/>
            </a:solidFill>
            <a:prstDash val="solid"/>
          </a:ln>
        </p:spPr>
      </p:sp>
      <p:sp>
        <p:nvSpPr>
          <p:cNvPr id="9" name="Text 6"/>
          <p:cNvSpPr txBox="1"/>
          <p:nvPr/>
        </p:nvSpPr>
        <p:spPr>
          <a:xfrm>
            <a:off x="8275320" y="2029968"/>
            <a:ext cx="3017520" cy="310896"/>
          </a:xfrm>
          <a:prstGeom prst="rect">
            <a:avLst/>
          </a:prstGeom>
          <a:noFill/>
          <a:ln/>
        </p:spPr>
        <p:txBody>
          <a:bodyPr wrap="square" lIns="0" tIns="0" rIns="0" bIns="0" rtlCol="0" anchor="ctr"/>
          <a:lstStyle/>
          <a:p>
            <a:pPr indent="0" marL="0">
              <a:buNone/>
            </a:pPr>
            <a:r>
              <a:rPr lang="en-US" sz="1400" b="1" dirty="0">
                <a:solidFill>
                  <a:srgbClr val="16241D"/>
                </a:solidFill>
                <a:latin typeface="Calibri" pitchFamily="34" charset="0"/>
                <a:ea typeface="Calibri" pitchFamily="34" charset="-122"/>
                <a:cs typeface="Calibri" pitchFamily="34" charset="-120"/>
              </a:rPr>
              <a:t>How we score them</a:t>
            </a:r>
            <a:endParaRPr lang="en-US" sz="1400" dirty="0"/>
          </a:p>
        </p:txBody>
      </p:sp>
      <p:sp>
        <p:nvSpPr>
          <p:cNvPr id="10" name="Text 7"/>
          <p:cNvSpPr txBox="1"/>
          <p:nvPr/>
        </p:nvSpPr>
        <p:spPr>
          <a:xfrm>
            <a:off x="8275320" y="2423160"/>
            <a:ext cx="3017520" cy="731520"/>
          </a:xfrm>
          <a:prstGeom prst="rect">
            <a:avLst/>
          </a:prstGeom>
          <a:noFill/>
          <a:ln/>
        </p:spPr>
        <p:txBody>
          <a:bodyPr wrap="square" lIns="0" tIns="0" rIns="0" bIns="0" rtlCol="0" anchor="t"/>
          <a:lstStyle/>
          <a:p>
            <a:pPr indent="0" marL="0">
              <a:lnSpc>
                <a:spcPts val="1700"/>
              </a:lnSpc>
              <a:buNone/>
            </a:pPr>
            <a:r>
              <a:rPr lang="en-US" sz="1250" dirty="0">
                <a:solidFill>
                  <a:srgbClr val="6E7D73"/>
                </a:solidFill>
                <a:latin typeface="Calibri" pitchFamily="34" charset="0"/>
                <a:ea typeface="Calibri" pitchFamily="34" charset="-122"/>
                <a:cs typeface="Calibri" pitchFamily="34" charset="-120"/>
              </a:rPr>
              <a:t>Likelihood and impact are each rated one to three. Multiplying gives a score out of nine.</a:t>
            </a:r>
            <a:endParaRPr lang="en-US" sz="1250" dirty="0"/>
          </a:p>
        </p:txBody>
      </p:sp>
      <p:sp>
        <p:nvSpPr>
          <p:cNvPr id="11" name="Shape 8"/>
          <p:cNvSpPr/>
          <p:nvPr/>
        </p:nvSpPr>
        <p:spPr>
          <a:xfrm>
            <a:off x="8275320" y="3291840"/>
            <a:ext cx="777240" cy="384048"/>
          </a:xfrm>
          <a:prstGeom prst="roundRect">
            <a:avLst>
              <a:gd name="adj" fmla="val 23810"/>
            </a:avLst>
          </a:prstGeom>
          <a:solidFill>
            <a:srgbClr val="AE5C34"/>
          </a:solidFill>
          <a:ln w="12700">
            <a:solidFill>
              <a:srgbClr val="AE5C34"/>
            </a:solidFill>
            <a:prstDash val="solid"/>
          </a:ln>
        </p:spPr>
      </p:sp>
      <p:sp>
        <p:nvSpPr>
          <p:cNvPr id="12" name="Text 9"/>
          <p:cNvSpPr txBox="1"/>
          <p:nvPr/>
        </p:nvSpPr>
        <p:spPr>
          <a:xfrm>
            <a:off x="8275320" y="3364992"/>
            <a:ext cx="77724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 – 9</a:t>
            </a:r>
            <a:endParaRPr lang="en-US" sz="1100" dirty="0"/>
          </a:p>
        </p:txBody>
      </p:sp>
      <p:sp>
        <p:nvSpPr>
          <p:cNvPr id="13" name="Text 10"/>
          <p:cNvSpPr txBox="1"/>
          <p:nvPr/>
        </p:nvSpPr>
        <p:spPr>
          <a:xfrm>
            <a:off x="9189720" y="3310128"/>
            <a:ext cx="1097280" cy="256032"/>
          </a:xfrm>
          <a:prstGeom prst="rect">
            <a:avLst/>
          </a:prstGeom>
          <a:noFill/>
          <a:ln/>
        </p:spPr>
        <p:txBody>
          <a:bodyPr wrap="square" lIns="0" tIns="0" rIns="0" bIns="0" rtlCol="0" anchor="ctr"/>
          <a:lstStyle/>
          <a:p>
            <a:pPr indent="0" marL="0">
              <a:buNone/>
            </a:pPr>
            <a:r>
              <a:rPr lang="en-US" sz="1300" b="1" dirty="0">
                <a:solidFill>
                  <a:srgbClr val="16241D"/>
                </a:solidFill>
                <a:latin typeface="Calibri" pitchFamily="34" charset="0"/>
                <a:ea typeface="Calibri" pitchFamily="34" charset="-122"/>
                <a:cs typeface="Calibri" pitchFamily="34" charset="-120"/>
              </a:rPr>
              <a:t>High</a:t>
            </a:r>
            <a:endParaRPr lang="en-US" sz="1300" dirty="0"/>
          </a:p>
        </p:txBody>
      </p:sp>
      <p:sp>
        <p:nvSpPr>
          <p:cNvPr id="14" name="Text 11"/>
          <p:cNvSpPr txBox="1"/>
          <p:nvPr/>
        </p:nvSpPr>
        <p:spPr>
          <a:xfrm>
            <a:off x="9189720" y="3511296"/>
            <a:ext cx="1463040" cy="237744"/>
          </a:xfrm>
          <a:prstGeom prst="rect">
            <a:avLst/>
          </a:prstGeom>
          <a:noFill/>
          <a:ln/>
        </p:spPr>
        <p:txBody>
          <a:bodyPr wrap="square" lIns="0" tIns="0" rIns="0" bIns="0" rtlCol="0" anchor="ctr"/>
          <a:lstStyle/>
          <a:p>
            <a:pPr indent="0" marL="0">
              <a:buNone/>
            </a:pPr>
            <a:r>
              <a:rPr lang="en-US" sz="1150" dirty="0">
                <a:solidFill>
                  <a:srgbClr val="6E7D73"/>
                </a:solidFill>
                <a:latin typeface="Calibri" pitchFamily="34" charset="0"/>
                <a:ea typeface="Calibri" pitchFamily="34" charset="-122"/>
                <a:cs typeface="Calibri" pitchFamily="34" charset="-120"/>
              </a:rPr>
              <a:t>1 risk</a:t>
            </a:r>
            <a:endParaRPr lang="en-US" sz="1150" dirty="0"/>
          </a:p>
        </p:txBody>
      </p:sp>
      <p:sp>
        <p:nvSpPr>
          <p:cNvPr id="15" name="Shape 12"/>
          <p:cNvSpPr/>
          <p:nvPr/>
        </p:nvSpPr>
        <p:spPr>
          <a:xfrm>
            <a:off x="8275320" y="4041648"/>
            <a:ext cx="777240" cy="384048"/>
          </a:xfrm>
          <a:prstGeom prst="roundRect">
            <a:avLst>
              <a:gd name="adj" fmla="val 23810"/>
            </a:avLst>
          </a:prstGeom>
          <a:solidFill>
            <a:srgbClr val="D9A92C"/>
          </a:solidFill>
          <a:ln w="12700">
            <a:solidFill>
              <a:srgbClr val="D9A92C"/>
            </a:solidFill>
            <a:prstDash val="solid"/>
          </a:ln>
        </p:spPr>
      </p:sp>
      <p:sp>
        <p:nvSpPr>
          <p:cNvPr id="16" name="Text 13"/>
          <p:cNvSpPr txBox="1"/>
          <p:nvPr/>
        </p:nvSpPr>
        <p:spPr>
          <a:xfrm>
            <a:off x="8275320" y="4114800"/>
            <a:ext cx="77724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 – 6</a:t>
            </a:r>
            <a:endParaRPr lang="en-US" sz="1100" dirty="0"/>
          </a:p>
        </p:txBody>
      </p:sp>
      <p:sp>
        <p:nvSpPr>
          <p:cNvPr id="17" name="Text 14"/>
          <p:cNvSpPr txBox="1"/>
          <p:nvPr/>
        </p:nvSpPr>
        <p:spPr>
          <a:xfrm>
            <a:off x="9189720" y="4059936"/>
            <a:ext cx="1097280" cy="256032"/>
          </a:xfrm>
          <a:prstGeom prst="rect">
            <a:avLst/>
          </a:prstGeom>
          <a:noFill/>
          <a:ln/>
        </p:spPr>
        <p:txBody>
          <a:bodyPr wrap="square" lIns="0" tIns="0" rIns="0" bIns="0" rtlCol="0" anchor="ctr"/>
          <a:lstStyle/>
          <a:p>
            <a:pPr indent="0" marL="0">
              <a:buNone/>
            </a:pPr>
            <a:r>
              <a:rPr lang="en-US" sz="1300" b="1" dirty="0">
                <a:solidFill>
                  <a:srgbClr val="16241D"/>
                </a:solidFill>
                <a:latin typeface="Calibri" pitchFamily="34" charset="0"/>
                <a:ea typeface="Calibri" pitchFamily="34" charset="-122"/>
                <a:cs typeface="Calibri" pitchFamily="34" charset="-120"/>
              </a:rPr>
              <a:t>Medium</a:t>
            </a:r>
            <a:endParaRPr lang="en-US" sz="1300" dirty="0"/>
          </a:p>
        </p:txBody>
      </p:sp>
      <p:sp>
        <p:nvSpPr>
          <p:cNvPr id="18" name="Text 15"/>
          <p:cNvSpPr txBox="1"/>
          <p:nvPr/>
        </p:nvSpPr>
        <p:spPr>
          <a:xfrm>
            <a:off x="9189720" y="4261104"/>
            <a:ext cx="1463040" cy="237744"/>
          </a:xfrm>
          <a:prstGeom prst="rect">
            <a:avLst/>
          </a:prstGeom>
          <a:noFill/>
          <a:ln/>
        </p:spPr>
        <p:txBody>
          <a:bodyPr wrap="square" lIns="0" tIns="0" rIns="0" bIns="0" rtlCol="0" anchor="ctr"/>
          <a:lstStyle/>
          <a:p>
            <a:pPr indent="0" marL="0">
              <a:buNone/>
            </a:pPr>
            <a:r>
              <a:rPr lang="en-US" sz="1150" dirty="0">
                <a:solidFill>
                  <a:srgbClr val="6E7D73"/>
                </a:solidFill>
                <a:latin typeface="Calibri" pitchFamily="34" charset="0"/>
                <a:ea typeface="Calibri" pitchFamily="34" charset="-122"/>
                <a:cs typeface="Calibri" pitchFamily="34" charset="-120"/>
              </a:rPr>
              <a:t>9 risks</a:t>
            </a:r>
            <a:endParaRPr lang="en-US" sz="1150" dirty="0"/>
          </a:p>
        </p:txBody>
      </p:sp>
      <p:sp>
        <p:nvSpPr>
          <p:cNvPr id="19" name="Shape 16"/>
          <p:cNvSpPr/>
          <p:nvPr/>
        </p:nvSpPr>
        <p:spPr>
          <a:xfrm>
            <a:off x="8275320" y="4791456"/>
            <a:ext cx="777240" cy="384048"/>
          </a:xfrm>
          <a:prstGeom prst="roundRect">
            <a:avLst>
              <a:gd name="adj" fmla="val 23810"/>
            </a:avLst>
          </a:prstGeom>
          <a:solidFill>
            <a:srgbClr val="2F5D3A"/>
          </a:solidFill>
          <a:ln w="12700">
            <a:solidFill>
              <a:srgbClr val="2F5D3A"/>
            </a:solidFill>
            <a:prstDash val="solid"/>
          </a:ln>
        </p:spPr>
      </p:sp>
      <p:sp>
        <p:nvSpPr>
          <p:cNvPr id="20" name="Text 17"/>
          <p:cNvSpPr txBox="1"/>
          <p:nvPr/>
        </p:nvSpPr>
        <p:spPr>
          <a:xfrm>
            <a:off x="8275320" y="4864608"/>
            <a:ext cx="77724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 – 3</a:t>
            </a:r>
            <a:endParaRPr lang="en-US" sz="1100" dirty="0"/>
          </a:p>
        </p:txBody>
      </p:sp>
      <p:sp>
        <p:nvSpPr>
          <p:cNvPr id="21" name="Text 18"/>
          <p:cNvSpPr txBox="1"/>
          <p:nvPr/>
        </p:nvSpPr>
        <p:spPr>
          <a:xfrm>
            <a:off x="9189720" y="4809744"/>
            <a:ext cx="1097280" cy="256032"/>
          </a:xfrm>
          <a:prstGeom prst="rect">
            <a:avLst/>
          </a:prstGeom>
          <a:noFill/>
          <a:ln/>
        </p:spPr>
        <p:txBody>
          <a:bodyPr wrap="square" lIns="0" tIns="0" rIns="0" bIns="0" rtlCol="0" anchor="ctr"/>
          <a:lstStyle/>
          <a:p>
            <a:pPr indent="0" marL="0">
              <a:buNone/>
            </a:pPr>
            <a:r>
              <a:rPr lang="en-US" sz="1300" b="1" dirty="0">
                <a:solidFill>
                  <a:srgbClr val="16241D"/>
                </a:solidFill>
                <a:latin typeface="Calibri" pitchFamily="34" charset="0"/>
                <a:ea typeface="Calibri" pitchFamily="34" charset="-122"/>
                <a:cs typeface="Calibri" pitchFamily="34" charset="-120"/>
              </a:rPr>
              <a:t>Low</a:t>
            </a:r>
            <a:endParaRPr lang="en-US" sz="1300" dirty="0"/>
          </a:p>
        </p:txBody>
      </p:sp>
      <p:sp>
        <p:nvSpPr>
          <p:cNvPr id="22" name="Text 19"/>
          <p:cNvSpPr txBox="1"/>
          <p:nvPr/>
        </p:nvSpPr>
        <p:spPr>
          <a:xfrm>
            <a:off x="9189720" y="5010912"/>
            <a:ext cx="1463040" cy="237744"/>
          </a:xfrm>
          <a:prstGeom prst="rect">
            <a:avLst/>
          </a:prstGeom>
          <a:noFill/>
          <a:ln/>
        </p:spPr>
        <p:txBody>
          <a:bodyPr wrap="square" lIns="0" tIns="0" rIns="0" bIns="0" rtlCol="0" anchor="ctr"/>
          <a:lstStyle/>
          <a:p>
            <a:pPr indent="0" marL="0">
              <a:buNone/>
            </a:pPr>
            <a:r>
              <a:rPr lang="en-US" sz="1150" dirty="0">
                <a:solidFill>
                  <a:srgbClr val="6E7D73"/>
                </a:solidFill>
                <a:latin typeface="Calibri" pitchFamily="34" charset="0"/>
                <a:ea typeface="Calibri" pitchFamily="34" charset="-122"/>
                <a:cs typeface="Calibri" pitchFamily="34" charset="-120"/>
              </a:rPr>
              <a:t>2 risks</a:t>
            </a:r>
            <a:endParaRPr lang="en-US" sz="1150" dirty="0"/>
          </a:p>
        </p:txBody>
      </p:sp>
      <p:sp>
        <p:nvSpPr>
          <p:cNvPr id="23" name="Text 20"/>
          <p:cNvSpPr txBox="1"/>
          <p:nvPr/>
        </p:nvSpPr>
        <p:spPr>
          <a:xfrm>
            <a:off x="8275320" y="5376672"/>
            <a:ext cx="3017520" cy="411480"/>
          </a:xfrm>
          <a:prstGeom prst="rect">
            <a:avLst/>
          </a:prstGeom>
          <a:noFill/>
          <a:ln/>
        </p:spPr>
        <p:txBody>
          <a:bodyPr wrap="square" lIns="0" tIns="0" rIns="0" bIns="0" rtlCol="0" anchor="t"/>
          <a:lstStyle/>
          <a:p>
            <a:pPr indent="0" marL="0">
              <a:lnSpc>
                <a:spcPts val="1400"/>
              </a:lnSpc>
              <a:buNone/>
            </a:pPr>
            <a:r>
              <a:rPr lang="en-US" sz="1100" i="1" dirty="0">
                <a:solidFill>
                  <a:srgbClr val="16241D"/>
                </a:solidFill>
                <a:latin typeface="Calibri" pitchFamily="34" charset="0"/>
                <a:ea typeface="Calibri" pitchFamily="34" charset="-122"/>
                <a:cs typeface="Calibri" pitchFamily="34" charset="-120"/>
              </a:rPr>
              <a:t>Each has a mitigation, a contingency and a named owner.</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HIGHEST RISKS</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Katlontle Seiphetlho</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The three we watch most closely</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31</a:t>
            </a:r>
            <a:endParaRPr lang="en-US" sz="1000" dirty="0"/>
          </a:p>
        </p:txBody>
      </p:sp>
      <p:sp>
        <p:nvSpPr>
          <p:cNvPr id="7" name="Shape 5"/>
          <p:cNvSpPr/>
          <p:nvPr/>
        </p:nvSpPr>
        <p:spPr>
          <a:xfrm>
            <a:off x="640080" y="1783080"/>
            <a:ext cx="10899648" cy="1243584"/>
          </a:xfrm>
          <a:prstGeom prst="roundRect">
            <a:avLst>
              <a:gd name="adj" fmla="val 6618"/>
            </a:avLst>
          </a:prstGeom>
          <a:solidFill>
            <a:srgbClr val="F7EFE9"/>
          </a:solidFill>
          <a:ln w="12700">
            <a:solidFill>
              <a:srgbClr val="F7EFE9"/>
            </a:solidFill>
            <a:prstDash val="solid"/>
          </a:ln>
        </p:spPr>
      </p:sp>
      <p:sp>
        <p:nvSpPr>
          <p:cNvPr id="8" name="Text 6"/>
          <p:cNvSpPr txBox="1"/>
          <p:nvPr/>
        </p:nvSpPr>
        <p:spPr>
          <a:xfrm>
            <a:off x="932688" y="1965960"/>
            <a:ext cx="731520" cy="292608"/>
          </a:xfrm>
          <a:prstGeom prst="rect">
            <a:avLst/>
          </a:prstGeom>
          <a:noFill/>
          <a:ln/>
        </p:spPr>
        <p:txBody>
          <a:bodyPr wrap="square" lIns="0" tIns="0" rIns="0" bIns="0" rtlCol="0" anchor="ctr"/>
          <a:lstStyle/>
          <a:p>
            <a:pPr indent="0" marL="0">
              <a:buNone/>
            </a:pPr>
            <a:r>
              <a:rPr lang="en-US" sz="1400" b="1" dirty="0">
                <a:solidFill>
                  <a:srgbClr val="AE5C34"/>
                </a:solidFill>
                <a:latin typeface="Calibri" pitchFamily="34" charset="0"/>
                <a:ea typeface="Calibri" pitchFamily="34" charset="-122"/>
                <a:cs typeface="Calibri" pitchFamily="34" charset="-120"/>
              </a:rPr>
              <a:t>R01</a:t>
            </a:r>
            <a:endParaRPr lang="en-US" sz="1400" dirty="0"/>
          </a:p>
        </p:txBody>
      </p:sp>
      <p:sp>
        <p:nvSpPr>
          <p:cNvPr id="9" name="Text 7"/>
          <p:cNvSpPr txBox="1"/>
          <p:nvPr/>
        </p:nvSpPr>
        <p:spPr>
          <a:xfrm>
            <a:off x="932688" y="2295144"/>
            <a:ext cx="3200400" cy="548640"/>
          </a:xfrm>
          <a:prstGeom prst="rect">
            <a:avLst/>
          </a:prstGeom>
          <a:noFill/>
          <a:ln/>
        </p:spPr>
        <p:txBody>
          <a:bodyPr wrap="square" lIns="0" tIns="0" rIns="0" bIns="0" rtlCol="0" anchor="t"/>
          <a:lstStyle/>
          <a:p>
            <a:pPr indent="0" marL="0">
              <a:lnSpc>
                <a:spcPts val="1800"/>
              </a:lnSpc>
              <a:buNone/>
            </a:pPr>
            <a:r>
              <a:rPr lang="en-US" sz="1450" b="1" dirty="0">
                <a:solidFill>
                  <a:srgbClr val="16241D"/>
                </a:solidFill>
                <a:latin typeface="Calibri" pitchFamily="34" charset="0"/>
                <a:ea typeface="Calibri" pitchFamily="34" charset="-122"/>
                <a:cs typeface="Calibri" pitchFamily="34" charset="-120"/>
              </a:rPr>
              <a:t>Development time is insufficient</a:t>
            </a:r>
            <a:endParaRPr lang="en-US" sz="1450" dirty="0"/>
          </a:p>
        </p:txBody>
      </p:sp>
      <p:sp>
        <p:nvSpPr>
          <p:cNvPr id="10" name="Shape 8"/>
          <p:cNvSpPr/>
          <p:nvPr/>
        </p:nvSpPr>
        <p:spPr>
          <a:xfrm>
            <a:off x="4251960" y="2002536"/>
            <a:ext cx="914400" cy="310896"/>
          </a:xfrm>
          <a:prstGeom prst="roundRect">
            <a:avLst>
              <a:gd name="adj" fmla="val 50000"/>
            </a:avLst>
          </a:prstGeom>
          <a:solidFill>
            <a:srgbClr val="AE5C34"/>
          </a:solidFill>
          <a:ln w="12700">
            <a:solidFill>
              <a:srgbClr val="AE5C34"/>
            </a:solidFill>
            <a:prstDash val="solid"/>
          </a:ln>
        </p:spPr>
      </p:sp>
      <p:sp>
        <p:nvSpPr>
          <p:cNvPr id="11" name="Text 9"/>
          <p:cNvSpPr txBox="1"/>
          <p:nvPr/>
        </p:nvSpPr>
        <p:spPr>
          <a:xfrm>
            <a:off x="4251960" y="2052828"/>
            <a:ext cx="914400" cy="21945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9 · High</a:t>
            </a:r>
            <a:endParaRPr lang="en-US" sz="950" dirty="0"/>
          </a:p>
        </p:txBody>
      </p:sp>
      <p:sp>
        <p:nvSpPr>
          <p:cNvPr id="12" name="Text 10"/>
          <p:cNvSpPr txBox="1"/>
          <p:nvPr/>
        </p:nvSpPr>
        <p:spPr>
          <a:xfrm>
            <a:off x="4251960" y="2404872"/>
            <a:ext cx="3291840" cy="512064"/>
          </a:xfrm>
          <a:prstGeom prst="rect">
            <a:avLst/>
          </a:prstGeom>
          <a:noFill/>
          <a:ln/>
        </p:spPr>
        <p:txBody>
          <a:bodyPr wrap="square" lIns="0" tIns="0" rIns="0" bIns="0" rtlCol="0" anchor="t"/>
          <a:lstStyle/>
          <a:p>
            <a:pPr indent="0" marL="0">
              <a:lnSpc>
                <a:spcPts val="1500"/>
              </a:lnSpc>
              <a:buNone/>
            </a:pPr>
            <a:r>
              <a:rPr lang="en-US" sz="1150" dirty="0">
                <a:solidFill>
                  <a:srgbClr val="6E7D73"/>
                </a:solidFill>
                <a:latin typeface="Calibri" pitchFamily="34" charset="0"/>
                <a:ea typeface="Calibri" pitchFamily="34" charset="-122"/>
                <a:cs typeface="Calibri" pitchFamily="34" charset="-120"/>
              </a:rPr>
              <a:t>Three weeks for fourteen acceptance criteria across three components.</a:t>
            </a:r>
            <a:endParaRPr lang="en-US" sz="1150" dirty="0"/>
          </a:p>
        </p:txBody>
      </p:sp>
      <p:sp>
        <p:nvSpPr>
          <p:cNvPr id="13" name="Text 11"/>
          <p:cNvSpPr txBox="1"/>
          <p:nvPr/>
        </p:nvSpPr>
        <p:spPr>
          <a:xfrm>
            <a:off x="7772400" y="1965960"/>
            <a:ext cx="3566160" cy="256032"/>
          </a:xfrm>
          <a:prstGeom prst="rect">
            <a:avLst/>
          </a:prstGeom>
          <a:noFill/>
          <a:ln/>
        </p:spPr>
        <p:txBody>
          <a:bodyPr wrap="square" lIns="0" tIns="0" rIns="0" bIns="0" rtlCol="0" anchor="ctr"/>
          <a:lstStyle/>
          <a:p>
            <a:pPr indent="0" marL="0">
              <a:buNone/>
            </a:pPr>
            <a:r>
              <a:rPr lang="en-US" sz="1050" b="1" dirty="0">
                <a:solidFill>
                  <a:srgbClr val="1F6F6B"/>
                </a:solidFill>
                <a:latin typeface="Calibri" pitchFamily="34" charset="0"/>
                <a:ea typeface="Calibri" pitchFamily="34" charset="-122"/>
                <a:cs typeface="Calibri" pitchFamily="34" charset="-120"/>
              </a:rPr>
              <a:t>What we are doing about it</a:t>
            </a:r>
            <a:endParaRPr lang="en-US" sz="1050" dirty="0"/>
          </a:p>
        </p:txBody>
      </p:sp>
      <p:sp>
        <p:nvSpPr>
          <p:cNvPr id="14" name="Text 12"/>
          <p:cNvSpPr txBox="1"/>
          <p:nvPr/>
        </p:nvSpPr>
        <p:spPr>
          <a:xfrm>
            <a:off x="7772400" y="2240280"/>
            <a:ext cx="3566160" cy="694944"/>
          </a:xfrm>
          <a:prstGeom prst="rect">
            <a:avLst/>
          </a:prstGeom>
          <a:noFill/>
          <a:ln/>
        </p:spPr>
        <p:txBody>
          <a:bodyPr wrap="square" lIns="0" tIns="0" rIns="0" bIns="0" rtlCol="0" anchor="t"/>
          <a:lstStyle/>
          <a:p>
            <a:pPr indent="0" marL="0">
              <a:lnSpc>
                <a:spcPts val="1500"/>
              </a:lnSpc>
              <a:buNone/>
            </a:pPr>
            <a:r>
              <a:rPr lang="en-US" sz="1150" dirty="0">
                <a:solidFill>
                  <a:srgbClr val="16241D"/>
                </a:solidFill>
                <a:latin typeface="Calibri" pitchFamily="34" charset="0"/>
                <a:ea typeface="Calibri" pitchFamily="34" charset="-122"/>
                <a:cs typeface="Calibri" pitchFamily="34" charset="-120"/>
              </a:rPr>
              <a:t>Plan backwards from the criteria. Sequence the backend first. One named owner per component.</a:t>
            </a:r>
            <a:endParaRPr lang="en-US" sz="1150" dirty="0"/>
          </a:p>
        </p:txBody>
      </p:sp>
      <p:sp>
        <p:nvSpPr>
          <p:cNvPr id="15" name="Shape 13"/>
          <p:cNvSpPr/>
          <p:nvPr/>
        </p:nvSpPr>
        <p:spPr>
          <a:xfrm>
            <a:off x="640080" y="3200400"/>
            <a:ext cx="10899648" cy="1243584"/>
          </a:xfrm>
          <a:prstGeom prst="roundRect">
            <a:avLst>
              <a:gd name="adj" fmla="val 6618"/>
            </a:avLst>
          </a:prstGeom>
          <a:solidFill>
            <a:srgbClr val="FFFFFF"/>
          </a:solidFill>
          <a:ln w="12700">
            <a:solidFill>
              <a:srgbClr val="E0E7E1"/>
            </a:solidFill>
            <a:prstDash val="solid"/>
          </a:ln>
        </p:spPr>
      </p:sp>
      <p:sp>
        <p:nvSpPr>
          <p:cNvPr id="16" name="Text 14"/>
          <p:cNvSpPr txBox="1"/>
          <p:nvPr/>
        </p:nvSpPr>
        <p:spPr>
          <a:xfrm>
            <a:off x="932688" y="3383280"/>
            <a:ext cx="731520" cy="292608"/>
          </a:xfrm>
          <a:prstGeom prst="rect">
            <a:avLst/>
          </a:prstGeom>
          <a:noFill/>
          <a:ln/>
        </p:spPr>
        <p:txBody>
          <a:bodyPr wrap="square" lIns="0" tIns="0" rIns="0" bIns="0" rtlCol="0" anchor="ctr"/>
          <a:lstStyle/>
          <a:p>
            <a:pPr indent="0" marL="0">
              <a:buNone/>
            </a:pPr>
            <a:r>
              <a:rPr lang="en-US" sz="1400" b="1" dirty="0">
                <a:solidFill>
                  <a:srgbClr val="D9A92C"/>
                </a:solidFill>
                <a:latin typeface="Calibri" pitchFamily="34" charset="0"/>
                <a:ea typeface="Calibri" pitchFamily="34" charset="-122"/>
                <a:cs typeface="Calibri" pitchFamily="34" charset="-120"/>
              </a:rPr>
              <a:t>R02</a:t>
            </a:r>
            <a:endParaRPr lang="en-US" sz="1400" dirty="0"/>
          </a:p>
        </p:txBody>
      </p:sp>
      <p:sp>
        <p:nvSpPr>
          <p:cNvPr id="17" name="Text 15"/>
          <p:cNvSpPr txBox="1"/>
          <p:nvPr/>
        </p:nvSpPr>
        <p:spPr>
          <a:xfrm>
            <a:off x="932688" y="3712464"/>
            <a:ext cx="3200400" cy="548640"/>
          </a:xfrm>
          <a:prstGeom prst="rect">
            <a:avLst/>
          </a:prstGeom>
          <a:noFill/>
          <a:ln/>
        </p:spPr>
        <p:txBody>
          <a:bodyPr wrap="square" lIns="0" tIns="0" rIns="0" bIns="0" rtlCol="0" anchor="t"/>
          <a:lstStyle/>
          <a:p>
            <a:pPr indent="0" marL="0">
              <a:lnSpc>
                <a:spcPts val="1800"/>
              </a:lnSpc>
              <a:buNone/>
            </a:pPr>
            <a:r>
              <a:rPr lang="en-US" sz="1450" b="1" dirty="0">
                <a:solidFill>
                  <a:srgbClr val="16241D"/>
                </a:solidFill>
                <a:latin typeface="Calibri" pitchFamily="34" charset="0"/>
                <a:ea typeface="Calibri" pitchFamily="34" charset="-122"/>
                <a:cs typeface="Calibri" pitchFamily="34" charset="-120"/>
              </a:rPr>
              <a:t>Components fail to integrate</a:t>
            </a:r>
            <a:endParaRPr lang="en-US" sz="1450" dirty="0"/>
          </a:p>
        </p:txBody>
      </p:sp>
      <p:sp>
        <p:nvSpPr>
          <p:cNvPr id="18" name="Shape 16"/>
          <p:cNvSpPr/>
          <p:nvPr/>
        </p:nvSpPr>
        <p:spPr>
          <a:xfrm>
            <a:off x="4251960" y="3419856"/>
            <a:ext cx="914400" cy="310896"/>
          </a:xfrm>
          <a:prstGeom prst="roundRect">
            <a:avLst>
              <a:gd name="adj" fmla="val 50000"/>
            </a:avLst>
          </a:prstGeom>
          <a:solidFill>
            <a:srgbClr val="D9A92C"/>
          </a:solidFill>
          <a:ln w="12700">
            <a:solidFill>
              <a:srgbClr val="D9A92C"/>
            </a:solidFill>
            <a:prstDash val="solid"/>
          </a:ln>
        </p:spPr>
      </p:sp>
      <p:sp>
        <p:nvSpPr>
          <p:cNvPr id="19" name="Text 17"/>
          <p:cNvSpPr txBox="1"/>
          <p:nvPr/>
        </p:nvSpPr>
        <p:spPr>
          <a:xfrm>
            <a:off x="4251960" y="3470148"/>
            <a:ext cx="914400" cy="21945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6 · Medium</a:t>
            </a:r>
            <a:endParaRPr lang="en-US" sz="950" dirty="0"/>
          </a:p>
        </p:txBody>
      </p:sp>
      <p:sp>
        <p:nvSpPr>
          <p:cNvPr id="20" name="Text 18"/>
          <p:cNvSpPr txBox="1"/>
          <p:nvPr/>
        </p:nvSpPr>
        <p:spPr>
          <a:xfrm>
            <a:off x="4251960" y="3822192"/>
            <a:ext cx="3291840" cy="512064"/>
          </a:xfrm>
          <a:prstGeom prst="rect">
            <a:avLst/>
          </a:prstGeom>
          <a:noFill/>
          <a:ln/>
        </p:spPr>
        <p:txBody>
          <a:bodyPr wrap="square" lIns="0" tIns="0" rIns="0" bIns="0" rtlCol="0" anchor="t"/>
          <a:lstStyle/>
          <a:p>
            <a:pPr indent="0" marL="0">
              <a:lnSpc>
                <a:spcPts val="1500"/>
              </a:lnSpc>
              <a:buNone/>
            </a:pPr>
            <a:r>
              <a:rPr lang="en-US" sz="1150" dirty="0">
                <a:solidFill>
                  <a:srgbClr val="6E7D73"/>
                </a:solidFill>
                <a:latin typeface="Calibri" pitchFamily="34" charset="0"/>
                <a:ea typeface="Calibri" pitchFamily="34" charset="-122"/>
                <a:cs typeface="Calibri" pitchFamily="34" charset="-120"/>
              </a:rPr>
              <a:t>Parts that work alone but not together would fail the integration requirement.</a:t>
            </a:r>
            <a:endParaRPr lang="en-US" sz="1150" dirty="0"/>
          </a:p>
        </p:txBody>
      </p:sp>
      <p:sp>
        <p:nvSpPr>
          <p:cNvPr id="21" name="Text 19"/>
          <p:cNvSpPr txBox="1"/>
          <p:nvPr/>
        </p:nvSpPr>
        <p:spPr>
          <a:xfrm>
            <a:off x="7772400" y="3383280"/>
            <a:ext cx="3566160" cy="256032"/>
          </a:xfrm>
          <a:prstGeom prst="rect">
            <a:avLst/>
          </a:prstGeom>
          <a:noFill/>
          <a:ln/>
        </p:spPr>
        <p:txBody>
          <a:bodyPr wrap="square" lIns="0" tIns="0" rIns="0" bIns="0" rtlCol="0" anchor="ctr"/>
          <a:lstStyle/>
          <a:p>
            <a:pPr indent="0" marL="0">
              <a:buNone/>
            </a:pPr>
            <a:r>
              <a:rPr lang="en-US" sz="1050" b="1" dirty="0">
                <a:solidFill>
                  <a:srgbClr val="1F6F6B"/>
                </a:solidFill>
                <a:latin typeface="Calibri" pitchFamily="34" charset="0"/>
                <a:ea typeface="Calibri" pitchFamily="34" charset="-122"/>
                <a:cs typeface="Calibri" pitchFamily="34" charset="-120"/>
              </a:rPr>
              <a:t>What we are doing about it</a:t>
            </a:r>
            <a:endParaRPr lang="en-US" sz="1050" dirty="0"/>
          </a:p>
        </p:txBody>
      </p:sp>
      <p:sp>
        <p:nvSpPr>
          <p:cNvPr id="22" name="Text 20"/>
          <p:cNvSpPr txBox="1"/>
          <p:nvPr/>
        </p:nvSpPr>
        <p:spPr>
          <a:xfrm>
            <a:off x="7772400" y="3657600"/>
            <a:ext cx="3566160" cy="694944"/>
          </a:xfrm>
          <a:prstGeom prst="rect">
            <a:avLst/>
          </a:prstGeom>
          <a:noFill/>
          <a:ln/>
        </p:spPr>
        <p:txBody>
          <a:bodyPr wrap="square" lIns="0" tIns="0" rIns="0" bIns="0" rtlCol="0" anchor="t"/>
          <a:lstStyle/>
          <a:p>
            <a:pPr indent="0" marL="0">
              <a:lnSpc>
                <a:spcPts val="1500"/>
              </a:lnSpc>
              <a:buNone/>
            </a:pPr>
            <a:r>
              <a:rPr lang="en-US" sz="1150" dirty="0">
                <a:solidFill>
                  <a:srgbClr val="16241D"/>
                </a:solidFill>
                <a:latin typeface="Calibri" pitchFamily="34" charset="0"/>
                <a:ea typeface="Calibri" pitchFamily="34" charset="-122"/>
                <a:cs typeface="Calibri" pitchFamily="34" charset="-120"/>
              </a:rPr>
              <a:t>Agree field names in writing before building. Get one path working end to end early.</a:t>
            </a:r>
            <a:endParaRPr lang="en-US" sz="1150" dirty="0"/>
          </a:p>
        </p:txBody>
      </p:sp>
      <p:sp>
        <p:nvSpPr>
          <p:cNvPr id="23" name="Shape 21"/>
          <p:cNvSpPr/>
          <p:nvPr/>
        </p:nvSpPr>
        <p:spPr>
          <a:xfrm>
            <a:off x="640080" y="4617720"/>
            <a:ext cx="10899648" cy="1243584"/>
          </a:xfrm>
          <a:prstGeom prst="roundRect">
            <a:avLst>
              <a:gd name="adj" fmla="val 6618"/>
            </a:avLst>
          </a:prstGeom>
          <a:solidFill>
            <a:srgbClr val="FFFFFF"/>
          </a:solidFill>
          <a:ln w="12700">
            <a:solidFill>
              <a:srgbClr val="E0E7E1"/>
            </a:solidFill>
            <a:prstDash val="solid"/>
          </a:ln>
        </p:spPr>
      </p:sp>
      <p:sp>
        <p:nvSpPr>
          <p:cNvPr id="24" name="Text 22"/>
          <p:cNvSpPr txBox="1"/>
          <p:nvPr/>
        </p:nvSpPr>
        <p:spPr>
          <a:xfrm>
            <a:off x="932688" y="4800600"/>
            <a:ext cx="731520" cy="292608"/>
          </a:xfrm>
          <a:prstGeom prst="rect">
            <a:avLst/>
          </a:prstGeom>
          <a:noFill/>
          <a:ln/>
        </p:spPr>
        <p:txBody>
          <a:bodyPr wrap="square" lIns="0" tIns="0" rIns="0" bIns="0" rtlCol="0" anchor="ctr"/>
          <a:lstStyle/>
          <a:p>
            <a:pPr indent="0" marL="0">
              <a:buNone/>
            </a:pPr>
            <a:r>
              <a:rPr lang="en-US" sz="1400" b="1" dirty="0">
                <a:solidFill>
                  <a:srgbClr val="D9A92C"/>
                </a:solidFill>
                <a:latin typeface="Calibri" pitchFamily="34" charset="0"/>
                <a:ea typeface="Calibri" pitchFamily="34" charset="-122"/>
                <a:cs typeface="Calibri" pitchFamily="34" charset="-120"/>
              </a:rPr>
              <a:t>R04</a:t>
            </a:r>
            <a:endParaRPr lang="en-US" sz="1400" dirty="0"/>
          </a:p>
        </p:txBody>
      </p:sp>
      <p:sp>
        <p:nvSpPr>
          <p:cNvPr id="25" name="Text 23"/>
          <p:cNvSpPr txBox="1"/>
          <p:nvPr/>
        </p:nvSpPr>
        <p:spPr>
          <a:xfrm>
            <a:off x="932688" y="5129784"/>
            <a:ext cx="3200400" cy="548640"/>
          </a:xfrm>
          <a:prstGeom prst="rect">
            <a:avLst/>
          </a:prstGeom>
          <a:noFill/>
          <a:ln/>
        </p:spPr>
        <p:txBody>
          <a:bodyPr wrap="square" lIns="0" tIns="0" rIns="0" bIns="0" rtlCol="0" anchor="t"/>
          <a:lstStyle/>
          <a:p>
            <a:pPr indent="0" marL="0">
              <a:lnSpc>
                <a:spcPts val="1800"/>
              </a:lnSpc>
              <a:buNone/>
            </a:pPr>
            <a:r>
              <a:rPr lang="en-US" sz="1450" b="1" dirty="0">
                <a:solidFill>
                  <a:srgbClr val="16241D"/>
                </a:solidFill>
                <a:latin typeface="Calibri" pitchFamily="34" charset="0"/>
                <a:ea typeface="Calibri" pitchFamily="34" charset="-122"/>
                <a:cs typeface="Calibri" pitchFamily="34" charset="-120"/>
              </a:rPr>
              <a:t>Threshold values prove unsuitable</a:t>
            </a:r>
            <a:endParaRPr lang="en-US" sz="1450" dirty="0"/>
          </a:p>
        </p:txBody>
      </p:sp>
      <p:sp>
        <p:nvSpPr>
          <p:cNvPr id="26" name="Shape 24"/>
          <p:cNvSpPr/>
          <p:nvPr/>
        </p:nvSpPr>
        <p:spPr>
          <a:xfrm>
            <a:off x="4251960" y="4837176"/>
            <a:ext cx="914400" cy="310896"/>
          </a:xfrm>
          <a:prstGeom prst="roundRect">
            <a:avLst>
              <a:gd name="adj" fmla="val 50000"/>
            </a:avLst>
          </a:prstGeom>
          <a:solidFill>
            <a:srgbClr val="D9A92C"/>
          </a:solidFill>
          <a:ln w="12700">
            <a:solidFill>
              <a:srgbClr val="D9A92C"/>
            </a:solidFill>
            <a:prstDash val="solid"/>
          </a:ln>
        </p:spPr>
      </p:sp>
      <p:sp>
        <p:nvSpPr>
          <p:cNvPr id="27" name="Text 25"/>
          <p:cNvSpPr txBox="1"/>
          <p:nvPr/>
        </p:nvSpPr>
        <p:spPr>
          <a:xfrm>
            <a:off x="4251960" y="4887468"/>
            <a:ext cx="914400" cy="21945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6 · Medium</a:t>
            </a:r>
            <a:endParaRPr lang="en-US" sz="950" dirty="0"/>
          </a:p>
        </p:txBody>
      </p:sp>
      <p:sp>
        <p:nvSpPr>
          <p:cNvPr id="28" name="Text 26"/>
          <p:cNvSpPr txBox="1"/>
          <p:nvPr/>
        </p:nvSpPr>
        <p:spPr>
          <a:xfrm>
            <a:off x="4251960" y="5239512"/>
            <a:ext cx="3291840" cy="512064"/>
          </a:xfrm>
          <a:prstGeom prst="rect">
            <a:avLst/>
          </a:prstGeom>
          <a:noFill/>
          <a:ln/>
        </p:spPr>
        <p:txBody>
          <a:bodyPr wrap="square" lIns="0" tIns="0" rIns="0" bIns="0" rtlCol="0" anchor="t"/>
          <a:lstStyle/>
          <a:p>
            <a:pPr indent="0" marL="0">
              <a:lnSpc>
                <a:spcPts val="1500"/>
              </a:lnSpc>
              <a:buNone/>
            </a:pPr>
            <a:r>
              <a:rPr lang="en-US" sz="1150" dirty="0">
                <a:solidFill>
                  <a:srgbClr val="6E7D73"/>
                </a:solidFill>
                <a:latin typeface="Calibri" pitchFamily="34" charset="0"/>
                <a:ea typeface="Calibri" pitchFamily="34" charset="-122"/>
                <a:cs typeface="Calibri" pitchFamily="34" charset="-120"/>
              </a:rPr>
              <a:t>Alerts that fire when nothing is wrong would undermine the whole system.</a:t>
            </a:r>
            <a:endParaRPr lang="en-US" sz="1150" dirty="0"/>
          </a:p>
        </p:txBody>
      </p:sp>
      <p:sp>
        <p:nvSpPr>
          <p:cNvPr id="29" name="Text 27"/>
          <p:cNvSpPr txBox="1"/>
          <p:nvPr/>
        </p:nvSpPr>
        <p:spPr>
          <a:xfrm>
            <a:off x="7772400" y="4800600"/>
            <a:ext cx="3566160" cy="256032"/>
          </a:xfrm>
          <a:prstGeom prst="rect">
            <a:avLst/>
          </a:prstGeom>
          <a:noFill/>
          <a:ln/>
        </p:spPr>
        <p:txBody>
          <a:bodyPr wrap="square" lIns="0" tIns="0" rIns="0" bIns="0" rtlCol="0" anchor="ctr"/>
          <a:lstStyle/>
          <a:p>
            <a:pPr indent="0" marL="0">
              <a:buNone/>
            </a:pPr>
            <a:r>
              <a:rPr lang="en-US" sz="1050" b="1" dirty="0">
                <a:solidFill>
                  <a:srgbClr val="1F6F6B"/>
                </a:solidFill>
                <a:latin typeface="Calibri" pitchFamily="34" charset="0"/>
                <a:ea typeface="Calibri" pitchFamily="34" charset="-122"/>
                <a:cs typeface="Calibri" pitchFamily="34" charset="-120"/>
              </a:rPr>
              <a:t>What we are doing about it</a:t>
            </a:r>
            <a:endParaRPr lang="en-US" sz="1050" dirty="0"/>
          </a:p>
        </p:txBody>
      </p:sp>
      <p:sp>
        <p:nvSpPr>
          <p:cNvPr id="30" name="Text 28"/>
          <p:cNvSpPr txBox="1"/>
          <p:nvPr/>
        </p:nvSpPr>
        <p:spPr>
          <a:xfrm>
            <a:off x="7772400" y="5074920"/>
            <a:ext cx="3566160" cy="694944"/>
          </a:xfrm>
          <a:prstGeom prst="rect">
            <a:avLst/>
          </a:prstGeom>
          <a:noFill/>
          <a:ln/>
        </p:spPr>
        <p:txBody>
          <a:bodyPr wrap="square" lIns="0" tIns="0" rIns="0" bIns="0" rtlCol="0" anchor="t"/>
          <a:lstStyle/>
          <a:p>
            <a:pPr indent="0" marL="0">
              <a:lnSpc>
                <a:spcPts val="1500"/>
              </a:lnSpc>
              <a:buNone/>
            </a:pPr>
            <a:r>
              <a:rPr lang="en-US" sz="1150" dirty="0">
                <a:solidFill>
                  <a:srgbClr val="16241D"/>
                </a:solidFill>
                <a:latin typeface="Calibri" pitchFamily="34" charset="0"/>
                <a:ea typeface="Calibri" pitchFamily="34" charset="-122"/>
                <a:cs typeface="Calibri" pitchFamily="34" charset="-120"/>
              </a:rPr>
              <a:t>Values agreed as a starting point with the stakeholder. Every one configurable.</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SCOPE</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Katlontle Seiphetlho</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What we set aside, and why</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32</a:t>
            </a:r>
            <a:endParaRPr lang="en-US" sz="1000" dirty="0"/>
          </a:p>
        </p:txBody>
      </p:sp>
      <p:sp>
        <p:nvSpPr>
          <p:cNvPr id="7" name="Shape 5"/>
          <p:cNvSpPr/>
          <p:nvPr/>
        </p:nvSpPr>
        <p:spPr>
          <a:xfrm>
            <a:off x="640080" y="1783080"/>
            <a:ext cx="2542032" cy="3749040"/>
          </a:xfrm>
          <a:prstGeom prst="roundRect">
            <a:avLst>
              <a:gd name="adj" fmla="val 3237"/>
            </a:avLst>
          </a:prstGeom>
          <a:solidFill>
            <a:srgbClr val="FFFFFF"/>
          </a:solidFill>
          <a:ln w="12700">
            <a:solidFill>
              <a:srgbClr val="E0E7E1"/>
            </a:solidFill>
            <a:prstDash val="solid"/>
          </a:ln>
        </p:spPr>
      </p:sp>
      <p:sp>
        <p:nvSpPr>
          <p:cNvPr id="8" name="Shape 6"/>
          <p:cNvSpPr/>
          <p:nvPr/>
        </p:nvSpPr>
        <p:spPr>
          <a:xfrm>
            <a:off x="877824" y="2011680"/>
            <a:ext cx="1371600" cy="329184"/>
          </a:xfrm>
          <a:prstGeom prst="roundRect">
            <a:avLst>
              <a:gd name="adj" fmla="val 50000"/>
            </a:avLst>
          </a:prstGeom>
          <a:solidFill>
            <a:srgbClr val="E7EFE7"/>
          </a:solidFill>
          <a:ln w="12700">
            <a:solidFill>
              <a:srgbClr val="E7EFE7"/>
            </a:solidFill>
            <a:prstDash val="solid"/>
          </a:ln>
        </p:spPr>
      </p:sp>
      <p:sp>
        <p:nvSpPr>
          <p:cNvPr id="9" name="Text 7"/>
          <p:cNvSpPr txBox="1"/>
          <p:nvPr/>
        </p:nvSpPr>
        <p:spPr>
          <a:xfrm>
            <a:off x="877824" y="2061972"/>
            <a:ext cx="1371600" cy="237744"/>
          </a:xfrm>
          <a:prstGeom prst="rect">
            <a:avLst/>
          </a:prstGeom>
          <a:noFill/>
          <a:ln/>
        </p:spPr>
        <p:txBody>
          <a:bodyPr wrap="square" lIns="0" tIns="0" rIns="0" bIns="0" rtlCol="0" anchor="ctr"/>
          <a:lstStyle/>
          <a:p>
            <a:pPr algn="ctr" indent="0" marL="0">
              <a:buNone/>
            </a:pPr>
            <a:r>
              <a:rPr lang="en-US" sz="1100" b="1" dirty="0">
                <a:solidFill>
                  <a:srgbClr val="2F5D3A"/>
                </a:solidFill>
                <a:latin typeface="Calibri" pitchFamily="34" charset="0"/>
                <a:ea typeface="Calibri" pitchFamily="34" charset="-122"/>
                <a:cs typeface="Calibri" pitchFamily="34" charset="-120"/>
              </a:rPr>
              <a:t>Keep</a:t>
            </a:r>
            <a:endParaRPr lang="en-US" sz="1100" dirty="0"/>
          </a:p>
        </p:txBody>
      </p:sp>
      <p:sp>
        <p:nvSpPr>
          <p:cNvPr id="10" name="Text 8"/>
          <p:cNvSpPr txBox="1"/>
          <p:nvPr/>
        </p:nvSpPr>
        <p:spPr>
          <a:xfrm>
            <a:off x="877824" y="2523744"/>
            <a:ext cx="2103120" cy="365760"/>
          </a:xfrm>
          <a:prstGeom prst="rect">
            <a:avLst/>
          </a:prstGeom>
          <a:noFill/>
          <a:ln/>
        </p:spPr>
        <p:txBody>
          <a:bodyPr wrap="square" lIns="0" tIns="0" rIns="0" bIns="0" rtlCol="0" anchor="ctr"/>
          <a:lstStyle/>
          <a:p>
            <a:pPr indent="0" marL="0">
              <a:buNone/>
            </a:pPr>
            <a:r>
              <a:rPr lang="en-US" sz="1900" b="1" dirty="0">
                <a:solidFill>
                  <a:srgbClr val="16241D"/>
                </a:solidFill>
                <a:latin typeface="Cambria" pitchFamily="34" charset="0"/>
                <a:ea typeface="Cambria" pitchFamily="34" charset="-122"/>
                <a:cs typeface="Cambria" pitchFamily="34" charset="-120"/>
              </a:rPr>
              <a:t>13 functions</a:t>
            </a:r>
            <a:endParaRPr lang="en-US" sz="1900" dirty="0"/>
          </a:p>
        </p:txBody>
      </p:sp>
      <p:sp>
        <p:nvSpPr>
          <p:cNvPr id="11" name="Text 9"/>
          <p:cNvSpPr txBox="1"/>
          <p:nvPr/>
        </p:nvSpPr>
        <p:spPr>
          <a:xfrm>
            <a:off x="877824" y="3017520"/>
            <a:ext cx="2084832" cy="2286000"/>
          </a:xfrm>
          <a:prstGeom prst="rect">
            <a:avLst/>
          </a:prstGeom>
          <a:noFill/>
          <a:ln/>
        </p:spPr>
        <p:txBody>
          <a:bodyPr wrap="square" lIns="0" tIns="0" rIns="0" bIns="0" rtlCol="0" anchor="t"/>
          <a:lstStyle/>
          <a:p>
            <a:pPr indent="0" marL="0">
              <a:lnSpc>
                <a:spcPts val="1600"/>
              </a:lnSpc>
              <a:buNone/>
            </a:pPr>
            <a:r>
              <a:rPr lang="en-US" sz="1150" dirty="0">
                <a:solidFill>
                  <a:srgbClr val="6E7D73"/>
                </a:solidFill>
                <a:latin typeface="Calibri" pitchFamily="34" charset="0"/>
                <a:ea typeface="Calibri" pitchFamily="34" charset="-122"/>
                <a:cs typeface="Calibri" pitchFamily="34" charset="-120"/>
              </a:rPr>
              <a:t>Everything covered by the acceptance criteria: access control, dashboards, locations, sensors, readings, equipment status, thresholds, alerts, history, comparison, administration, export.</a:t>
            </a:r>
            <a:endParaRPr lang="en-US" sz="1150" dirty="0"/>
          </a:p>
        </p:txBody>
      </p:sp>
      <p:sp>
        <p:nvSpPr>
          <p:cNvPr id="12" name="Shape 10"/>
          <p:cNvSpPr/>
          <p:nvPr/>
        </p:nvSpPr>
        <p:spPr>
          <a:xfrm>
            <a:off x="3401568" y="1783080"/>
            <a:ext cx="2542032" cy="3749040"/>
          </a:xfrm>
          <a:prstGeom prst="roundRect">
            <a:avLst>
              <a:gd name="adj" fmla="val 3237"/>
            </a:avLst>
          </a:prstGeom>
          <a:solidFill>
            <a:srgbClr val="FFFFFF"/>
          </a:solidFill>
          <a:ln w="12700">
            <a:solidFill>
              <a:srgbClr val="E0E7E1"/>
            </a:solidFill>
            <a:prstDash val="solid"/>
          </a:ln>
        </p:spPr>
      </p:sp>
      <p:sp>
        <p:nvSpPr>
          <p:cNvPr id="13" name="Shape 11"/>
          <p:cNvSpPr/>
          <p:nvPr/>
        </p:nvSpPr>
        <p:spPr>
          <a:xfrm>
            <a:off x="3639312" y="2011680"/>
            <a:ext cx="1371600" cy="329184"/>
          </a:xfrm>
          <a:prstGeom prst="roundRect">
            <a:avLst>
              <a:gd name="adj" fmla="val 50000"/>
            </a:avLst>
          </a:prstGeom>
          <a:solidFill>
            <a:srgbClr val="DCEBEA"/>
          </a:solidFill>
          <a:ln w="12700">
            <a:solidFill>
              <a:srgbClr val="DCEBEA"/>
            </a:solidFill>
            <a:prstDash val="solid"/>
          </a:ln>
        </p:spPr>
      </p:sp>
      <p:sp>
        <p:nvSpPr>
          <p:cNvPr id="14" name="Text 12"/>
          <p:cNvSpPr txBox="1"/>
          <p:nvPr/>
        </p:nvSpPr>
        <p:spPr>
          <a:xfrm>
            <a:off x="3639312" y="2061972"/>
            <a:ext cx="1371600" cy="237744"/>
          </a:xfrm>
          <a:prstGeom prst="rect">
            <a:avLst/>
          </a:prstGeom>
          <a:noFill/>
          <a:ln/>
        </p:spPr>
        <p:txBody>
          <a:bodyPr wrap="square" lIns="0" tIns="0" rIns="0" bIns="0" rtlCol="0" anchor="ctr"/>
          <a:lstStyle/>
          <a:p>
            <a:pPr algn="ctr" indent="0" marL="0">
              <a:buNone/>
            </a:pPr>
            <a:r>
              <a:rPr lang="en-US" sz="1100" b="1" dirty="0">
                <a:solidFill>
                  <a:srgbClr val="1F6F6B"/>
                </a:solidFill>
                <a:latin typeface="Calibri" pitchFamily="34" charset="0"/>
                <a:ea typeface="Calibri" pitchFamily="34" charset="-122"/>
                <a:cs typeface="Calibri" pitchFamily="34" charset="-120"/>
              </a:rPr>
              <a:t>Simplify</a:t>
            </a:r>
            <a:endParaRPr lang="en-US" sz="1100" dirty="0"/>
          </a:p>
        </p:txBody>
      </p:sp>
      <p:sp>
        <p:nvSpPr>
          <p:cNvPr id="15" name="Text 13"/>
          <p:cNvSpPr txBox="1"/>
          <p:nvPr/>
        </p:nvSpPr>
        <p:spPr>
          <a:xfrm>
            <a:off x="3639312" y="2523744"/>
            <a:ext cx="2103120" cy="365760"/>
          </a:xfrm>
          <a:prstGeom prst="rect">
            <a:avLst/>
          </a:prstGeom>
          <a:noFill/>
          <a:ln/>
        </p:spPr>
        <p:txBody>
          <a:bodyPr wrap="square" lIns="0" tIns="0" rIns="0" bIns="0" rtlCol="0" anchor="ctr"/>
          <a:lstStyle/>
          <a:p>
            <a:pPr indent="0" marL="0">
              <a:buNone/>
            </a:pPr>
            <a:r>
              <a:rPr lang="en-US" sz="1900" b="1" dirty="0">
                <a:solidFill>
                  <a:srgbClr val="16241D"/>
                </a:solidFill>
                <a:latin typeface="Cambria" pitchFamily="34" charset="0"/>
                <a:ea typeface="Cambria" pitchFamily="34" charset="-122"/>
                <a:cs typeface="Cambria" pitchFamily="34" charset="-120"/>
              </a:rPr>
              <a:t>2 functions</a:t>
            </a:r>
            <a:endParaRPr lang="en-US" sz="1900" dirty="0"/>
          </a:p>
        </p:txBody>
      </p:sp>
      <p:sp>
        <p:nvSpPr>
          <p:cNvPr id="16" name="Text 14"/>
          <p:cNvSpPr txBox="1"/>
          <p:nvPr/>
        </p:nvSpPr>
        <p:spPr>
          <a:xfrm>
            <a:off x="3639312" y="3017520"/>
            <a:ext cx="2084832" cy="2286000"/>
          </a:xfrm>
          <a:prstGeom prst="rect">
            <a:avLst/>
          </a:prstGeom>
          <a:noFill/>
          <a:ln/>
        </p:spPr>
        <p:txBody>
          <a:bodyPr wrap="square" lIns="0" tIns="0" rIns="0" bIns="0" rtlCol="0" anchor="t"/>
          <a:lstStyle/>
          <a:p>
            <a:pPr indent="0" marL="0">
              <a:lnSpc>
                <a:spcPts val="1600"/>
              </a:lnSpc>
              <a:buNone/>
            </a:pPr>
            <a:r>
              <a:rPr lang="en-US" sz="1150" dirty="0">
                <a:solidFill>
                  <a:srgbClr val="6E7D73"/>
                </a:solidFill>
                <a:latin typeface="Calibri" pitchFamily="34" charset="0"/>
                <a:ea typeface="Calibri" pitchFamily="34" charset="-122"/>
                <a:cs typeface="Calibri" pitchFamily="34" charset="-120"/>
              </a:rPr>
              <a:t>Push notification becomes in-application alerts for the first version. Live dashboard becomes refresh on view.</a:t>
            </a:r>
            <a:endParaRPr lang="en-US" sz="1150" dirty="0"/>
          </a:p>
        </p:txBody>
      </p:sp>
      <p:sp>
        <p:nvSpPr>
          <p:cNvPr id="17" name="Shape 15"/>
          <p:cNvSpPr/>
          <p:nvPr/>
        </p:nvSpPr>
        <p:spPr>
          <a:xfrm>
            <a:off x="6163056" y="1783080"/>
            <a:ext cx="2542032" cy="3749040"/>
          </a:xfrm>
          <a:prstGeom prst="roundRect">
            <a:avLst>
              <a:gd name="adj" fmla="val 3237"/>
            </a:avLst>
          </a:prstGeom>
          <a:solidFill>
            <a:srgbClr val="FFFFFF"/>
          </a:solidFill>
          <a:ln w="12700">
            <a:solidFill>
              <a:srgbClr val="E0E7E1"/>
            </a:solidFill>
            <a:prstDash val="solid"/>
          </a:ln>
        </p:spPr>
      </p:sp>
      <p:sp>
        <p:nvSpPr>
          <p:cNvPr id="18" name="Shape 16"/>
          <p:cNvSpPr/>
          <p:nvPr/>
        </p:nvSpPr>
        <p:spPr>
          <a:xfrm>
            <a:off x="6400800" y="2011680"/>
            <a:ext cx="1371600" cy="329184"/>
          </a:xfrm>
          <a:prstGeom prst="roundRect">
            <a:avLst>
              <a:gd name="adj" fmla="val 50000"/>
            </a:avLst>
          </a:prstGeom>
          <a:solidFill>
            <a:srgbClr val="FAF0D4"/>
          </a:solidFill>
          <a:ln w="12700">
            <a:solidFill>
              <a:srgbClr val="FAF0D4"/>
            </a:solidFill>
            <a:prstDash val="solid"/>
          </a:ln>
        </p:spPr>
      </p:sp>
      <p:sp>
        <p:nvSpPr>
          <p:cNvPr id="19" name="Text 17"/>
          <p:cNvSpPr txBox="1"/>
          <p:nvPr/>
        </p:nvSpPr>
        <p:spPr>
          <a:xfrm>
            <a:off x="6400800" y="2061972"/>
            <a:ext cx="1371600" cy="237744"/>
          </a:xfrm>
          <a:prstGeom prst="rect">
            <a:avLst/>
          </a:prstGeom>
          <a:noFill/>
          <a:ln/>
        </p:spPr>
        <p:txBody>
          <a:bodyPr wrap="square" lIns="0" tIns="0" rIns="0" bIns="0" rtlCol="0" anchor="ctr"/>
          <a:lstStyle/>
          <a:p>
            <a:pPr algn="ctr" indent="0" marL="0">
              <a:buNone/>
            </a:pPr>
            <a:r>
              <a:rPr lang="en-US" sz="1100" b="1" dirty="0">
                <a:solidFill>
                  <a:srgbClr val="D9A92C"/>
                </a:solidFill>
                <a:latin typeface="Calibri" pitchFamily="34" charset="0"/>
                <a:ea typeface="Calibri" pitchFamily="34" charset="-122"/>
                <a:cs typeface="Calibri" pitchFamily="34" charset="-120"/>
              </a:rPr>
              <a:t>Postpone</a:t>
            </a:r>
            <a:endParaRPr lang="en-US" sz="1100" dirty="0"/>
          </a:p>
        </p:txBody>
      </p:sp>
      <p:sp>
        <p:nvSpPr>
          <p:cNvPr id="20" name="Text 18"/>
          <p:cNvSpPr txBox="1"/>
          <p:nvPr/>
        </p:nvSpPr>
        <p:spPr>
          <a:xfrm>
            <a:off x="6400800" y="2523744"/>
            <a:ext cx="2103120" cy="365760"/>
          </a:xfrm>
          <a:prstGeom prst="rect">
            <a:avLst/>
          </a:prstGeom>
          <a:noFill/>
          <a:ln/>
        </p:spPr>
        <p:txBody>
          <a:bodyPr wrap="square" lIns="0" tIns="0" rIns="0" bIns="0" rtlCol="0" anchor="ctr"/>
          <a:lstStyle/>
          <a:p>
            <a:pPr indent="0" marL="0">
              <a:buNone/>
            </a:pPr>
            <a:r>
              <a:rPr lang="en-US" sz="1900" b="1" dirty="0">
                <a:solidFill>
                  <a:srgbClr val="16241D"/>
                </a:solidFill>
                <a:latin typeface="Cambria" pitchFamily="34" charset="0"/>
                <a:ea typeface="Cambria" pitchFamily="34" charset="-122"/>
                <a:cs typeface="Cambria" pitchFamily="34" charset="-120"/>
              </a:rPr>
              <a:t>9 functions</a:t>
            </a:r>
            <a:endParaRPr lang="en-US" sz="1900" dirty="0"/>
          </a:p>
        </p:txBody>
      </p:sp>
      <p:sp>
        <p:nvSpPr>
          <p:cNvPr id="21" name="Text 19"/>
          <p:cNvSpPr txBox="1"/>
          <p:nvPr/>
        </p:nvSpPr>
        <p:spPr>
          <a:xfrm>
            <a:off x="6400800" y="3017520"/>
            <a:ext cx="2084832" cy="2286000"/>
          </a:xfrm>
          <a:prstGeom prst="rect">
            <a:avLst/>
          </a:prstGeom>
          <a:noFill/>
          <a:ln/>
        </p:spPr>
        <p:txBody>
          <a:bodyPr wrap="square" lIns="0" tIns="0" rIns="0" bIns="0" rtlCol="0" anchor="t"/>
          <a:lstStyle/>
          <a:p>
            <a:pPr indent="0" marL="0">
              <a:lnSpc>
                <a:spcPts val="1600"/>
              </a:lnSpc>
              <a:buNone/>
            </a:pPr>
            <a:r>
              <a:rPr lang="en-US" sz="1150" dirty="0">
                <a:solidFill>
                  <a:srgbClr val="6E7D73"/>
                </a:solidFill>
                <a:latin typeface="Calibri" pitchFamily="34" charset="0"/>
                <a:ea typeface="Calibri" pitchFamily="34" charset="-122"/>
                <a:cs typeface="Calibri" pitchFamily="34" charset="-120"/>
              </a:rPr>
              <a:t>Offline mode, map view, code scanning, biometric sign-in, site photographs, weather overlay, dark mode, home screen widget, language selection.</a:t>
            </a:r>
            <a:endParaRPr lang="en-US" sz="1150" dirty="0"/>
          </a:p>
        </p:txBody>
      </p:sp>
      <p:sp>
        <p:nvSpPr>
          <p:cNvPr id="22" name="Shape 20"/>
          <p:cNvSpPr/>
          <p:nvPr/>
        </p:nvSpPr>
        <p:spPr>
          <a:xfrm>
            <a:off x="8924544" y="1783080"/>
            <a:ext cx="2542032" cy="3749040"/>
          </a:xfrm>
          <a:prstGeom prst="roundRect">
            <a:avLst>
              <a:gd name="adj" fmla="val 3237"/>
            </a:avLst>
          </a:prstGeom>
          <a:solidFill>
            <a:srgbClr val="FFFFFF"/>
          </a:solidFill>
          <a:ln w="12700">
            <a:solidFill>
              <a:srgbClr val="E0E7E1"/>
            </a:solidFill>
            <a:prstDash val="solid"/>
          </a:ln>
        </p:spPr>
      </p:sp>
      <p:sp>
        <p:nvSpPr>
          <p:cNvPr id="23" name="Shape 21"/>
          <p:cNvSpPr/>
          <p:nvPr/>
        </p:nvSpPr>
        <p:spPr>
          <a:xfrm>
            <a:off x="9162288" y="2011680"/>
            <a:ext cx="1371600" cy="329184"/>
          </a:xfrm>
          <a:prstGeom prst="roundRect">
            <a:avLst>
              <a:gd name="adj" fmla="val 50000"/>
            </a:avLst>
          </a:prstGeom>
          <a:solidFill>
            <a:srgbClr val="F4E0D6"/>
          </a:solidFill>
          <a:ln w="12700">
            <a:solidFill>
              <a:srgbClr val="F4E0D6"/>
            </a:solidFill>
            <a:prstDash val="solid"/>
          </a:ln>
        </p:spPr>
      </p:sp>
      <p:sp>
        <p:nvSpPr>
          <p:cNvPr id="24" name="Text 22"/>
          <p:cNvSpPr txBox="1"/>
          <p:nvPr/>
        </p:nvSpPr>
        <p:spPr>
          <a:xfrm>
            <a:off x="9162288" y="2061972"/>
            <a:ext cx="1371600" cy="237744"/>
          </a:xfrm>
          <a:prstGeom prst="rect">
            <a:avLst/>
          </a:prstGeom>
          <a:noFill/>
          <a:ln/>
        </p:spPr>
        <p:txBody>
          <a:bodyPr wrap="square" lIns="0" tIns="0" rIns="0" bIns="0" rtlCol="0" anchor="ctr"/>
          <a:lstStyle/>
          <a:p>
            <a:pPr algn="ctr" indent="0" marL="0">
              <a:buNone/>
            </a:pPr>
            <a:r>
              <a:rPr lang="en-US" sz="1100" b="1" dirty="0">
                <a:solidFill>
                  <a:srgbClr val="AE5C34"/>
                </a:solidFill>
                <a:latin typeface="Calibri" pitchFamily="34" charset="0"/>
                <a:ea typeface="Calibri" pitchFamily="34" charset="-122"/>
                <a:cs typeface="Calibri" pitchFamily="34" charset="-120"/>
              </a:rPr>
              <a:t>Remove</a:t>
            </a:r>
            <a:endParaRPr lang="en-US" sz="1100" dirty="0"/>
          </a:p>
        </p:txBody>
      </p:sp>
      <p:sp>
        <p:nvSpPr>
          <p:cNvPr id="25" name="Text 23"/>
          <p:cNvSpPr txBox="1"/>
          <p:nvPr/>
        </p:nvSpPr>
        <p:spPr>
          <a:xfrm>
            <a:off x="9162288" y="2523744"/>
            <a:ext cx="2103120" cy="365760"/>
          </a:xfrm>
          <a:prstGeom prst="rect">
            <a:avLst/>
          </a:prstGeom>
          <a:noFill/>
          <a:ln/>
        </p:spPr>
        <p:txBody>
          <a:bodyPr wrap="square" lIns="0" tIns="0" rIns="0" bIns="0" rtlCol="0" anchor="ctr"/>
          <a:lstStyle/>
          <a:p>
            <a:pPr indent="0" marL="0">
              <a:buNone/>
            </a:pPr>
            <a:r>
              <a:rPr lang="en-US" sz="1900" b="1" dirty="0">
                <a:solidFill>
                  <a:srgbClr val="16241D"/>
                </a:solidFill>
                <a:latin typeface="Cambria" pitchFamily="34" charset="0"/>
                <a:ea typeface="Cambria" pitchFamily="34" charset="-122"/>
                <a:cs typeface="Cambria" pitchFamily="34" charset="-120"/>
              </a:rPr>
              <a:t>2 functions</a:t>
            </a:r>
            <a:endParaRPr lang="en-US" sz="1900" dirty="0"/>
          </a:p>
        </p:txBody>
      </p:sp>
      <p:sp>
        <p:nvSpPr>
          <p:cNvPr id="26" name="Text 24"/>
          <p:cNvSpPr txBox="1"/>
          <p:nvPr/>
        </p:nvSpPr>
        <p:spPr>
          <a:xfrm>
            <a:off x="9162288" y="3017520"/>
            <a:ext cx="2084832" cy="2286000"/>
          </a:xfrm>
          <a:prstGeom prst="rect">
            <a:avLst/>
          </a:prstGeom>
          <a:noFill/>
          <a:ln/>
        </p:spPr>
        <p:txBody>
          <a:bodyPr wrap="square" lIns="0" tIns="0" rIns="0" bIns="0" rtlCol="0" anchor="t"/>
          <a:lstStyle/>
          <a:p>
            <a:pPr indent="0" marL="0">
              <a:lnSpc>
                <a:spcPts val="1600"/>
              </a:lnSpc>
              <a:buNone/>
            </a:pPr>
            <a:r>
              <a:rPr lang="en-US" sz="1150" dirty="0">
                <a:solidFill>
                  <a:srgbClr val="6E7D73"/>
                </a:solidFill>
                <a:latin typeface="Calibri" pitchFamily="34" charset="0"/>
                <a:ea typeface="Calibri" pitchFamily="34" charset="-122"/>
                <a:cs typeface="Calibri" pitchFamily="34" charset="-120"/>
              </a:rPr>
              <a:t>Advanced analytics and prediction. The stakeholder identified both as suitable for a later version.</a:t>
            </a:r>
            <a:endParaRPr lang="en-US" sz="1150" dirty="0"/>
          </a:p>
        </p:txBody>
      </p:sp>
      <p:sp>
        <p:nvSpPr>
          <p:cNvPr id="27" name="Text 25"/>
          <p:cNvSpPr txBox="1"/>
          <p:nvPr/>
        </p:nvSpPr>
        <p:spPr>
          <a:xfrm>
            <a:off x="640080" y="5760720"/>
            <a:ext cx="10881360" cy="365760"/>
          </a:xfrm>
          <a:prstGeom prst="rect">
            <a:avLst/>
          </a:prstGeom>
          <a:noFill/>
          <a:ln/>
        </p:spPr>
        <p:txBody>
          <a:bodyPr wrap="square" lIns="0" tIns="0" rIns="0" bIns="0" rtlCol="0" anchor="ctr"/>
          <a:lstStyle/>
          <a:p>
            <a:pPr indent="0" marL="0">
              <a:buNone/>
            </a:pPr>
            <a:r>
              <a:rPr lang="en-US" sz="1250" i="1" dirty="0">
                <a:solidFill>
                  <a:srgbClr val="16241D"/>
                </a:solidFill>
                <a:latin typeface="Calibri" pitchFamily="34" charset="0"/>
                <a:ea typeface="Calibri" pitchFamily="34" charset="-122"/>
                <a:cs typeface="Calibri" pitchFamily="34" charset="-120"/>
              </a:rPr>
              <a:t>Nothing was deleted quietly. All fourteen changes are recorded in the change log with their reasons.</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02336"/>
            <a:ext cx="7680960" cy="274320"/>
          </a:xfrm>
          <a:prstGeom prst="rect">
            <a:avLst/>
          </a:prstGeom>
          <a:noFill/>
          <a:ln/>
        </p:spPr>
        <p:txBody>
          <a:bodyPr wrap="square" lIns="0" tIns="0" rIns="0" bIns="0" rtlCol="0" anchor="ctr"/>
          <a:lstStyle/>
          <a:p>
            <a:pPr indent="0" marL="0">
              <a:buNone/>
            </a:pPr>
            <a:r>
              <a:rPr lang="en-US" sz="1200" b="1" spc="160" kern="0" dirty="0">
                <a:solidFill>
                  <a:srgbClr val="1F6F6B"/>
                </a:solidFill>
                <a:latin typeface="Calibri" pitchFamily="34" charset="0"/>
                <a:ea typeface="Calibri" pitchFamily="34" charset="-122"/>
                <a:cs typeface="Calibri" pitchFamily="34" charset="-120"/>
              </a:rPr>
              <a:t>THE PLAN</a:t>
            </a:r>
            <a:endParaRPr lang="en-US" sz="1200" dirty="0"/>
          </a:p>
        </p:txBody>
      </p:sp>
      <p:sp>
        <p:nvSpPr>
          <p:cNvPr id="3" name="Text 1"/>
          <p:cNvSpPr txBox="1"/>
          <p:nvPr/>
        </p:nvSpPr>
        <p:spPr>
          <a:xfrm>
            <a:off x="8412480" y="402336"/>
            <a:ext cx="3108960" cy="274320"/>
          </a:xfrm>
          <a:prstGeom prst="rect">
            <a:avLst/>
          </a:prstGeom>
          <a:noFill/>
          <a:ln/>
        </p:spPr>
        <p:txBody>
          <a:bodyPr wrap="square" lIns="0" tIns="0" rIns="0" bIns="0" rtlCol="0" anchor="ctr"/>
          <a:lstStyle/>
          <a:p>
            <a:pPr algn="r" indent="0" marL="0">
              <a:buNone/>
            </a:pPr>
            <a:r>
              <a:rPr lang="en-US" sz="1100" dirty="0">
                <a:solidFill>
                  <a:srgbClr val="6E7D73"/>
                </a:solidFill>
                <a:latin typeface="Calibri" pitchFamily="34" charset="0"/>
                <a:ea typeface="Calibri" pitchFamily="34" charset="-122"/>
                <a:cs typeface="Calibri" pitchFamily="34" charset="-120"/>
              </a:rPr>
              <a:t>Katlontle Seiphetlho</a:t>
            </a:r>
            <a:endParaRPr lang="en-US" sz="1100" dirty="0"/>
          </a:p>
        </p:txBody>
      </p:sp>
      <p:sp>
        <p:nvSpPr>
          <p:cNvPr id="4" name="Text 2"/>
          <p:cNvSpPr txBox="1"/>
          <p:nvPr/>
        </p:nvSpPr>
        <p:spPr>
          <a:xfrm>
            <a:off x="640080" y="713232"/>
            <a:ext cx="10881360" cy="868680"/>
          </a:xfrm>
          <a:prstGeom prst="rect">
            <a:avLst/>
          </a:prstGeom>
          <a:noFill/>
          <a:ln/>
        </p:spPr>
        <p:txBody>
          <a:bodyPr wrap="square" lIns="0" tIns="0" rIns="0" bIns="0" rtlCol="0" anchor="t"/>
          <a:lstStyle/>
          <a:p>
            <a:pPr indent="0" marL="0">
              <a:lnSpc>
                <a:spcPts val="3900"/>
              </a:lnSpc>
              <a:buNone/>
            </a:pPr>
            <a:r>
              <a:rPr lang="en-US" sz="3300" b="1" dirty="0">
                <a:solidFill>
                  <a:srgbClr val="16241D"/>
                </a:solidFill>
                <a:latin typeface="Cambria" pitchFamily="34" charset="0"/>
                <a:ea typeface="Cambria" pitchFamily="34" charset="-122"/>
                <a:cs typeface="Cambria" pitchFamily="34" charset="-120"/>
              </a:rPr>
              <a:t>Where we are and what comes next</a:t>
            </a:r>
            <a:endParaRPr lang="en-US" sz="3300" dirty="0"/>
          </a:p>
        </p:txBody>
      </p:sp>
      <p:sp>
        <p:nvSpPr>
          <p:cNvPr id="5" name="Text 3"/>
          <p:cNvSpPr txBox="1"/>
          <p:nvPr/>
        </p:nvSpPr>
        <p:spPr>
          <a:xfrm>
            <a:off x="640080" y="6327648"/>
            <a:ext cx="2743200" cy="274320"/>
          </a:xfrm>
          <a:prstGeom prst="rect">
            <a:avLst/>
          </a:prstGeom>
          <a:noFill/>
          <a:ln/>
        </p:spPr>
        <p:txBody>
          <a:bodyPr wrap="square" lIns="0" tIns="0" rIns="0" bIns="0" rtlCol="0" anchor="ctr"/>
          <a:lstStyle/>
          <a:p>
            <a:pPr indent="0" marL="0">
              <a:buNone/>
            </a:pPr>
            <a:r>
              <a:rPr lang="en-US" sz="1000" dirty="0">
                <a:solidFill>
                  <a:srgbClr val="6E7D73"/>
                </a:solidFill>
                <a:latin typeface="Calibri" pitchFamily="34" charset="0"/>
                <a:ea typeface="Calibri" pitchFamily="34" charset="-122"/>
                <a:cs typeface="Calibri" pitchFamily="34" charset="-120"/>
              </a:rPr>
              <a:t>Group O</a:t>
            </a:r>
            <a:endParaRPr lang="en-US" sz="1000" dirty="0"/>
          </a:p>
        </p:txBody>
      </p:sp>
      <p:sp>
        <p:nvSpPr>
          <p:cNvPr id="6" name="Text 4"/>
          <p:cNvSpPr txBox="1"/>
          <p:nvPr/>
        </p:nvSpPr>
        <p:spPr>
          <a:xfrm>
            <a:off x="10881360" y="6327648"/>
            <a:ext cx="640080" cy="274320"/>
          </a:xfrm>
          <a:prstGeom prst="rect">
            <a:avLst/>
          </a:prstGeom>
          <a:noFill/>
          <a:ln/>
        </p:spPr>
        <p:txBody>
          <a:bodyPr wrap="square" lIns="0" tIns="0" rIns="0" bIns="0" rtlCol="0" anchor="ctr"/>
          <a:lstStyle/>
          <a:p>
            <a:pPr algn="r" indent="0" marL="0">
              <a:buNone/>
            </a:pPr>
            <a:r>
              <a:rPr lang="en-US" sz="1000" dirty="0">
                <a:solidFill>
                  <a:srgbClr val="6E7D73"/>
                </a:solidFill>
                <a:latin typeface="Calibri" pitchFamily="34" charset="0"/>
                <a:ea typeface="Calibri" pitchFamily="34" charset="-122"/>
                <a:cs typeface="Calibri" pitchFamily="34" charset="-120"/>
              </a:rPr>
              <a:t>33</a:t>
            </a:r>
            <a:endParaRPr lang="en-US" sz="1000" dirty="0"/>
          </a:p>
        </p:txBody>
      </p:sp>
      <p:sp>
        <p:nvSpPr>
          <p:cNvPr id="7" name="Shape 5"/>
          <p:cNvSpPr/>
          <p:nvPr/>
        </p:nvSpPr>
        <p:spPr>
          <a:xfrm>
            <a:off x="640080" y="1783080"/>
            <a:ext cx="10899648" cy="1024128"/>
          </a:xfrm>
          <a:prstGeom prst="roundRect">
            <a:avLst>
              <a:gd name="adj" fmla="val 8036"/>
            </a:avLst>
          </a:prstGeom>
          <a:solidFill>
            <a:srgbClr val="E7EFE7"/>
          </a:solidFill>
          <a:ln w="12700">
            <a:solidFill>
              <a:srgbClr val="E7EFE7"/>
            </a:solidFill>
            <a:prstDash val="solid"/>
          </a:ln>
        </p:spPr>
      </p:sp>
      <p:sp>
        <p:nvSpPr>
          <p:cNvPr id="8" name="Text 6"/>
          <p:cNvSpPr txBox="1"/>
          <p:nvPr/>
        </p:nvSpPr>
        <p:spPr>
          <a:xfrm>
            <a:off x="960120" y="1947672"/>
            <a:ext cx="1554480" cy="329184"/>
          </a:xfrm>
          <a:prstGeom prst="rect">
            <a:avLst/>
          </a:prstGeom>
          <a:noFill/>
          <a:ln/>
        </p:spPr>
        <p:txBody>
          <a:bodyPr wrap="square" lIns="0" tIns="0" rIns="0" bIns="0" rtlCol="0" anchor="ctr"/>
          <a:lstStyle/>
          <a:p>
            <a:pPr indent="0" marL="0">
              <a:buNone/>
            </a:pPr>
            <a:r>
              <a:rPr lang="en-US" sz="1800" b="1" dirty="0">
                <a:solidFill>
                  <a:srgbClr val="2F5D3A"/>
                </a:solidFill>
                <a:latin typeface="Cambria" pitchFamily="34" charset="0"/>
                <a:ea typeface="Cambria" pitchFamily="34" charset="-122"/>
                <a:cs typeface="Cambria" pitchFamily="34" charset="-120"/>
              </a:rPr>
              <a:t>Phase 1</a:t>
            </a:r>
            <a:endParaRPr lang="en-US" sz="1800" dirty="0"/>
          </a:p>
        </p:txBody>
      </p:sp>
      <p:sp>
        <p:nvSpPr>
          <p:cNvPr id="9" name="Text 7"/>
          <p:cNvSpPr txBox="1"/>
          <p:nvPr/>
        </p:nvSpPr>
        <p:spPr>
          <a:xfrm>
            <a:off x="960120" y="2331720"/>
            <a:ext cx="2011680" cy="274320"/>
          </a:xfrm>
          <a:prstGeom prst="rect">
            <a:avLst/>
          </a:prstGeom>
          <a:noFill/>
          <a:ln/>
        </p:spPr>
        <p:txBody>
          <a:bodyPr wrap="square" lIns="0" tIns="0" rIns="0" bIns="0" rtlCol="0" anchor="ctr"/>
          <a:lstStyle/>
          <a:p>
            <a:pPr indent="0" marL="0">
              <a:buNone/>
            </a:pPr>
            <a:r>
              <a:rPr lang="en-US" sz="1200" dirty="0">
                <a:solidFill>
                  <a:srgbClr val="6E7D73"/>
                </a:solidFill>
                <a:latin typeface="Calibri" pitchFamily="34" charset="0"/>
                <a:ea typeface="Calibri" pitchFamily="34" charset="-122"/>
                <a:cs typeface="Calibri" pitchFamily="34" charset="-120"/>
              </a:rPr>
              <a:t>18 Aug – 11 Sep</a:t>
            </a:r>
            <a:endParaRPr lang="en-US" sz="1200" dirty="0"/>
          </a:p>
        </p:txBody>
      </p:sp>
      <p:sp>
        <p:nvSpPr>
          <p:cNvPr id="10" name="Text 8"/>
          <p:cNvSpPr txBox="1"/>
          <p:nvPr/>
        </p:nvSpPr>
        <p:spPr>
          <a:xfrm>
            <a:off x="3200400" y="2112264"/>
            <a:ext cx="6309360" cy="457200"/>
          </a:xfrm>
          <a:prstGeom prst="rect">
            <a:avLst/>
          </a:prstGeom>
          <a:noFill/>
          <a:ln/>
        </p:spPr>
        <p:txBody>
          <a:bodyPr wrap="square" lIns="0" tIns="0" rIns="0" bIns="0" rtlCol="0" anchor="ctr"/>
          <a:lstStyle/>
          <a:p>
            <a:pPr indent="0" marL="0">
              <a:buNone/>
            </a:pPr>
            <a:r>
              <a:rPr lang="en-US" sz="1400" dirty="0">
                <a:solidFill>
                  <a:srgbClr val="16241D"/>
                </a:solidFill>
                <a:latin typeface="Calibri" pitchFamily="34" charset="0"/>
                <a:ea typeface="Calibri" pitchFamily="34" charset="-122"/>
                <a:cs typeface="Calibri" pitchFamily="34" charset="-120"/>
              </a:rPr>
              <a:t>Problem, requirements, feasibility, risk and plan</a:t>
            </a:r>
            <a:endParaRPr lang="en-US" sz="1400" dirty="0"/>
          </a:p>
        </p:txBody>
      </p:sp>
      <p:sp>
        <p:nvSpPr>
          <p:cNvPr id="11" name="Shape 9"/>
          <p:cNvSpPr/>
          <p:nvPr/>
        </p:nvSpPr>
        <p:spPr>
          <a:xfrm>
            <a:off x="9966960" y="2130552"/>
            <a:ext cx="1280160" cy="347472"/>
          </a:xfrm>
          <a:prstGeom prst="roundRect">
            <a:avLst>
              <a:gd name="adj" fmla="val 50000"/>
            </a:avLst>
          </a:prstGeom>
          <a:solidFill>
            <a:srgbClr val="2F5D3A"/>
          </a:solidFill>
          <a:ln w="12700">
            <a:solidFill>
              <a:srgbClr val="2F5D3A"/>
            </a:solidFill>
            <a:prstDash val="solid"/>
          </a:ln>
        </p:spPr>
      </p:sp>
      <p:sp>
        <p:nvSpPr>
          <p:cNvPr id="12" name="Text 10"/>
          <p:cNvSpPr txBox="1"/>
          <p:nvPr/>
        </p:nvSpPr>
        <p:spPr>
          <a:xfrm>
            <a:off x="9966960" y="2189988"/>
            <a:ext cx="1280160"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Complete</a:t>
            </a:r>
            <a:endParaRPr lang="en-US" sz="1050" dirty="0"/>
          </a:p>
        </p:txBody>
      </p:sp>
      <p:sp>
        <p:nvSpPr>
          <p:cNvPr id="13" name="Shape 11"/>
          <p:cNvSpPr/>
          <p:nvPr/>
        </p:nvSpPr>
        <p:spPr>
          <a:xfrm>
            <a:off x="640080" y="2971800"/>
            <a:ext cx="10899648" cy="1024128"/>
          </a:xfrm>
          <a:prstGeom prst="roundRect">
            <a:avLst>
              <a:gd name="adj" fmla="val 8036"/>
            </a:avLst>
          </a:prstGeom>
          <a:solidFill>
            <a:srgbClr val="FFFFFF"/>
          </a:solidFill>
          <a:ln w="12700">
            <a:solidFill>
              <a:srgbClr val="E0E7E1"/>
            </a:solidFill>
            <a:prstDash val="solid"/>
          </a:ln>
        </p:spPr>
      </p:sp>
      <p:sp>
        <p:nvSpPr>
          <p:cNvPr id="14" name="Text 12"/>
          <p:cNvSpPr txBox="1"/>
          <p:nvPr/>
        </p:nvSpPr>
        <p:spPr>
          <a:xfrm>
            <a:off x="960120" y="3136392"/>
            <a:ext cx="1554480" cy="329184"/>
          </a:xfrm>
          <a:prstGeom prst="rect">
            <a:avLst/>
          </a:prstGeom>
          <a:noFill/>
          <a:ln/>
        </p:spPr>
        <p:txBody>
          <a:bodyPr wrap="square" lIns="0" tIns="0" rIns="0" bIns="0" rtlCol="0" anchor="ctr"/>
          <a:lstStyle/>
          <a:p>
            <a:pPr indent="0" marL="0">
              <a:buNone/>
            </a:pPr>
            <a:r>
              <a:rPr lang="en-US" sz="1800" b="1" dirty="0">
                <a:solidFill>
                  <a:srgbClr val="1F6F6B"/>
                </a:solidFill>
                <a:latin typeface="Cambria" pitchFamily="34" charset="0"/>
                <a:ea typeface="Cambria" pitchFamily="34" charset="-122"/>
                <a:cs typeface="Cambria" pitchFamily="34" charset="-120"/>
              </a:rPr>
              <a:t>Phase 2</a:t>
            </a:r>
            <a:endParaRPr lang="en-US" sz="1800" dirty="0"/>
          </a:p>
        </p:txBody>
      </p:sp>
      <p:sp>
        <p:nvSpPr>
          <p:cNvPr id="15" name="Text 13"/>
          <p:cNvSpPr txBox="1"/>
          <p:nvPr/>
        </p:nvSpPr>
        <p:spPr>
          <a:xfrm>
            <a:off x="960120" y="3520440"/>
            <a:ext cx="2011680" cy="274320"/>
          </a:xfrm>
          <a:prstGeom prst="rect">
            <a:avLst/>
          </a:prstGeom>
          <a:noFill/>
          <a:ln/>
        </p:spPr>
        <p:txBody>
          <a:bodyPr wrap="square" lIns="0" tIns="0" rIns="0" bIns="0" rtlCol="0" anchor="ctr"/>
          <a:lstStyle/>
          <a:p>
            <a:pPr indent="0" marL="0">
              <a:buNone/>
            </a:pPr>
            <a:r>
              <a:rPr lang="en-US" sz="1200" dirty="0">
                <a:solidFill>
                  <a:srgbClr val="6E7D73"/>
                </a:solidFill>
                <a:latin typeface="Calibri" pitchFamily="34" charset="0"/>
                <a:ea typeface="Calibri" pitchFamily="34" charset="-122"/>
                <a:cs typeface="Calibri" pitchFamily="34" charset="-120"/>
              </a:rPr>
              <a:t>14 – 25 Sep</a:t>
            </a:r>
            <a:endParaRPr lang="en-US" sz="1200" dirty="0"/>
          </a:p>
        </p:txBody>
      </p:sp>
      <p:sp>
        <p:nvSpPr>
          <p:cNvPr id="16" name="Text 14"/>
          <p:cNvSpPr txBox="1"/>
          <p:nvPr/>
        </p:nvSpPr>
        <p:spPr>
          <a:xfrm>
            <a:off x="3200400" y="3300984"/>
            <a:ext cx="6309360" cy="457200"/>
          </a:xfrm>
          <a:prstGeom prst="rect">
            <a:avLst/>
          </a:prstGeom>
          <a:noFill/>
          <a:ln/>
        </p:spPr>
        <p:txBody>
          <a:bodyPr wrap="square" lIns="0" tIns="0" rIns="0" bIns="0" rtlCol="0" anchor="ctr"/>
          <a:lstStyle/>
          <a:p>
            <a:pPr indent="0" marL="0">
              <a:buNone/>
            </a:pPr>
            <a:r>
              <a:rPr lang="en-US" sz="1400" dirty="0">
                <a:solidFill>
                  <a:srgbClr val="16241D"/>
                </a:solidFill>
                <a:latin typeface="Calibri" pitchFamily="34" charset="0"/>
                <a:ea typeface="Calibri" pitchFamily="34" charset="-122"/>
                <a:cs typeface="Calibri" pitchFamily="34" charset="-120"/>
              </a:rPr>
              <a:t>Architecture, UML, database design, interface prototypes</a:t>
            </a:r>
            <a:endParaRPr lang="en-US" sz="1400" dirty="0"/>
          </a:p>
        </p:txBody>
      </p:sp>
      <p:sp>
        <p:nvSpPr>
          <p:cNvPr id="17" name="Shape 15"/>
          <p:cNvSpPr/>
          <p:nvPr/>
        </p:nvSpPr>
        <p:spPr>
          <a:xfrm>
            <a:off x="9966960" y="3319272"/>
            <a:ext cx="1280160" cy="347472"/>
          </a:xfrm>
          <a:prstGeom prst="roundRect">
            <a:avLst>
              <a:gd name="adj" fmla="val 50000"/>
            </a:avLst>
          </a:prstGeom>
          <a:solidFill>
            <a:srgbClr val="1F6F6B"/>
          </a:solidFill>
          <a:ln w="12700">
            <a:solidFill>
              <a:srgbClr val="1F6F6B"/>
            </a:solidFill>
            <a:prstDash val="solid"/>
          </a:ln>
        </p:spPr>
      </p:sp>
      <p:sp>
        <p:nvSpPr>
          <p:cNvPr id="18" name="Text 16"/>
          <p:cNvSpPr txBox="1"/>
          <p:nvPr/>
        </p:nvSpPr>
        <p:spPr>
          <a:xfrm>
            <a:off x="9966960" y="3378708"/>
            <a:ext cx="1280160"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Next</a:t>
            </a:r>
            <a:endParaRPr lang="en-US" sz="1050" dirty="0"/>
          </a:p>
        </p:txBody>
      </p:sp>
      <p:sp>
        <p:nvSpPr>
          <p:cNvPr id="19" name="Shape 17"/>
          <p:cNvSpPr/>
          <p:nvPr/>
        </p:nvSpPr>
        <p:spPr>
          <a:xfrm>
            <a:off x="640080" y="4160520"/>
            <a:ext cx="10899648" cy="1024128"/>
          </a:xfrm>
          <a:prstGeom prst="roundRect">
            <a:avLst>
              <a:gd name="adj" fmla="val 8036"/>
            </a:avLst>
          </a:prstGeom>
          <a:solidFill>
            <a:srgbClr val="FFFFFF"/>
          </a:solidFill>
          <a:ln w="12700">
            <a:solidFill>
              <a:srgbClr val="E0E7E1"/>
            </a:solidFill>
            <a:prstDash val="solid"/>
          </a:ln>
        </p:spPr>
      </p:sp>
      <p:sp>
        <p:nvSpPr>
          <p:cNvPr id="20" name="Text 18"/>
          <p:cNvSpPr txBox="1"/>
          <p:nvPr/>
        </p:nvSpPr>
        <p:spPr>
          <a:xfrm>
            <a:off x="960120" y="4325112"/>
            <a:ext cx="1554480" cy="329184"/>
          </a:xfrm>
          <a:prstGeom prst="rect">
            <a:avLst/>
          </a:prstGeom>
          <a:noFill/>
          <a:ln/>
        </p:spPr>
        <p:txBody>
          <a:bodyPr wrap="square" lIns="0" tIns="0" rIns="0" bIns="0" rtlCol="0" anchor="ctr"/>
          <a:lstStyle/>
          <a:p>
            <a:pPr indent="0" marL="0">
              <a:buNone/>
            </a:pPr>
            <a:r>
              <a:rPr lang="en-US" sz="1800" b="1" dirty="0">
                <a:solidFill>
                  <a:srgbClr val="6E7D73"/>
                </a:solidFill>
                <a:latin typeface="Cambria" pitchFamily="34" charset="0"/>
                <a:ea typeface="Cambria" pitchFamily="34" charset="-122"/>
                <a:cs typeface="Cambria" pitchFamily="34" charset="-120"/>
              </a:rPr>
              <a:t>Phase 3</a:t>
            </a:r>
            <a:endParaRPr lang="en-US" sz="1800" dirty="0"/>
          </a:p>
        </p:txBody>
      </p:sp>
      <p:sp>
        <p:nvSpPr>
          <p:cNvPr id="21" name="Text 19"/>
          <p:cNvSpPr txBox="1"/>
          <p:nvPr/>
        </p:nvSpPr>
        <p:spPr>
          <a:xfrm>
            <a:off x="960120" y="4709160"/>
            <a:ext cx="2011680" cy="274320"/>
          </a:xfrm>
          <a:prstGeom prst="rect">
            <a:avLst/>
          </a:prstGeom>
          <a:noFill/>
          <a:ln/>
        </p:spPr>
        <p:txBody>
          <a:bodyPr wrap="square" lIns="0" tIns="0" rIns="0" bIns="0" rtlCol="0" anchor="ctr"/>
          <a:lstStyle/>
          <a:p>
            <a:pPr indent="0" marL="0">
              <a:buNone/>
            </a:pPr>
            <a:r>
              <a:rPr lang="en-US" sz="1200" dirty="0">
                <a:solidFill>
                  <a:srgbClr val="6E7D73"/>
                </a:solidFill>
                <a:latin typeface="Calibri" pitchFamily="34" charset="0"/>
                <a:ea typeface="Calibri" pitchFamily="34" charset="-122"/>
                <a:cs typeface="Calibri" pitchFamily="34" charset="-120"/>
              </a:rPr>
              <a:t>28 Sep – 30 Oct</a:t>
            </a:r>
            <a:endParaRPr lang="en-US" sz="1200" dirty="0"/>
          </a:p>
        </p:txBody>
      </p:sp>
      <p:sp>
        <p:nvSpPr>
          <p:cNvPr id="22" name="Text 20"/>
          <p:cNvSpPr txBox="1"/>
          <p:nvPr/>
        </p:nvSpPr>
        <p:spPr>
          <a:xfrm>
            <a:off x="3200400" y="4489704"/>
            <a:ext cx="6309360" cy="457200"/>
          </a:xfrm>
          <a:prstGeom prst="rect">
            <a:avLst/>
          </a:prstGeom>
          <a:noFill/>
          <a:ln/>
        </p:spPr>
        <p:txBody>
          <a:bodyPr wrap="square" lIns="0" tIns="0" rIns="0" bIns="0" rtlCol="0" anchor="ctr"/>
          <a:lstStyle/>
          <a:p>
            <a:pPr indent="0" marL="0">
              <a:buNone/>
            </a:pPr>
            <a:r>
              <a:rPr lang="en-US" sz="1400" dirty="0">
                <a:solidFill>
                  <a:srgbClr val="16241D"/>
                </a:solidFill>
                <a:latin typeface="Calibri" pitchFamily="34" charset="0"/>
                <a:ea typeface="Calibri" pitchFamily="34" charset="-122"/>
                <a:cs typeface="Calibri" pitchFamily="34" charset="-120"/>
              </a:rPr>
              <a:t>Build, integrate, test, evaluate and demonstrate</a:t>
            </a:r>
            <a:endParaRPr lang="en-US" sz="1400" dirty="0"/>
          </a:p>
        </p:txBody>
      </p:sp>
      <p:sp>
        <p:nvSpPr>
          <p:cNvPr id="23" name="Shape 21"/>
          <p:cNvSpPr/>
          <p:nvPr/>
        </p:nvSpPr>
        <p:spPr>
          <a:xfrm>
            <a:off x="9966960" y="4507992"/>
            <a:ext cx="1280160" cy="347472"/>
          </a:xfrm>
          <a:prstGeom prst="roundRect">
            <a:avLst>
              <a:gd name="adj" fmla="val 50000"/>
            </a:avLst>
          </a:prstGeom>
          <a:solidFill>
            <a:srgbClr val="E8EDE9"/>
          </a:solidFill>
          <a:ln w="12700">
            <a:solidFill>
              <a:srgbClr val="E8EDE9"/>
            </a:solidFill>
            <a:prstDash val="solid"/>
          </a:ln>
        </p:spPr>
      </p:sp>
      <p:sp>
        <p:nvSpPr>
          <p:cNvPr id="24" name="Text 22"/>
          <p:cNvSpPr txBox="1"/>
          <p:nvPr/>
        </p:nvSpPr>
        <p:spPr>
          <a:xfrm>
            <a:off x="9966960" y="4567428"/>
            <a:ext cx="1280160" cy="237744"/>
          </a:xfrm>
          <a:prstGeom prst="rect">
            <a:avLst/>
          </a:prstGeom>
          <a:noFill/>
          <a:ln/>
        </p:spPr>
        <p:txBody>
          <a:bodyPr wrap="square" lIns="0" tIns="0" rIns="0" bIns="0" rtlCol="0" anchor="ctr"/>
          <a:lstStyle/>
          <a:p>
            <a:pPr algn="ctr" indent="0" marL="0">
              <a:buNone/>
            </a:pPr>
            <a:r>
              <a:rPr lang="en-US" sz="1050" b="1" dirty="0">
                <a:solidFill>
                  <a:srgbClr val="6E7D73"/>
                </a:solidFill>
                <a:latin typeface="Calibri" pitchFamily="34" charset="0"/>
                <a:ea typeface="Calibri" pitchFamily="34" charset="-122"/>
                <a:cs typeface="Calibri" pitchFamily="34" charset="-120"/>
              </a:rPr>
              <a:t>Planned</a:t>
            </a:r>
            <a:endParaRPr lang="en-US" sz="1050" dirty="0"/>
          </a:p>
        </p:txBody>
      </p:sp>
      <p:sp>
        <p:nvSpPr>
          <p:cNvPr id="25" name="Shape 23"/>
          <p:cNvSpPr/>
          <p:nvPr/>
        </p:nvSpPr>
        <p:spPr>
          <a:xfrm>
            <a:off x="640080" y="5394960"/>
            <a:ext cx="10899648" cy="731520"/>
          </a:xfrm>
          <a:prstGeom prst="roundRect">
            <a:avLst>
              <a:gd name="adj" fmla="val 11250"/>
            </a:avLst>
          </a:prstGeom>
          <a:solidFill>
            <a:srgbClr val="EFE7DC"/>
          </a:solidFill>
          <a:ln w="12700">
            <a:solidFill>
              <a:srgbClr val="EFE7DC"/>
            </a:solidFill>
            <a:prstDash val="solid"/>
          </a:ln>
        </p:spPr>
      </p:sp>
      <p:sp>
        <p:nvSpPr>
          <p:cNvPr id="26" name="Text 24"/>
          <p:cNvSpPr txBox="1"/>
          <p:nvPr/>
        </p:nvSpPr>
        <p:spPr>
          <a:xfrm>
            <a:off x="960120" y="5577840"/>
            <a:ext cx="10241280" cy="457200"/>
          </a:xfrm>
          <a:prstGeom prst="rect">
            <a:avLst/>
          </a:prstGeom>
          <a:noFill/>
          <a:ln/>
        </p:spPr>
        <p:txBody>
          <a:bodyPr wrap="square" lIns="0" tIns="0" rIns="0" bIns="0" rtlCol="0" anchor="ctr"/>
          <a:lstStyle/>
          <a:p>
            <a:pPr indent="0" marL="0">
              <a:buNone/>
            </a:pPr>
            <a:r>
              <a:rPr lang="en-US" sz="1300" dirty="0">
                <a:solidFill>
                  <a:srgbClr val="16241D"/>
                </a:solidFill>
                <a:latin typeface="Calibri" pitchFamily="34" charset="0"/>
                <a:ea typeface="Calibri" pitchFamily="34" charset="-122"/>
                <a:cs typeface="Calibri" pitchFamily="34" charset="-120"/>
              </a:rPr>
              <a:t>Submitted with this presentation: the specification with five appendices, the baselined Microsoft Project schedule, the project progress tracker, the source repository and the Supabase project.</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6241D"/>
        </a:solidFill>
      </p:bgPr>
    </p:bg>
    <p:spTree>
      <p:nvGrpSpPr>
        <p:cNvPr id="1" name=""/>
        <p:cNvGrpSpPr/>
        <p:nvPr/>
      </p:nvGrpSpPr>
      <p:grpSpPr>
        <a:xfrm>
          <a:off x="0" y="0"/>
          <a:ext cx="0" cy="0"/>
          <a:chOff x="0" y="0"/>
          <a:chExt cx="0" cy="0"/>
        </a:xfrm>
      </p:grpSpPr>
      <p:sp>
        <p:nvSpPr>
          <p:cNvPr id="2" name="Text 0"/>
          <p:cNvSpPr txBox="1"/>
          <p:nvPr/>
        </p:nvSpPr>
        <p:spPr>
          <a:xfrm>
            <a:off x="822960" y="1280160"/>
            <a:ext cx="5486400" cy="292608"/>
          </a:xfrm>
          <a:prstGeom prst="rect">
            <a:avLst/>
          </a:prstGeom>
          <a:noFill/>
          <a:ln/>
        </p:spPr>
        <p:txBody>
          <a:bodyPr wrap="square" lIns="0" tIns="0" rIns="0" bIns="0" rtlCol="0" anchor="ctr"/>
          <a:lstStyle/>
          <a:p>
            <a:pPr indent="0" marL="0">
              <a:buNone/>
            </a:pPr>
            <a:r>
              <a:rPr lang="en-US" sz="1300" b="1" spc="240" kern="0" dirty="0">
                <a:solidFill>
                  <a:srgbClr val="D9A92C"/>
                </a:solidFill>
                <a:latin typeface="Calibri" pitchFamily="34" charset="0"/>
                <a:ea typeface="Calibri" pitchFamily="34" charset="-122"/>
                <a:cs typeface="Calibri" pitchFamily="34" charset="-120"/>
              </a:rPr>
              <a:t>GROUP O</a:t>
            </a:r>
            <a:endParaRPr lang="en-US" sz="1300" dirty="0"/>
          </a:p>
        </p:txBody>
      </p:sp>
      <p:sp>
        <p:nvSpPr>
          <p:cNvPr id="3" name="Text 1"/>
          <p:cNvSpPr txBox="1"/>
          <p:nvPr/>
        </p:nvSpPr>
        <p:spPr>
          <a:xfrm>
            <a:off x="822960" y="1828800"/>
            <a:ext cx="7863840" cy="1645920"/>
          </a:xfrm>
          <a:prstGeom prst="rect">
            <a:avLst/>
          </a:prstGeom>
          <a:noFill/>
          <a:ln/>
        </p:spPr>
        <p:txBody>
          <a:bodyPr wrap="square" lIns="0" tIns="0" rIns="0" bIns="0" rtlCol="0" anchor="t"/>
          <a:lstStyle/>
          <a:p>
            <a:pPr indent="0" marL="0">
              <a:lnSpc>
                <a:spcPts val="4200"/>
              </a:lnSpc>
              <a:buNone/>
            </a:pPr>
            <a:r>
              <a:rPr lang="en-US" sz="3100" b="1" dirty="0">
                <a:solidFill>
                  <a:srgbClr val="FFFFFF"/>
                </a:solidFill>
                <a:latin typeface="Cambria" pitchFamily="34" charset="0"/>
                <a:ea typeface="Cambria" pitchFamily="34" charset="-122"/>
                <a:cs typeface="Cambria" pitchFamily="34" charset="-120"/>
              </a:rPr>
              <a:t>The requirements are agreed. The plan is realistic. We are ready to design.</a:t>
            </a:r>
            <a:endParaRPr lang="en-US" sz="3100" dirty="0"/>
          </a:p>
        </p:txBody>
      </p:sp>
      <p:sp>
        <p:nvSpPr>
          <p:cNvPr id="4" name="Text 2"/>
          <p:cNvSpPr txBox="1"/>
          <p:nvPr/>
        </p:nvSpPr>
        <p:spPr>
          <a:xfrm>
            <a:off x="822960" y="4023360"/>
            <a:ext cx="2468880" cy="658368"/>
          </a:xfrm>
          <a:prstGeom prst="rect">
            <a:avLst/>
          </a:prstGeom>
          <a:noFill/>
          <a:ln/>
        </p:spPr>
        <p:txBody>
          <a:bodyPr wrap="square" lIns="0" tIns="0" rIns="0" bIns="0" rtlCol="0" anchor="ctr"/>
          <a:lstStyle/>
          <a:p>
            <a:pPr indent="0" marL="0">
              <a:buNone/>
            </a:pPr>
            <a:r>
              <a:rPr lang="en-US" sz="3800" b="1" dirty="0">
                <a:solidFill>
                  <a:srgbClr val="D9A92C"/>
                </a:solidFill>
                <a:latin typeface="Cambria" pitchFamily="34" charset="0"/>
                <a:ea typeface="Cambria" pitchFamily="34" charset="-122"/>
                <a:cs typeface="Cambria" pitchFamily="34" charset="-120"/>
              </a:rPr>
              <a:t>113</a:t>
            </a:r>
            <a:endParaRPr lang="en-US" sz="3800" dirty="0"/>
          </a:p>
        </p:txBody>
      </p:sp>
      <p:sp>
        <p:nvSpPr>
          <p:cNvPr id="5" name="Text 3"/>
          <p:cNvSpPr txBox="1"/>
          <p:nvPr/>
        </p:nvSpPr>
        <p:spPr>
          <a:xfrm>
            <a:off x="822960" y="4736592"/>
            <a:ext cx="2468880" cy="457200"/>
          </a:xfrm>
          <a:prstGeom prst="rect">
            <a:avLst/>
          </a:prstGeom>
          <a:noFill/>
          <a:ln/>
        </p:spPr>
        <p:txBody>
          <a:bodyPr wrap="square" lIns="0" tIns="0" rIns="0" bIns="0" rtlCol="0" anchor="ctr"/>
          <a:lstStyle/>
          <a:p>
            <a:pPr indent="0" marL="0">
              <a:buNone/>
            </a:pPr>
            <a:r>
              <a:rPr lang="en-US" sz="1250" dirty="0">
                <a:solidFill>
                  <a:srgbClr val="A9BCAF"/>
                </a:solidFill>
                <a:latin typeface="Calibri" pitchFamily="34" charset="0"/>
                <a:ea typeface="Calibri" pitchFamily="34" charset="-122"/>
                <a:cs typeface="Calibri" pitchFamily="34" charset="-120"/>
              </a:rPr>
              <a:t>requirements agreed</a:t>
            </a:r>
            <a:endParaRPr lang="en-US" sz="1250" dirty="0"/>
          </a:p>
        </p:txBody>
      </p:sp>
      <p:sp>
        <p:nvSpPr>
          <p:cNvPr id="6" name="Text 4"/>
          <p:cNvSpPr txBox="1"/>
          <p:nvPr/>
        </p:nvSpPr>
        <p:spPr>
          <a:xfrm>
            <a:off x="3611880" y="4023360"/>
            <a:ext cx="2468880" cy="658368"/>
          </a:xfrm>
          <a:prstGeom prst="rect">
            <a:avLst/>
          </a:prstGeom>
          <a:noFill/>
          <a:ln/>
        </p:spPr>
        <p:txBody>
          <a:bodyPr wrap="square" lIns="0" tIns="0" rIns="0" bIns="0" rtlCol="0" anchor="ctr"/>
          <a:lstStyle/>
          <a:p>
            <a:pPr indent="0" marL="0">
              <a:buNone/>
            </a:pPr>
            <a:r>
              <a:rPr lang="en-US" sz="3800" b="1" dirty="0">
                <a:solidFill>
                  <a:srgbClr val="D9A92C"/>
                </a:solidFill>
                <a:latin typeface="Cambria" pitchFamily="34" charset="0"/>
                <a:ea typeface="Cambria" pitchFamily="34" charset="-122"/>
                <a:cs typeface="Cambria" pitchFamily="34" charset="-120"/>
              </a:rPr>
              <a:t>12</a:t>
            </a:r>
            <a:endParaRPr lang="en-US" sz="3800" dirty="0"/>
          </a:p>
        </p:txBody>
      </p:sp>
      <p:sp>
        <p:nvSpPr>
          <p:cNvPr id="7" name="Text 5"/>
          <p:cNvSpPr txBox="1"/>
          <p:nvPr/>
        </p:nvSpPr>
        <p:spPr>
          <a:xfrm>
            <a:off x="3611880" y="4736592"/>
            <a:ext cx="2468880" cy="457200"/>
          </a:xfrm>
          <a:prstGeom prst="rect">
            <a:avLst/>
          </a:prstGeom>
          <a:noFill/>
          <a:ln/>
        </p:spPr>
        <p:txBody>
          <a:bodyPr wrap="square" lIns="0" tIns="0" rIns="0" bIns="0" rtlCol="0" anchor="ctr"/>
          <a:lstStyle/>
          <a:p>
            <a:pPr indent="0" marL="0">
              <a:buNone/>
            </a:pPr>
            <a:r>
              <a:rPr lang="en-US" sz="1250" dirty="0">
                <a:solidFill>
                  <a:srgbClr val="A9BCAF"/>
                </a:solidFill>
                <a:latin typeface="Calibri" pitchFamily="34" charset="0"/>
                <a:ea typeface="Calibri" pitchFamily="34" charset="-122"/>
                <a:cs typeface="Calibri" pitchFamily="34" charset="-120"/>
              </a:rPr>
              <a:t>risks managed</a:t>
            </a:r>
            <a:endParaRPr lang="en-US" sz="1250" dirty="0"/>
          </a:p>
        </p:txBody>
      </p:sp>
      <p:sp>
        <p:nvSpPr>
          <p:cNvPr id="8" name="Text 6"/>
          <p:cNvSpPr txBox="1"/>
          <p:nvPr/>
        </p:nvSpPr>
        <p:spPr>
          <a:xfrm>
            <a:off x="6400800" y="4023360"/>
            <a:ext cx="2468880" cy="658368"/>
          </a:xfrm>
          <a:prstGeom prst="rect">
            <a:avLst/>
          </a:prstGeom>
          <a:noFill/>
          <a:ln/>
        </p:spPr>
        <p:txBody>
          <a:bodyPr wrap="square" lIns="0" tIns="0" rIns="0" bIns="0" rtlCol="0" anchor="ctr"/>
          <a:lstStyle/>
          <a:p>
            <a:pPr indent="0" marL="0">
              <a:buNone/>
            </a:pPr>
            <a:r>
              <a:rPr lang="en-US" sz="3800" b="1" dirty="0">
                <a:solidFill>
                  <a:srgbClr val="D9A92C"/>
                </a:solidFill>
                <a:latin typeface="Cambria" pitchFamily="34" charset="0"/>
                <a:ea typeface="Cambria" pitchFamily="34" charset="-122"/>
                <a:cs typeface="Cambria" pitchFamily="34" charset="-120"/>
              </a:rPr>
              <a:t>6</a:t>
            </a:r>
            <a:endParaRPr lang="en-US" sz="3800" dirty="0"/>
          </a:p>
        </p:txBody>
      </p:sp>
      <p:sp>
        <p:nvSpPr>
          <p:cNvPr id="9" name="Text 7"/>
          <p:cNvSpPr txBox="1"/>
          <p:nvPr/>
        </p:nvSpPr>
        <p:spPr>
          <a:xfrm>
            <a:off x="6400800" y="4736592"/>
            <a:ext cx="2468880" cy="457200"/>
          </a:xfrm>
          <a:prstGeom prst="rect">
            <a:avLst/>
          </a:prstGeom>
          <a:noFill/>
          <a:ln/>
        </p:spPr>
        <p:txBody>
          <a:bodyPr wrap="square" lIns="0" tIns="0" rIns="0" bIns="0" rtlCol="0" anchor="ctr"/>
          <a:lstStyle/>
          <a:p>
            <a:pPr indent="0" marL="0">
              <a:buNone/>
            </a:pPr>
            <a:r>
              <a:rPr lang="en-US" sz="1250" dirty="0">
                <a:solidFill>
                  <a:srgbClr val="A9BCAF"/>
                </a:solidFill>
                <a:latin typeface="Calibri" pitchFamily="34" charset="0"/>
                <a:ea typeface="Calibri" pitchFamily="34" charset="-122"/>
                <a:cs typeface="Calibri" pitchFamily="34" charset="-120"/>
              </a:rPr>
              <a:t>feasibility areas assessed</a:t>
            </a:r>
            <a:endParaRPr lang="en-US" sz="1250" dirty="0"/>
          </a:p>
        </p:txBody>
      </p:sp>
      <p:sp>
        <p:nvSpPr>
          <p:cNvPr id="10" name="Text 8"/>
          <p:cNvSpPr txBox="1"/>
          <p:nvPr/>
        </p:nvSpPr>
        <p:spPr>
          <a:xfrm>
            <a:off x="9189720" y="4023360"/>
            <a:ext cx="2468880" cy="658368"/>
          </a:xfrm>
          <a:prstGeom prst="rect">
            <a:avLst/>
          </a:prstGeom>
          <a:noFill/>
          <a:ln/>
        </p:spPr>
        <p:txBody>
          <a:bodyPr wrap="square" lIns="0" tIns="0" rIns="0" bIns="0" rtlCol="0" anchor="ctr"/>
          <a:lstStyle/>
          <a:p>
            <a:pPr indent="0" marL="0">
              <a:buNone/>
            </a:pPr>
            <a:r>
              <a:rPr lang="en-US" sz="3800" b="1" dirty="0">
                <a:solidFill>
                  <a:srgbClr val="D9A92C"/>
                </a:solidFill>
                <a:latin typeface="Cambria" pitchFamily="34" charset="0"/>
                <a:ea typeface="Cambria" pitchFamily="34" charset="-122"/>
                <a:cs typeface="Cambria" pitchFamily="34" charset="-120"/>
              </a:rPr>
              <a:t>14</a:t>
            </a:r>
            <a:endParaRPr lang="en-US" sz="3800" dirty="0"/>
          </a:p>
        </p:txBody>
      </p:sp>
      <p:sp>
        <p:nvSpPr>
          <p:cNvPr id="11" name="Text 9"/>
          <p:cNvSpPr txBox="1"/>
          <p:nvPr/>
        </p:nvSpPr>
        <p:spPr>
          <a:xfrm>
            <a:off x="9189720" y="4736592"/>
            <a:ext cx="2468880" cy="457200"/>
          </a:xfrm>
          <a:prstGeom prst="rect">
            <a:avLst/>
          </a:prstGeom>
          <a:noFill/>
          <a:ln/>
        </p:spPr>
        <p:txBody>
          <a:bodyPr wrap="square" lIns="0" tIns="0" rIns="0" bIns="0" rtlCol="0" anchor="ctr"/>
          <a:lstStyle/>
          <a:p>
            <a:pPr indent="0" marL="0">
              <a:buNone/>
            </a:pPr>
            <a:r>
              <a:rPr lang="en-US" sz="1250" dirty="0">
                <a:solidFill>
                  <a:srgbClr val="A9BCAF"/>
                </a:solidFill>
                <a:latin typeface="Calibri" pitchFamily="34" charset="0"/>
                <a:ea typeface="Calibri" pitchFamily="34" charset="-122"/>
                <a:cs typeface="Calibri" pitchFamily="34" charset="-120"/>
              </a:rPr>
              <a:t>acceptance criteria set</a:t>
            </a:r>
            <a:endParaRPr lang="en-US" sz="1250" dirty="0"/>
          </a:p>
        </p:txBody>
      </p:sp>
      <p:sp>
        <p:nvSpPr>
          <p:cNvPr id="12" name="Shape 10"/>
          <p:cNvSpPr/>
          <p:nvPr/>
        </p:nvSpPr>
        <p:spPr>
          <a:xfrm>
            <a:off x="822960" y="5650992"/>
            <a:ext cx="1005840" cy="32004"/>
          </a:xfrm>
          <a:prstGeom prst="rect">
            <a:avLst/>
          </a:prstGeom>
          <a:solidFill>
            <a:srgbClr val="1F6F6B"/>
          </a:solidFill>
          <a:ln w="12700">
            <a:solidFill>
              <a:srgbClr val="1F6F6B"/>
            </a:solidFill>
            <a:prstDash val="solid"/>
          </a:ln>
        </p:spPr>
      </p:sp>
      <p:sp>
        <p:nvSpPr>
          <p:cNvPr id="13" name="Text 11"/>
          <p:cNvSpPr txBox="1"/>
          <p:nvPr/>
        </p:nvSpPr>
        <p:spPr>
          <a:xfrm>
            <a:off x="822960" y="5897880"/>
            <a:ext cx="54864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Questions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Multi-Site Smart Soil and Environmental Monitoring System — Phase 1</dc:title>
  <dc:subject>PptxGenJS Presentation</dc:subject>
  <dc:creator>Group O</dc:creator>
  <cp:lastModifiedBy>Group O</cp:lastModifiedBy>
  <cp:revision>1</cp:revision>
  <dcterms:created xsi:type="dcterms:W3CDTF">2026-09-04T10:12:22Z</dcterms:created>
  <dcterms:modified xsi:type="dcterms:W3CDTF">2026-09-04T10:12:22Z</dcterms:modified>
</cp:coreProperties>
</file>